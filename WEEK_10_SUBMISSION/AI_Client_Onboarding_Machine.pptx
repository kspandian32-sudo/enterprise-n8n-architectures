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today's build session. Today we're building a COMPLETE client onboarding machine — from form submission to personalized onboarding email to automatic follow-ups. All using free tools. This is what separates professional agencies from amateurs. By the end of this session, you'll have a system that makes clients think you have a full operations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picture of what we're building. On the left — the chaos most agencies deal with. On the right — what you'll have by the end of today. The architecture has 3 flows: the main onboarding pipeline (12 nodes), auto follow-ups (7 nodes), and weekly check-ins (7 nodes). 26 nodes total, all free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1: New Client Form (Form Trigger). Collects 9 fields: Client Name, Company, Email, Service Required (dropdown), Requirements, Budget, Agency Name, Your Name, Your Email Service dropdown maps to pre-defined services in the database — each option has SOPs, deliverables, and timelines Single trigger point for the entire 26-node workflow Key insight: The dropdown IS the connection to your agency's knowledge base. Select a service → entire SOP structure is auto-pulled.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2: Parse Client Details (Code Node). Cleans and trims all form inputs — removes whitespace, special characters, empty values Calculates project start date using JavaScript Date() Generates ISO timestamp for tracking and audit trail Key insight: Safety layer — raw form data can have spaces, weird characters, empty fields. This sanitizes everything before it touches the database or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3: Read Service from Database (Google Sheets). Reads "Services Database" tab in Google Sheets Filters by Service Name matching the selected service Returns the FULL record: description, deliverables, SOP steps, timeline, tools, price range, prerequisites Key insight: This is the BRAIN. Services DB is filled ONCE with your 8 services. The workflow reads, never invents. Consistency guaranteed.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4: Merge Client + Service Data (Code Node). Combines clean client data (Node 2) with service record (Node 3) Parses pipe-separated deliverables and SOP steps into JS arrays Outputs ONE unified JSON object for the AI Key insight: The pipe separator (|) in the database stores multiple items in a single cell. This node splits them into arrays for AI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5: Gemini: Build Project Plan (HTTP Request → Gemini API). Sends crafted prompt to Gemini 2.5 Flash with service DB entry + client details Instructs: use ONLY exact deliverables from database — never invent new ones Returns structured JSON: project_title, timeline, roadmap, deliverables, SOPs, payment schedule, success metrics Key insight: Temperature = 0.6 (structured, not creative). Two critical rules: (1) use EXACT deliverables from DB, (2) roadmap MUST have one entry per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6: Parse Project Plan (Code Node). Extracts JSON from Gemini response (handles markdown fences) Parses into JavaScript object for downstream nodes FALLBACK: If Gemini returns bad JSON, builds plan directly from database defaults — workflow NEVER breaks Key insight: The fallback separates amateur automation from production-grade. If AI fails, client still gets a professional email from DB defaults.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7: Log Client Summary (Google Sheets). Appends one row to "Client Summary" tab Fields: Name, Company, Email, Service, Scope, Budget, Timeline, Start Date, Payment, Status, Timestamp Status set to "Welcome Email Sent" — drives Flow B follow-up logic Key insight: This is your agency CRM. Every client ever onboarded is tracked here. The Status column drives the follow-up automations.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8: Expand Deliverables (Code Node). Takes deliverables_with_dates array from the parsed plan Returns each deliverable as a SEPARATE item (10 deliverables → 10 items) Each item: Client, Service, Deliverable name, Due Date, Week, Owner, Status, Approval Key insight: n8n processes all items through the next node automatically. One row per deliverable in the tracker — no loops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9: Log Deliverables Tracker (Google Sheets). Appends ALL deliverable items to "Client Projects" tab Each deliverable gets its own row with trackable columns Columns: Deliverable, Description, Due Date, Week, Owner, Status, Client Approval, Notes Key insight: This tab becomes your project management dashboard. Filter by client, sort by due date, track completion — no PM tool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10: Build HTML Client Email (Code Node). The most complex node — generates premium dark-themed HTML email 12 sections: Header, Project overview, Timeline roadmap, Workflow diagram, SOPs, Deliverables table, Prerequisites, Payment, Communication plan, Metrics, Warranty, CTA Table-based layout for email client compatibility across Gmail, Outlook, Apple Mail Key insight: This makes clients think you have a $10K/month ops platform. The email looks like it came from premium SaaS, not a free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11: Send Onboarding Email (Gmail). Sends the premium HTML email directly to the client's email Subject includes agency name and project title Reply-to set to your agency email for responses Key insight: Client receives a professional onboarding package within 60 seconds of form submission. No manual writing, no copy-pasting.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12: Send Copy to Agency (Gmail). Sends detailed internal copy to agency email Same HTML + internal footer: confirmation of email sent, CRM logged, deliverables tracked Blue header (vs orange for client) to visually distinguish internal vs external Key insight: Complete record of every onboarding email. If a client says "I never got details" — you have the exact copy in your inbox.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flows are what make this system truly autonomous. Flow B checks every morning at 10 AM — did any client get a welcome email but not respond in 2+ days? If so, Gemini writes a personalized follow-up. Flow C runs every Monday — every active client gets a progress update. The status lifecycle drives everything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6 extensions you can build on top of what we created today. Each one takes about 30 minutes because the foundation is already in place. The invoice generator and proposal writer complete the full client lifecycle. The health score and revenue dashboard turn this into a real business intelligence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to let it sink in. Everything we built today — the form, the AI-generated project plans, the premium emails, the auto follow-ups, the weekly check-ins — it's all running on free tools. Your clients will think you have a full operations team. It's just you and this workflow. That's the power of AI automation. Build. Automate.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886200" y="548640"/>
            <a:ext cx="1371600" cy="1371600"/>
          </a:xfrm>
          <a:prstGeom prst="rect">
            <a:avLst/>
          </a:prstGeom>
        </p:spPr>
      </p:pic>
      <p:sp>
        <p:nvSpPr>
          <p:cNvPr id="3" name="Text 0"/>
          <p:cNvSpPr/>
          <p:nvPr/>
        </p:nvSpPr>
        <p:spPr>
          <a:xfrm>
            <a:off x="457200" y="2011680"/>
            <a:ext cx="8229600" cy="73152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THE AI CLIENT ONBOARDING MACHINE</a:t>
            </a:r>
            <a:endParaRPr lang="en-US" sz="3400" dirty="0"/>
          </a:p>
        </p:txBody>
      </p:sp>
      <p:sp>
        <p:nvSpPr>
          <p:cNvPr id="4" name="Text 1"/>
          <p:cNvSpPr/>
          <p:nvPr/>
        </p:nvSpPr>
        <p:spPr>
          <a:xfrm>
            <a:off x="731520" y="2834640"/>
            <a:ext cx="7680960" cy="822960"/>
          </a:xfrm>
          <a:prstGeom prst="rect">
            <a:avLst/>
          </a:prstGeom>
          <a:noFill/>
          <a:ln/>
        </p:spPr>
        <p:txBody>
          <a:bodyPr wrap="square" lIns="0" tIns="0" rIns="0" bIns="0" rtlCol="0" anchor="t"/>
          <a:lstStyle/>
          <a:p>
            <a:pPr algn="ctr" indent="0" marL="0">
              <a:buNone/>
            </a:pPr>
            <a:r>
              <a:rPr lang="en-US" sz="1500" dirty="0">
                <a:solidFill>
                  <a:srgbClr val="C9D1D9"/>
                </a:solidFill>
                <a:latin typeface="Calibri" pitchFamily="34" charset="0"/>
                <a:ea typeface="Calibri" pitchFamily="34" charset="-122"/>
                <a:cs typeface="Calibri" pitchFamily="34" charset="-120"/>
              </a:rPr>
              <a:t>One Form. Full Project Plan. SOPs. Timeline. Deliverables.</a:t>
            </a:r>
            <a:endParaRPr lang="en-US" sz="1500" dirty="0"/>
          </a:p>
          <a:p>
            <a:pPr algn="ctr" indent="0" marL="0">
              <a:buNone/>
            </a:pPr>
            <a:r>
              <a:rPr lang="en-US" sz="1500" dirty="0">
                <a:solidFill>
                  <a:srgbClr val="C9D1D9"/>
                </a:solidFill>
                <a:latin typeface="Calibri" pitchFamily="34" charset="0"/>
                <a:ea typeface="Calibri" pitchFamily="34" charset="-122"/>
                <a:cs typeface="Calibri" pitchFamily="34" charset="-120"/>
              </a:rPr>
              <a:t>Professional Onboarding Email. Auto Follow-Ups. Zero Manual Work.</a:t>
            </a:r>
            <a:endParaRPr lang="en-US" sz="1500" dirty="0"/>
          </a:p>
        </p:txBody>
      </p:sp>
      <p:sp>
        <p:nvSpPr>
          <p:cNvPr id="5" name="Shape 2"/>
          <p:cNvSpPr/>
          <p:nvPr/>
        </p:nvSpPr>
        <p:spPr>
          <a:xfrm>
            <a:off x="0" y="4297680"/>
            <a:ext cx="9144000" cy="45720"/>
          </a:xfrm>
          <a:prstGeom prst="rect">
            <a:avLst/>
          </a:prstGeom>
          <a:solidFill>
            <a:srgbClr val="F97316"/>
          </a:solidFill>
          <a:ln/>
        </p:spPr>
      </p:sp>
      <p:sp>
        <p:nvSpPr>
          <p:cNvPr id="6" name="Text 3"/>
          <p:cNvSpPr/>
          <p:nvPr/>
        </p:nvSpPr>
        <p:spPr>
          <a:xfrm>
            <a:off x="457200" y="4434840"/>
            <a:ext cx="8229600" cy="365760"/>
          </a:xfrm>
          <a:prstGeom prst="rect">
            <a:avLst/>
          </a:prstGeom>
          <a:noFill/>
          <a:ln/>
        </p:spPr>
        <p:txBody>
          <a:bodyPr wrap="square" lIns="0" tIns="0" rIns="0" bIns="0" rtlCol="0" anchor="ctr"/>
          <a:lstStyle/>
          <a:p>
            <a:pPr algn="ctr" indent="0" marL="0">
              <a:buNone/>
            </a:pPr>
            <a:r>
              <a:rPr lang="en-US" sz="1200" dirty="0">
                <a:solidFill>
                  <a:srgbClr val="8B949E"/>
                </a:solidFill>
                <a:latin typeface="Calibri" pitchFamily="34" charset="0"/>
                <a:ea typeface="Calibri" pitchFamily="34" charset="-122"/>
                <a:cs typeface="Calibri" pitchFamily="34" charset="-120"/>
              </a:rPr>
              <a:t>AI Architect Simulation  |  100% Free Tools  |  Gemini + n8n + Google Sheets + Gmail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Agency Operations Nightmare vs What We Build Today</a:t>
            </a:r>
            <a:endParaRPr lang="en-US" sz="2600" dirty="0"/>
          </a:p>
        </p:txBody>
      </p:sp>
      <p:sp>
        <p:nvSpPr>
          <p:cNvPr id="3" name="Shape 1"/>
          <p:cNvSpPr/>
          <p:nvPr/>
        </p:nvSpPr>
        <p:spPr>
          <a:xfrm>
            <a:off x="274320" y="822960"/>
            <a:ext cx="4160520" cy="2194560"/>
          </a:xfrm>
          <a:prstGeom prst="rect">
            <a:avLst/>
          </a:prstGeom>
          <a:solidFill>
            <a:srgbClr val="161B22"/>
          </a:solidFill>
          <a:ln w="12700">
            <a:solidFill>
              <a:srgbClr val="2D1A1A"/>
            </a:solidFill>
            <a:prstDash val="solid"/>
          </a:ln>
        </p:spPr>
      </p:sp>
      <p:sp>
        <p:nvSpPr>
          <p:cNvPr id="4" name="Shape 2"/>
          <p:cNvSpPr/>
          <p:nvPr/>
        </p:nvSpPr>
        <p:spPr>
          <a:xfrm>
            <a:off x="274320" y="822960"/>
            <a:ext cx="4160520" cy="36576"/>
          </a:xfrm>
          <a:prstGeom prst="rect">
            <a:avLst/>
          </a:prstGeom>
          <a:solidFill>
            <a:srgbClr val="EF4444"/>
          </a:solidFill>
          <a:ln/>
        </p:spPr>
      </p:sp>
      <p:sp>
        <p:nvSpPr>
          <p:cNvPr id="5" name="Text 3"/>
          <p:cNvSpPr/>
          <p:nvPr/>
        </p:nvSpPr>
        <p:spPr>
          <a:xfrm>
            <a:off x="457200" y="914400"/>
            <a:ext cx="3657600" cy="32004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THE PROBLEM</a:t>
            </a:r>
            <a:endParaRPr lang="en-US" sz="1300" dirty="0"/>
          </a:p>
        </p:txBody>
      </p:sp>
      <p:sp>
        <p:nvSpPr>
          <p:cNvPr id="6" name="Text 4"/>
          <p:cNvSpPr/>
          <p:nvPr/>
        </p:nvSpPr>
        <p:spPr>
          <a:xfrm>
            <a:off x="457200" y="1280160"/>
            <a:ext cx="3840480" cy="164592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C9D1D9"/>
                </a:solidFill>
                <a:latin typeface="Calibri" pitchFamily="34" charset="0"/>
                <a:ea typeface="Calibri" pitchFamily="34" charset="-122"/>
                <a:cs typeface="Calibri" pitchFamily="34" charset="-120"/>
              </a:rPr>
              <a:t>2-3 hours per client onboarding — manually</a:t>
            </a:r>
            <a:endParaRPr lang="en-US" sz="1000" dirty="0"/>
          </a:p>
          <a:p>
            <a:pPr marL="342900" indent="-342900">
              <a:spcAft>
                <a:spcPts val="400"/>
              </a:spcAft>
              <a:buSzPct val="100000"/>
              <a:buChar char="•"/>
            </a:pPr>
            <a:r>
              <a:rPr lang="en-US" sz="1000" dirty="0">
                <a:solidFill>
                  <a:srgbClr val="C9D1D9"/>
                </a:solidFill>
                <a:latin typeface="Calibri" pitchFamily="34" charset="0"/>
                <a:ea typeface="Calibri" pitchFamily="34" charset="-122"/>
                <a:cs typeface="Calibri" pitchFamily="34" charset="-120"/>
              </a:rPr>
              <a:t>Welcome emails, timelines, SOPs — from scratch each time</a:t>
            </a:r>
            <a:endParaRPr lang="en-US" sz="1000" dirty="0"/>
          </a:p>
          <a:p>
            <a:pPr marL="342900" indent="-342900">
              <a:spcAft>
                <a:spcPts val="400"/>
              </a:spcAft>
              <a:buSzPct val="100000"/>
              <a:buChar char="•"/>
            </a:pPr>
            <a:r>
              <a:rPr lang="en-US" sz="1000" dirty="0">
                <a:solidFill>
                  <a:srgbClr val="C9D1D9"/>
                </a:solidFill>
                <a:latin typeface="Calibri" pitchFamily="34" charset="0"/>
                <a:ea typeface="Calibri" pitchFamily="34" charset="-122"/>
                <a:cs typeface="Calibri" pitchFamily="34" charset="-120"/>
              </a:rPr>
              <a:t>No standardization = inconsistent client experience</a:t>
            </a:r>
            <a:endParaRPr lang="en-US" sz="1000" dirty="0"/>
          </a:p>
          <a:p>
            <a:pPr marL="342900" indent="-342900">
              <a:spcAft>
                <a:spcPts val="400"/>
              </a:spcAft>
              <a:buSzPct val="100000"/>
              <a:buChar char="•"/>
            </a:pPr>
            <a:r>
              <a:rPr lang="en-US" sz="1000" dirty="0">
                <a:solidFill>
                  <a:srgbClr val="C9D1D9"/>
                </a:solidFill>
                <a:latin typeface="Calibri" pitchFamily="34" charset="0"/>
                <a:ea typeface="Calibri" pitchFamily="34" charset="-122"/>
                <a:cs typeface="Calibri" pitchFamily="34" charset="-120"/>
              </a:rPr>
              <a:t>44% agencies lose deals due to poor follow-up</a:t>
            </a:r>
            <a:endParaRPr lang="en-US" sz="1000" dirty="0"/>
          </a:p>
          <a:p>
            <a:pPr marL="342900" indent="-342900">
              <a:spcAft>
                <a:spcPts val="400"/>
              </a:spcAft>
              <a:buSzPct val="100000"/>
              <a:buChar char="•"/>
            </a:pPr>
            <a:r>
              <a:rPr lang="en-US" sz="1000" dirty="0">
                <a:solidFill>
                  <a:srgbClr val="C9D1D9"/>
                </a:solidFill>
                <a:latin typeface="Calibri" pitchFamily="34" charset="0"/>
                <a:ea typeface="Calibri" pitchFamily="34" charset="-122"/>
                <a:cs typeface="Calibri" pitchFamily="34" charset="-120"/>
              </a:rPr>
              <a:t>No tracking = zero visibility into project status</a:t>
            </a:r>
            <a:endParaRPr lang="en-US" sz="1000" dirty="0"/>
          </a:p>
        </p:txBody>
      </p:sp>
      <p:sp>
        <p:nvSpPr>
          <p:cNvPr id="7" name="Shape 5"/>
          <p:cNvSpPr/>
          <p:nvPr/>
        </p:nvSpPr>
        <p:spPr>
          <a:xfrm>
            <a:off x="4709160" y="822960"/>
            <a:ext cx="4160520" cy="2194560"/>
          </a:xfrm>
          <a:prstGeom prst="rect">
            <a:avLst/>
          </a:prstGeom>
          <a:solidFill>
            <a:srgbClr val="161B22"/>
          </a:solidFill>
          <a:ln w="12700">
            <a:solidFill>
              <a:srgbClr val="1A2D1A"/>
            </a:solidFill>
            <a:prstDash val="solid"/>
          </a:ln>
        </p:spPr>
      </p:sp>
      <p:sp>
        <p:nvSpPr>
          <p:cNvPr id="8" name="Shape 6"/>
          <p:cNvSpPr/>
          <p:nvPr/>
        </p:nvSpPr>
        <p:spPr>
          <a:xfrm>
            <a:off x="4709160" y="822960"/>
            <a:ext cx="4160520" cy="36576"/>
          </a:xfrm>
          <a:prstGeom prst="rect">
            <a:avLst/>
          </a:prstGeom>
          <a:solidFill>
            <a:srgbClr val="22C55E"/>
          </a:solidFill>
          <a:ln/>
        </p:spPr>
      </p:sp>
      <p:sp>
        <p:nvSpPr>
          <p:cNvPr id="9" name="Text 7"/>
          <p:cNvSpPr/>
          <p:nvPr/>
        </p:nvSpPr>
        <p:spPr>
          <a:xfrm>
            <a:off x="4892040" y="914400"/>
            <a:ext cx="3657600" cy="320040"/>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WHAT WE BUILD</a:t>
            </a:r>
            <a:endParaRPr lang="en-US" sz="1300" dirty="0"/>
          </a:p>
        </p:txBody>
      </p:sp>
      <p:sp>
        <p:nvSpPr>
          <p:cNvPr id="10" name="Text 8"/>
          <p:cNvSpPr/>
          <p:nvPr/>
        </p:nvSpPr>
        <p:spPr>
          <a:xfrm>
            <a:off x="4892040" y="1280160"/>
            <a:ext cx="3840480" cy="164592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C9D1D9"/>
                </a:solidFill>
                <a:latin typeface="Calibri" pitchFamily="34" charset="0"/>
                <a:ea typeface="Calibri" pitchFamily="34" charset="-122"/>
                <a:cs typeface="Calibri" pitchFamily="34" charset="-120"/>
              </a:rPr>
              <a:t>Fill ONE form → full project plan in 60 seconds</a:t>
            </a:r>
            <a:endParaRPr lang="en-US" sz="1000" dirty="0"/>
          </a:p>
          <a:p>
            <a:pPr marL="342900" indent="-342900">
              <a:spcAft>
                <a:spcPts val="300"/>
              </a:spcAft>
              <a:buSzPct val="100000"/>
              <a:buChar char="•"/>
            </a:pPr>
            <a:r>
              <a:rPr lang="en-US" sz="1000" dirty="0">
                <a:solidFill>
                  <a:srgbClr val="C9D1D9"/>
                </a:solidFill>
                <a:latin typeface="Calibri" pitchFamily="34" charset="0"/>
                <a:ea typeface="Calibri" pitchFamily="34" charset="-122"/>
                <a:cs typeface="Calibri" pitchFamily="34" charset="-120"/>
              </a:rPr>
              <a:t>Gemini AI generates plan from YOUR exact SOPs</a:t>
            </a:r>
            <a:endParaRPr lang="en-US" sz="1000" dirty="0"/>
          </a:p>
          <a:p>
            <a:pPr marL="342900" indent="-342900">
              <a:spcAft>
                <a:spcPts val="300"/>
              </a:spcAft>
              <a:buSzPct val="100000"/>
              <a:buChar char="•"/>
            </a:pPr>
            <a:r>
              <a:rPr lang="en-US" sz="1000" dirty="0">
                <a:solidFill>
                  <a:srgbClr val="C9D1D9"/>
                </a:solidFill>
                <a:latin typeface="Calibri" pitchFamily="34" charset="0"/>
                <a:ea typeface="Calibri" pitchFamily="34" charset="-122"/>
                <a:cs typeface="Calibri" pitchFamily="34" charset="-120"/>
              </a:rPr>
              <a:t>Premium HTML email: roadmap, SOPs, deliverables, payment</a:t>
            </a:r>
            <a:endParaRPr lang="en-US" sz="1000" dirty="0"/>
          </a:p>
          <a:p>
            <a:pPr marL="342900" indent="-342900">
              <a:spcAft>
                <a:spcPts val="300"/>
              </a:spcAft>
              <a:buSzPct val="100000"/>
              <a:buChar char="•"/>
            </a:pPr>
            <a:r>
              <a:rPr lang="en-US" sz="1000" dirty="0">
                <a:solidFill>
                  <a:srgbClr val="C9D1D9"/>
                </a:solidFill>
                <a:latin typeface="Calibri" pitchFamily="34" charset="0"/>
                <a:ea typeface="Calibri" pitchFamily="34" charset="-122"/>
                <a:cs typeface="Calibri" pitchFamily="34" charset="-120"/>
              </a:rPr>
              <a:t>Auto follow-up if no reply in 2 days</a:t>
            </a:r>
            <a:endParaRPr lang="en-US" sz="1000" dirty="0"/>
          </a:p>
          <a:p>
            <a:pPr marL="342900" indent="-342900">
              <a:spcAft>
                <a:spcPts val="300"/>
              </a:spcAft>
              <a:buSzPct val="100000"/>
              <a:buChar char="•"/>
            </a:pPr>
            <a:r>
              <a:rPr lang="en-US" sz="1000" dirty="0">
                <a:solidFill>
                  <a:srgbClr val="C9D1D9"/>
                </a:solidFill>
                <a:latin typeface="Calibri" pitchFamily="34" charset="0"/>
                <a:ea typeface="Calibri" pitchFamily="34" charset="-122"/>
                <a:cs typeface="Calibri" pitchFamily="34" charset="-120"/>
              </a:rPr>
              <a:t>Weekly Monday check-ins for every active client</a:t>
            </a:r>
            <a:endParaRPr lang="en-US" sz="1000" dirty="0"/>
          </a:p>
          <a:p>
            <a:pPr marL="342900" indent="-342900">
              <a:spcAft>
                <a:spcPts val="300"/>
              </a:spcAft>
              <a:buSzPct val="100000"/>
              <a:buChar char="•"/>
            </a:pPr>
            <a:r>
              <a:rPr lang="en-US" sz="1000" dirty="0">
                <a:solidFill>
                  <a:srgbClr val="C9D1D9"/>
                </a:solidFill>
                <a:latin typeface="Calibri" pitchFamily="34" charset="0"/>
                <a:ea typeface="Calibri" pitchFamily="34" charset="-122"/>
                <a:cs typeface="Calibri" pitchFamily="34" charset="-120"/>
              </a:rPr>
              <a:t>Full Google Sheets CRM + deliverables tracker</a:t>
            </a:r>
            <a:endParaRPr lang="en-US" sz="1000" dirty="0"/>
          </a:p>
          <a:p>
            <a:pPr marL="342900" indent="-342900">
              <a:spcAft>
                <a:spcPts val="300"/>
              </a:spcAft>
              <a:buSzPct val="100000"/>
              <a:buChar char="•"/>
            </a:pPr>
            <a:r>
              <a:rPr lang="en-US" sz="1000" b="1" dirty="0">
                <a:solidFill>
                  <a:srgbClr val="22C55E"/>
                </a:solidFill>
                <a:latin typeface="Calibri" pitchFamily="34" charset="0"/>
                <a:ea typeface="Calibri" pitchFamily="34" charset="-122"/>
                <a:cs typeface="Calibri" pitchFamily="34" charset="-120"/>
              </a:rPr>
              <a:t>Total cost per client: ₹0</a:t>
            </a:r>
            <a:endParaRPr lang="en-US" sz="1000" dirty="0"/>
          </a:p>
        </p:txBody>
      </p:sp>
      <p:sp>
        <p:nvSpPr>
          <p:cNvPr id="11" name="Text 9"/>
          <p:cNvSpPr/>
          <p:nvPr/>
        </p:nvSpPr>
        <p:spPr>
          <a:xfrm>
            <a:off x="274320" y="3154680"/>
            <a:ext cx="8595360" cy="320040"/>
          </a:xfrm>
          <a:prstGeom prst="rect">
            <a:avLst/>
          </a:prstGeom>
          <a:noFill/>
          <a:ln/>
        </p:spPr>
        <p:txBody>
          <a:bodyPr wrap="square" lIns="0" tIns="0" rIns="0" bIns="0" rtlCol="0" anchor="ctr"/>
          <a:lstStyle/>
          <a:p>
            <a:pPr algn="ctr" indent="0" marL="0">
              <a:buNone/>
            </a:pPr>
            <a:r>
              <a:rPr lang="en-US" sz="1300" b="1" dirty="0">
                <a:solidFill>
                  <a:srgbClr val="F97316"/>
                </a:solidFill>
                <a:latin typeface="Calibri" pitchFamily="34" charset="0"/>
                <a:ea typeface="Calibri" pitchFamily="34" charset="-122"/>
                <a:cs typeface="Calibri" pitchFamily="34" charset="-120"/>
              </a:rPr>
              <a:t>3-FLOW ARCHITECTURE  —  26 Nodes, 1 Workflow</a:t>
            </a:r>
            <a:endParaRPr lang="en-US" sz="1300" dirty="0"/>
          </a:p>
        </p:txBody>
      </p:sp>
      <p:sp>
        <p:nvSpPr>
          <p:cNvPr id="12" name="Shape 10"/>
          <p:cNvSpPr/>
          <p:nvPr/>
        </p:nvSpPr>
        <p:spPr>
          <a:xfrm>
            <a:off x="274320" y="3520440"/>
            <a:ext cx="8595360" cy="475488"/>
          </a:xfrm>
          <a:prstGeom prst="rect">
            <a:avLst/>
          </a:prstGeom>
          <a:solidFill>
            <a:srgbClr val="1C2333"/>
          </a:solidFill>
          <a:ln/>
        </p:spPr>
      </p:sp>
      <p:sp>
        <p:nvSpPr>
          <p:cNvPr id="13" name="Text 11"/>
          <p:cNvSpPr/>
          <p:nvPr/>
        </p:nvSpPr>
        <p:spPr>
          <a:xfrm>
            <a:off x="457200" y="3520440"/>
            <a:ext cx="8229600" cy="475488"/>
          </a:xfrm>
          <a:prstGeom prst="rect">
            <a:avLst/>
          </a:prstGeom>
          <a:noFill/>
          <a:ln/>
        </p:spPr>
        <p:txBody>
          <a:bodyPr wrap="square" lIns="0" tIns="0" rIns="0" bIns="0" rtlCol="0" anchor="ctr"/>
          <a:lstStyle/>
          <a:p>
            <a:pPr indent="0" marL="0">
              <a:buNone/>
            </a:pPr>
            <a:r>
              <a:rPr lang="en-US" sz="900" dirty="0">
                <a:solidFill>
                  <a:srgbClr val="C9D1D9"/>
                </a:solidFill>
                <a:latin typeface="Calibri" pitchFamily="34" charset="0"/>
                <a:ea typeface="Calibri" pitchFamily="34" charset="-122"/>
                <a:cs typeface="Calibri" pitchFamily="34" charset="-120"/>
              </a:rPr>
              <a:t>Flow A (12 nodes):  Form → Parse → Read DB → Merge → Gemini AI → Parse Plan → CRM Log → Expand → Track → HTML Email → Client Email → Agency Copy</a:t>
            </a:r>
            <a:endParaRPr lang="en-US" sz="900" dirty="0"/>
          </a:p>
        </p:txBody>
      </p:sp>
      <p:sp>
        <p:nvSpPr>
          <p:cNvPr id="14" name="Shape 12"/>
          <p:cNvSpPr/>
          <p:nvPr/>
        </p:nvSpPr>
        <p:spPr>
          <a:xfrm>
            <a:off x="274320" y="3520440"/>
            <a:ext cx="54864" cy="475488"/>
          </a:xfrm>
          <a:prstGeom prst="rect">
            <a:avLst/>
          </a:prstGeom>
          <a:solidFill>
            <a:srgbClr val="F97316"/>
          </a:solidFill>
          <a:ln/>
        </p:spPr>
      </p:sp>
      <p:sp>
        <p:nvSpPr>
          <p:cNvPr id="15" name="Shape 13"/>
          <p:cNvSpPr/>
          <p:nvPr/>
        </p:nvSpPr>
        <p:spPr>
          <a:xfrm>
            <a:off x="274320" y="4050792"/>
            <a:ext cx="8595360" cy="320040"/>
          </a:xfrm>
          <a:prstGeom prst="rect">
            <a:avLst/>
          </a:prstGeom>
          <a:solidFill>
            <a:srgbClr val="1C2333"/>
          </a:solidFill>
          <a:ln/>
        </p:spPr>
      </p:sp>
      <p:sp>
        <p:nvSpPr>
          <p:cNvPr id="16" name="Text 14"/>
          <p:cNvSpPr/>
          <p:nvPr/>
        </p:nvSpPr>
        <p:spPr>
          <a:xfrm>
            <a:off x="457200" y="4050792"/>
            <a:ext cx="8229600" cy="320040"/>
          </a:xfrm>
          <a:prstGeom prst="rect">
            <a:avLst/>
          </a:prstGeom>
          <a:noFill/>
          <a:ln/>
        </p:spPr>
        <p:txBody>
          <a:bodyPr wrap="square" lIns="0" tIns="0" rIns="0" bIns="0" rtlCol="0" anchor="ctr"/>
          <a:lstStyle/>
          <a:p>
            <a:pPr indent="0" marL="0">
              <a:buNone/>
            </a:pPr>
            <a:r>
              <a:rPr lang="en-US" sz="900" dirty="0">
                <a:solidFill>
                  <a:srgbClr val="C9D1D9"/>
                </a:solidFill>
                <a:latin typeface="Calibri" pitchFamily="34" charset="0"/>
                <a:ea typeface="Calibri" pitchFamily="34" charset="-122"/>
                <a:cs typeface="Calibri" pitchFamily="34" charset="-120"/>
              </a:rPr>
              <a:t>Flow B (7 nodes):  Daily Cron → Fetch "Welcome Sent" → Filter 2+ Days → Gemini Follow-up → Parse → Send Reminder → Update Status</a:t>
            </a:r>
            <a:endParaRPr lang="en-US" sz="900" dirty="0"/>
          </a:p>
        </p:txBody>
      </p:sp>
      <p:sp>
        <p:nvSpPr>
          <p:cNvPr id="17" name="Shape 15"/>
          <p:cNvSpPr/>
          <p:nvPr/>
        </p:nvSpPr>
        <p:spPr>
          <a:xfrm>
            <a:off x="274320" y="4050792"/>
            <a:ext cx="54864" cy="320040"/>
          </a:xfrm>
          <a:prstGeom prst="rect">
            <a:avLst/>
          </a:prstGeom>
          <a:solidFill>
            <a:srgbClr val="2563EB"/>
          </a:solidFill>
          <a:ln/>
        </p:spPr>
      </p:sp>
      <p:sp>
        <p:nvSpPr>
          <p:cNvPr id="18" name="Shape 16"/>
          <p:cNvSpPr/>
          <p:nvPr/>
        </p:nvSpPr>
        <p:spPr>
          <a:xfrm>
            <a:off x="274320" y="4425696"/>
            <a:ext cx="8595360" cy="320040"/>
          </a:xfrm>
          <a:prstGeom prst="rect">
            <a:avLst/>
          </a:prstGeom>
          <a:solidFill>
            <a:srgbClr val="1C2333"/>
          </a:solidFill>
          <a:ln/>
        </p:spPr>
      </p:sp>
      <p:sp>
        <p:nvSpPr>
          <p:cNvPr id="19" name="Text 17"/>
          <p:cNvSpPr/>
          <p:nvPr/>
        </p:nvSpPr>
        <p:spPr>
          <a:xfrm>
            <a:off x="457200" y="4425696"/>
            <a:ext cx="8229600" cy="320040"/>
          </a:xfrm>
          <a:prstGeom prst="rect">
            <a:avLst/>
          </a:prstGeom>
          <a:noFill/>
          <a:ln/>
        </p:spPr>
        <p:txBody>
          <a:bodyPr wrap="square" lIns="0" tIns="0" rIns="0" bIns="0" rtlCol="0" anchor="ctr"/>
          <a:lstStyle/>
          <a:p>
            <a:pPr indent="0" marL="0">
              <a:buNone/>
            </a:pPr>
            <a:r>
              <a:rPr lang="en-US" sz="900" dirty="0">
                <a:solidFill>
                  <a:srgbClr val="C9D1D9"/>
                </a:solidFill>
                <a:latin typeface="Calibri" pitchFamily="34" charset="0"/>
                <a:ea typeface="Calibri" pitchFamily="34" charset="-122"/>
                <a:cs typeface="Calibri" pitchFamily="34" charset="-120"/>
              </a:rPr>
              <a:t>Flow C (7 nodes):  Monday Cron → Fetch "Active" → Calculate Week # → Gemini Check-in → Parse → Send Email → Log Communications</a:t>
            </a:r>
            <a:endParaRPr lang="en-US" sz="900" dirty="0"/>
          </a:p>
        </p:txBody>
      </p:sp>
      <p:sp>
        <p:nvSpPr>
          <p:cNvPr id="20" name="Shape 18"/>
          <p:cNvSpPr/>
          <p:nvPr/>
        </p:nvSpPr>
        <p:spPr>
          <a:xfrm>
            <a:off x="274320" y="4425696"/>
            <a:ext cx="54864" cy="320040"/>
          </a:xfrm>
          <a:prstGeom prst="rect">
            <a:avLst/>
          </a:prstGeom>
          <a:solidFill>
            <a:srgbClr val="0D9488"/>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777240"/>
            <a:ext cx="594360" cy="292608"/>
          </a:xfrm>
          <a:prstGeom prst="rect">
            <a:avLst/>
          </a:prstGeom>
          <a:solidFill>
            <a:srgbClr val="F97316"/>
          </a:solidFill>
          <a:ln w="25400">
            <a:solidFill>
              <a:srgbClr val="F97316"/>
            </a:solidFill>
            <a:prstDash val="solid"/>
          </a:ln>
        </p:spPr>
      </p:sp>
      <p:sp>
        <p:nvSpPr>
          <p:cNvPr id="3" name="Text 1"/>
          <p:cNvSpPr/>
          <p:nvPr/>
        </p:nvSpPr>
        <p:spPr>
          <a:xfrm>
            <a:off x="274320" y="777240"/>
            <a:ext cx="594360" cy="292608"/>
          </a:xfrm>
          <a:prstGeom prst="rect">
            <a:avLst/>
          </a:prstGeom>
          <a:noFill/>
          <a:ln/>
        </p:spPr>
        <p:txBody>
          <a:bodyPr wrap="square" lIns="0" tIns="0" rIns="0" bIns="0" rtlCol="0" anchor="ctr"/>
          <a:lstStyle/>
          <a:p>
            <a:pPr algn="ctr" indent="0" marL="0">
              <a:buNone/>
            </a:pPr>
            <a:r>
              <a:rPr lang="en-US" sz="900" b="1" dirty="0">
                <a:solidFill>
                  <a:srgbClr val="0D1117"/>
                </a:solidFill>
                <a:latin typeface="Calibri" pitchFamily="34" charset="0"/>
                <a:ea typeface="Calibri" pitchFamily="34" charset="-122"/>
                <a:cs typeface="Calibri" pitchFamily="34" charset="-120"/>
              </a:rPr>
              <a:t>1</a:t>
            </a:r>
            <a:endParaRPr lang="en-US" sz="900" dirty="0"/>
          </a:p>
        </p:txBody>
      </p:sp>
      <p:sp>
        <p:nvSpPr>
          <p:cNvPr id="4" name="Text 2"/>
          <p:cNvSpPr/>
          <p:nvPr/>
        </p:nvSpPr>
        <p:spPr>
          <a:xfrm>
            <a:off x="86868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5" name="Shape 3"/>
          <p:cNvSpPr/>
          <p:nvPr/>
        </p:nvSpPr>
        <p:spPr>
          <a:xfrm>
            <a:off x="987552" y="777240"/>
            <a:ext cx="594360" cy="292608"/>
          </a:xfrm>
          <a:prstGeom prst="rect">
            <a:avLst/>
          </a:prstGeom>
          <a:solidFill>
            <a:srgbClr val="1C2333"/>
          </a:solidFill>
          <a:ln w="6350">
            <a:solidFill>
              <a:srgbClr val="6E7681"/>
            </a:solidFill>
            <a:prstDash val="solid"/>
          </a:ln>
        </p:spPr>
      </p:sp>
      <p:sp>
        <p:nvSpPr>
          <p:cNvPr id="6" name="Text 4"/>
          <p:cNvSpPr/>
          <p:nvPr/>
        </p:nvSpPr>
        <p:spPr>
          <a:xfrm>
            <a:off x="98755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158191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8" name="Shape 6"/>
          <p:cNvSpPr/>
          <p:nvPr/>
        </p:nvSpPr>
        <p:spPr>
          <a:xfrm>
            <a:off x="1700784" y="777240"/>
            <a:ext cx="594360" cy="292608"/>
          </a:xfrm>
          <a:prstGeom prst="rect">
            <a:avLst/>
          </a:prstGeom>
          <a:solidFill>
            <a:srgbClr val="1C2333"/>
          </a:solidFill>
          <a:ln w="6350">
            <a:solidFill>
              <a:srgbClr val="6E7681"/>
            </a:solidFill>
            <a:prstDash val="solid"/>
          </a:ln>
        </p:spPr>
      </p:sp>
      <p:sp>
        <p:nvSpPr>
          <p:cNvPr id="9" name="Text 7"/>
          <p:cNvSpPr/>
          <p:nvPr/>
        </p:nvSpPr>
        <p:spPr>
          <a:xfrm>
            <a:off x="170078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3</a:t>
            </a:r>
            <a:endParaRPr lang="en-US" sz="900" dirty="0"/>
          </a:p>
        </p:txBody>
      </p:sp>
      <p:sp>
        <p:nvSpPr>
          <p:cNvPr id="10" name="Text 8"/>
          <p:cNvSpPr/>
          <p:nvPr/>
        </p:nvSpPr>
        <p:spPr>
          <a:xfrm>
            <a:off x="229514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1" name="Shape 9"/>
          <p:cNvSpPr/>
          <p:nvPr/>
        </p:nvSpPr>
        <p:spPr>
          <a:xfrm>
            <a:off x="2414016" y="777240"/>
            <a:ext cx="594360" cy="292608"/>
          </a:xfrm>
          <a:prstGeom prst="rect">
            <a:avLst/>
          </a:prstGeom>
          <a:solidFill>
            <a:srgbClr val="1C2333"/>
          </a:solidFill>
          <a:ln w="6350">
            <a:solidFill>
              <a:srgbClr val="6E7681"/>
            </a:solidFill>
            <a:prstDash val="solid"/>
          </a:ln>
        </p:spPr>
      </p:sp>
      <p:sp>
        <p:nvSpPr>
          <p:cNvPr id="12" name="Text 10"/>
          <p:cNvSpPr/>
          <p:nvPr/>
        </p:nvSpPr>
        <p:spPr>
          <a:xfrm>
            <a:off x="241401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4</a:t>
            </a:r>
            <a:endParaRPr lang="en-US" sz="900" dirty="0"/>
          </a:p>
        </p:txBody>
      </p:sp>
      <p:sp>
        <p:nvSpPr>
          <p:cNvPr id="13" name="Text 11"/>
          <p:cNvSpPr/>
          <p:nvPr/>
        </p:nvSpPr>
        <p:spPr>
          <a:xfrm>
            <a:off x="300837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4" name="Shape 12"/>
          <p:cNvSpPr/>
          <p:nvPr/>
        </p:nvSpPr>
        <p:spPr>
          <a:xfrm>
            <a:off x="3127248" y="777240"/>
            <a:ext cx="594360" cy="292608"/>
          </a:xfrm>
          <a:prstGeom prst="rect">
            <a:avLst/>
          </a:prstGeom>
          <a:solidFill>
            <a:srgbClr val="1C2333"/>
          </a:solidFill>
          <a:ln w="6350">
            <a:solidFill>
              <a:srgbClr val="6E7681"/>
            </a:solidFill>
            <a:prstDash val="solid"/>
          </a:ln>
        </p:spPr>
      </p:sp>
      <p:sp>
        <p:nvSpPr>
          <p:cNvPr id="15" name="Text 13"/>
          <p:cNvSpPr/>
          <p:nvPr/>
        </p:nvSpPr>
        <p:spPr>
          <a:xfrm>
            <a:off x="312724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5</a:t>
            </a:r>
            <a:endParaRPr lang="en-US" sz="900" dirty="0"/>
          </a:p>
        </p:txBody>
      </p:sp>
      <p:sp>
        <p:nvSpPr>
          <p:cNvPr id="16" name="Text 14"/>
          <p:cNvSpPr/>
          <p:nvPr/>
        </p:nvSpPr>
        <p:spPr>
          <a:xfrm>
            <a:off x="372160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7" name="Shape 15"/>
          <p:cNvSpPr/>
          <p:nvPr/>
        </p:nvSpPr>
        <p:spPr>
          <a:xfrm>
            <a:off x="3840480" y="777240"/>
            <a:ext cx="594360" cy="292608"/>
          </a:xfrm>
          <a:prstGeom prst="rect">
            <a:avLst/>
          </a:prstGeom>
          <a:solidFill>
            <a:srgbClr val="1C2333"/>
          </a:solidFill>
          <a:ln w="6350">
            <a:solidFill>
              <a:srgbClr val="6E7681"/>
            </a:solidFill>
            <a:prstDash val="solid"/>
          </a:ln>
        </p:spPr>
      </p:sp>
      <p:sp>
        <p:nvSpPr>
          <p:cNvPr id="18" name="Text 16"/>
          <p:cNvSpPr/>
          <p:nvPr/>
        </p:nvSpPr>
        <p:spPr>
          <a:xfrm>
            <a:off x="384048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6</a:t>
            </a:r>
            <a:endParaRPr lang="en-US" sz="900" dirty="0"/>
          </a:p>
        </p:txBody>
      </p:sp>
      <p:sp>
        <p:nvSpPr>
          <p:cNvPr id="19" name="Text 17"/>
          <p:cNvSpPr/>
          <p:nvPr/>
        </p:nvSpPr>
        <p:spPr>
          <a:xfrm>
            <a:off x="443484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4553712" y="777240"/>
            <a:ext cx="594360" cy="292608"/>
          </a:xfrm>
          <a:prstGeom prst="rect">
            <a:avLst/>
          </a:prstGeom>
          <a:solidFill>
            <a:srgbClr val="1C2333"/>
          </a:solidFill>
          <a:ln w="6350">
            <a:solidFill>
              <a:srgbClr val="6E7681"/>
            </a:solidFill>
            <a:prstDash val="solid"/>
          </a:ln>
        </p:spPr>
      </p:sp>
      <p:sp>
        <p:nvSpPr>
          <p:cNvPr id="21" name="Text 19"/>
          <p:cNvSpPr/>
          <p:nvPr/>
        </p:nvSpPr>
        <p:spPr>
          <a:xfrm>
            <a:off x="455371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7</a:t>
            </a:r>
            <a:endParaRPr lang="en-US" sz="900" dirty="0"/>
          </a:p>
        </p:txBody>
      </p:sp>
      <p:sp>
        <p:nvSpPr>
          <p:cNvPr id="22" name="Text 20"/>
          <p:cNvSpPr/>
          <p:nvPr/>
        </p:nvSpPr>
        <p:spPr>
          <a:xfrm>
            <a:off x="514807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3" name="Shape 21"/>
          <p:cNvSpPr/>
          <p:nvPr/>
        </p:nvSpPr>
        <p:spPr>
          <a:xfrm>
            <a:off x="5266944" y="777240"/>
            <a:ext cx="594360" cy="292608"/>
          </a:xfrm>
          <a:prstGeom prst="rect">
            <a:avLst/>
          </a:prstGeom>
          <a:solidFill>
            <a:srgbClr val="1C2333"/>
          </a:solidFill>
          <a:ln w="6350">
            <a:solidFill>
              <a:srgbClr val="6E7681"/>
            </a:solidFill>
            <a:prstDash val="solid"/>
          </a:ln>
        </p:spPr>
      </p:sp>
      <p:sp>
        <p:nvSpPr>
          <p:cNvPr id="24" name="Text 22"/>
          <p:cNvSpPr/>
          <p:nvPr/>
        </p:nvSpPr>
        <p:spPr>
          <a:xfrm>
            <a:off x="526694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8</a:t>
            </a:r>
            <a:endParaRPr lang="en-US" sz="900" dirty="0"/>
          </a:p>
        </p:txBody>
      </p:sp>
      <p:sp>
        <p:nvSpPr>
          <p:cNvPr id="25" name="Text 23"/>
          <p:cNvSpPr/>
          <p:nvPr/>
        </p:nvSpPr>
        <p:spPr>
          <a:xfrm>
            <a:off x="586130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6" name="Shape 24"/>
          <p:cNvSpPr/>
          <p:nvPr/>
        </p:nvSpPr>
        <p:spPr>
          <a:xfrm>
            <a:off x="5980176" y="777240"/>
            <a:ext cx="594360" cy="292608"/>
          </a:xfrm>
          <a:prstGeom prst="rect">
            <a:avLst/>
          </a:prstGeom>
          <a:solidFill>
            <a:srgbClr val="1C2333"/>
          </a:solidFill>
          <a:ln w="6350">
            <a:solidFill>
              <a:srgbClr val="6E7681"/>
            </a:solidFill>
            <a:prstDash val="solid"/>
          </a:ln>
        </p:spPr>
      </p:sp>
      <p:sp>
        <p:nvSpPr>
          <p:cNvPr id="27" name="Text 25"/>
          <p:cNvSpPr/>
          <p:nvPr/>
        </p:nvSpPr>
        <p:spPr>
          <a:xfrm>
            <a:off x="598017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9</a:t>
            </a:r>
            <a:endParaRPr lang="en-US" sz="900" dirty="0"/>
          </a:p>
        </p:txBody>
      </p:sp>
      <p:sp>
        <p:nvSpPr>
          <p:cNvPr id="28" name="Text 26"/>
          <p:cNvSpPr/>
          <p:nvPr/>
        </p:nvSpPr>
        <p:spPr>
          <a:xfrm>
            <a:off x="657453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9" name="Shape 27"/>
          <p:cNvSpPr/>
          <p:nvPr/>
        </p:nvSpPr>
        <p:spPr>
          <a:xfrm>
            <a:off x="6693408" y="777240"/>
            <a:ext cx="594360" cy="292608"/>
          </a:xfrm>
          <a:prstGeom prst="rect">
            <a:avLst/>
          </a:prstGeom>
          <a:solidFill>
            <a:srgbClr val="1C2333"/>
          </a:solidFill>
          <a:ln w="6350">
            <a:solidFill>
              <a:srgbClr val="6E7681"/>
            </a:solidFill>
            <a:prstDash val="solid"/>
          </a:ln>
        </p:spPr>
      </p:sp>
      <p:sp>
        <p:nvSpPr>
          <p:cNvPr id="30" name="Text 28"/>
          <p:cNvSpPr/>
          <p:nvPr/>
        </p:nvSpPr>
        <p:spPr>
          <a:xfrm>
            <a:off x="669340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10</a:t>
            </a:r>
            <a:endParaRPr lang="en-US" sz="900" dirty="0"/>
          </a:p>
        </p:txBody>
      </p:sp>
      <p:sp>
        <p:nvSpPr>
          <p:cNvPr id="31" name="Text 29"/>
          <p:cNvSpPr/>
          <p:nvPr/>
        </p:nvSpPr>
        <p:spPr>
          <a:xfrm>
            <a:off x="728776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2" name="Shape 30"/>
          <p:cNvSpPr/>
          <p:nvPr/>
        </p:nvSpPr>
        <p:spPr>
          <a:xfrm>
            <a:off x="7406640" y="777240"/>
            <a:ext cx="594360" cy="292608"/>
          </a:xfrm>
          <a:prstGeom prst="rect">
            <a:avLst/>
          </a:prstGeom>
          <a:solidFill>
            <a:srgbClr val="1C2333"/>
          </a:solidFill>
          <a:ln w="6350">
            <a:solidFill>
              <a:srgbClr val="6E7681"/>
            </a:solidFill>
            <a:prstDash val="solid"/>
          </a:ln>
        </p:spPr>
      </p:sp>
      <p:sp>
        <p:nvSpPr>
          <p:cNvPr id="33" name="Text 31"/>
          <p:cNvSpPr/>
          <p:nvPr/>
        </p:nvSpPr>
        <p:spPr>
          <a:xfrm>
            <a:off x="740664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11</a:t>
            </a:r>
            <a:endParaRPr lang="en-US" sz="900" dirty="0"/>
          </a:p>
        </p:txBody>
      </p:sp>
      <p:sp>
        <p:nvSpPr>
          <p:cNvPr id="34" name="Text 32"/>
          <p:cNvSpPr/>
          <p:nvPr/>
        </p:nvSpPr>
        <p:spPr>
          <a:xfrm>
            <a:off x="800100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5" name="Shape 33"/>
          <p:cNvSpPr/>
          <p:nvPr/>
        </p:nvSpPr>
        <p:spPr>
          <a:xfrm>
            <a:off x="8119872" y="777240"/>
            <a:ext cx="594360" cy="292608"/>
          </a:xfrm>
          <a:prstGeom prst="rect">
            <a:avLst/>
          </a:prstGeom>
          <a:solidFill>
            <a:srgbClr val="1C2333"/>
          </a:solidFill>
          <a:ln w="6350">
            <a:solidFill>
              <a:srgbClr val="6E7681"/>
            </a:solidFill>
            <a:prstDash val="solid"/>
          </a:ln>
        </p:spPr>
      </p:sp>
      <p:sp>
        <p:nvSpPr>
          <p:cNvPr id="36" name="Text 34"/>
          <p:cNvSpPr/>
          <p:nvPr/>
        </p:nvSpPr>
        <p:spPr>
          <a:xfrm>
            <a:off x="811987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12</a:t>
            </a:r>
            <a:endParaRPr lang="en-US" sz="900" dirty="0"/>
          </a:p>
        </p:txBody>
      </p:sp>
      <p:pic>
        <p:nvPicPr>
          <p:cNvPr id="37" name="Image 0" descr="preencoded.png">    </p:cNvPr>
          <p:cNvPicPr>
            <a:picLocks noChangeAspect="1"/>
          </p:cNvPicPr>
          <p:nvPr/>
        </p:nvPicPr>
        <p:blipFill>
          <a:blip r:embed="rId1"/>
          <a:stretch>
            <a:fillRect/>
          </a:stretch>
        </p:blipFill>
        <p:spPr>
          <a:xfrm>
            <a:off x="365760" y="1234440"/>
            <a:ext cx="411480" cy="411480"/>
          </a:xfrm>
          <a:prstGeom prst="rect">
            <a:avLst/>
          </a:prstGeom>
        </p:spPr>
      </p:pic>
      <p:sp>
        <p:nvSpPr>
          <p:cNvPr id="38" name="Text 35"/>
          <p:cNvSpPr/>
          <p:nvPr/>
        </p:nvSpPr>
        <p:spPr>
          <a:xfrm>
            <a:off x="868680" y="1234440"/>
            <a:ext cx="68580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Node 1: New Client Form</a:t>
            </a:r>
            <a:endParaRPr lang="en-US" sz="2200" dirty="0"/>
          </a:p>
        </p:txBody>
      </p:sp>
      <p:sp>
        <p:nvSpPr>
          <p:cNvPr id="39" name="Text 36"/>
          <p:cNvSpPr/>
          <p:nvPr/>
        </p:nvSpPr>
        <p:spPr>
          <a:xfrm>
            <a:off x="868680" y="1664208"/>
            <a:ext cx="2743200" cy="256032"/>
          </a:xfrm>
          <a:prstGeom prst="rect">
            <a:avLst/>
          </a:prstGeom>
          <a:noFill/>
          <a:ln/>
        </p:spPr>
        <p:txBody>
          <a:bodyPr wrap="square" lIns="0" tIns="0" rIns="0" bIns="0" rtlCol="0" anchor="ctr"/>
          <a:lstStyle/>
          <a:p>
            <a:pPr indent="0" marL="0">
              <a:buNone/>
            </a:pPr>
            <a:r>
              <a:rPr lang="en-US" sz="1100" dirty="0">
                <a:solidFill>
                  <a:srgbClr val="F97316"/>
                </a:solidFill>
                <a:latin typeface="Calibri" pitchFamily="34" charset="0"/>
                <a:ea typeface="Calibri" pitchFamily="34" charset="-122"/>
                <a:cs typeface="Calibri" pitchFamily="34" charset="-120"/>
              </a:rPr>
              <a:t>Form Trigger</a:t>
            </a:r>
            <a:endParaRPr lang="en-US" sz="1100" dirty="0"/>
          </a:p>
        </p:txBody>
      </p:sp>
      <p:sp>
        <p:nvSpPr>
          <p:cNvPr id="40" name="Shape 37"/>
          <p:cNvSpPr/>
          <p:nvPr/>
        </p:nvSpPr>
        <p:spPr>
          <a:xfrm>
            <a:off x="365760" y="2011680"/>
            <a:ext cx="5303520" cy="1737360"/>
          </a:xfrm>
          <a:prstGeom prst="rect">
            <a:avLst/>
          </a:prstGeom>
          <a:solidFill>
            <a:srgbClr val="161B22"/>
          </a:solidFill>
          <a:ln/>
        </p:spPr>
      </p:sp>
      <p:sp>
        <p:nvSpPr>
          <p:cNvPr id="41" name="Text 38"/>
          <p:cNvSpPr/>
          <p:nvPr/>
        </p:nvSpPr>
        <p:spPr>
          <a:xfrm>
            <a:off x="548640" y="2103120"/>
            <a:ext cx="2743200" cy="228600"/>
          </a:xfrm>
          <a:prstGeom prst="rect">
            <a:avLst/>
          </a:prstGeom>
          <a:noFill/>
          <a:ln/>
        </p:spPr>
        <p:txBody>
          <a:bodyPr wrap="square" lIns="0" tIns="0" rIns="0" bIns="0"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WHAT IT DOES</a:t>
            </a:r>
            <a:endParaRPr lang="en-US" sz="1000" dirty="0"/>
          </a:p>
        </p:txBody>
      </p:sp>
      <p:sp>
        <p:nvSpPr>
          <p:cNvPr id="42" name="Text 39"/>
          <p:cNvSpPr/>
          <p:nvPr/>
        </p:nvSpPr>
        <p:spPr>
          <a:xfrm>
            <a:off x="548640" y="2377440"/>
            <a:ext cx="493776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Collects 9 fields: Client Name, Company, Email, Service Required (dropdown), Requirements, Budget, Agency Name, Your Name, Your Email</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Service dropdown maps to pre-defined services in the database — each option has SOPs, deliverables, and timelines</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Single trigger point for the entire 26-node workflow</a:t>
            </a:r>
            <a:endParaRPr lang="en-US" sz="1100" dirty="0"/>
          </a:p>
        </p:txBody>
      </p:sp>
      <p:sp>
        <p:nvSpPr>
          <p:cNvPr id="43" name="Shape 40"/>
          <p:cNvSpPr/>
          <p:nvPr/>
        </p:nvSpPr>
        <p:spPr>
          <a:xfrm>
            <a:off x="5943600" y="2011680"/>
            <a:ext cx="2926080" cy="1737360"/>
          </a:xfrm>
          <a:prstGeom prst="rect">
            <a:avLst/>
          </a:prstGeom>
          <a:solidFill>
            <a:srgbClr val="161B22"/>
          </a:solidFill>
          <a:ln/>
        </p:spPr>
      </p:sp>
      <p:sp>
        <p:nvSpPr>
          <p:cNvPr id="44" name="Text 41"/>
          <p:cNvSpPr/>
          <p:nvPr/>
        </p:nvSpPr>
        <p:spPr>
          <a:xfrm>
            <a:off x="6126480" y="2103120"/>
            <a:ext cx="2560320" cy="2286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DATA FLOW</a:t>
            </a:r>
            <a:endParaRPr lang="en-US" sz="1000" dirty="0"/>
          </a:p>
        </p:txBody>
      </p:sp>
      <p:sp>
        <p:nvSpPr>
          <p:cNvPr id="45" name="Text 42"/>
          <p:cNvSpPr/>
          <p:nvPr/>
        </p:nvSpPr>
        <p:spPr>
          <a:xfrm>
            <a:off x="6126480" y="2377440"/>
            <a:ext cx="365760" cy="1828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IN:</a:t>
            </a:r>
            <a:endParaRPr lang="en-US" sz="1000" dirty="0"/>
          </a:p>
        </p:txBody>
      </p:sp>
      <p:sp>
        <p:nvSpPr>
          <p:cNvPr id="46" name="Text 43"/>
          <p:cNvSpPr/>
          <p:nvPr/>
        </p:nvSpPr>
        <p:spPr>
          <a:xfrm>
            <a:off x="6492240" y="2377440"/>
            <a:ext cx="2194560" cy="45720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User fills form in n8n</a:t>
            </a:r>
            <a:endParaRPr lang="en-US" sz="1000" dirty="0"/>
          </a:p>
        </p:txBody>
      </p:sp>
      <p:sp>
        <p:nvSpPr>
          <p:cNvPr id="47" name="Text 44"/>
          <p:cNvSpPr/>
          <p:nvPr/>
        </p:nvSpPr>
        <p:spPr>
          <a:xfrm>
            <a:off x="6126480" y="2926080"/>
            <a:ext cx="457200" cy="182880"/>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OUT:</a:t>
            </a:r>
            <a:endParaRPr lang="en-US" sz="1000" dirty="0"/>
          </a:p>
        </p:txBody>
      </p:sp>
      <p:sp>
        <p:nvSpPr>
          <p:cNvPr id="48" name="Text 45"/>
          <p:cNvSpPr/>
          <p:nvPr/>
        </p:nvSpPr>
        <p:spPr>
          <a:xfrm>
            <a:off x="6583680" y="2926080"/>
            <a:ext cx="2103120" cy="64008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Raw JSON with all 9 fields</a:t>
            </a:r>
            <a:endParaRPr lang="en-US" sz="1000" dirty="0"/>
          </a:p>
        </p:txBody>
      </p:sp>
      <p:sp>
        <p:nvSpPr>
          <p:cNvPr id="49" name="Shape 46"/>
          <p:cNvSpPr/>
          <p:nvPr/>
        </p:nvSpPr>
        <p:spPr>
          <a:xfrm>
            <a:off x="365760" y="3931920"/>
            <a:ext cx="8412480" cy="685800"/>
          </a:xfrm>
          <a:prstGeom prst="rect">
            <a:avLst/>
          </a:prstGeom>
          <a:solidFill>
            <a:srgbClr val="1A1F2E"/>
          </a:solidFill>
          <a:ln w="12700">
            <a:solidFill>
              <a:srgbClr val="F97316"/>
            </a:solidFill>
            <a:prstDash val="solid"/>
          </a:ln>
        </p:spPr>
      </p:sp>
      <p:sp>
        <p:nvSpPr>
          <p:cNvPr id="50" name="Text 47"/>
          <p:cNvSpPr/>
          <p:nvPr/>
        </p:nvSpPr>
        <p:spPr>
          <a:xfrm>
            <a:off x="548640" y="3977640"/>
            <a:ext cx="1371600" cy="201168"/>
          </a:xfrm>
          <a:prstGeom prst="rect">
            <a:avLst/>
          </a:prstGeom>
          <a:noFill/>
          <a:ln/>
        </p:spPr>
        <p:txBody>
          <a:bodyPr wrap="square" lIns="0" tIns="0" rIns="0" bIns="0"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KEY INSIGHT</a:t>
            </a:r>
            <a:endParaRPr lang="en-US" sz="900" dirty="0"/>
          </a:p>
        </p:txBody>
      </p:sp>
      <p:sp>
        <p:nvSpPr>
          <p:cNvPr id="51" name="Text 48"/>
          <p:cNvSpPr/>
          <p:nvPr/>
        </p:nvSpPr>
        <p:spPr>
          <a:xfrm>
            <a:off x="548640" y="4187952"/>
            <a:ext cx="8046720" cy="38404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 dropdown IS the connection to your agency's knowledge base. Select a service → entire SOP structure is auto-pulled.</a:t>
            </a:r>
            <a:endParaRPr lang="en-US" sz="1100" dirty="0"/>
          </a:p>
        </p:txBody>
      </p:sp>
      <p:sp>
        <p:nvSpPr>
          <p:cNvPr id="52" name="Text 49"/>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AI Architect Simulation  |  Flow A  |  Node 1 of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777240"/>
            <a:ext cx="594360" cy="292608"/>
          </a:xfrm>
          <a:prstGeom prst="rect">
            <a:avLst/>
          </a:prstGeom>
          <a:solidFill>
            <a:srgbClr val="1C2333"/>
          </a:solidFill>
          <a:ln w="6350">
            <a:solidFill>
              <a:srgbClr val="6E7681"/>
            </a:solidFill>
            <a:prstDash val="solid"/>
          </a:ln>
        </p:spPr>
      </p:sp>
      <p:sp>
        <p:nvSpPr>
          <p:cNvPr id="3" name="Text 1"/>
          <p:cNvSpPr/>
          <p:nvPr/>
        </p:nvSpPr>
        <p:spPr>
          <a:xfrm>
            <a:off x="27432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a:t>
            </a:r>
            <a:endParaRPr lang="en-US" sz="900" dirty="0"/>
          </a:p>
        </p:txBody>
      </p:sp>
      <p:sp>
        <p:nvSpPr>
          <p:cNvPr id="4" name="Text 2"/>
          <p:cNvSpPr/>
          <p:nvPr/>
        </p:nvSpPr>
        <p:spPr>
          <a:xfrm>
            <a:off x="86868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5" name="Shape 3"/>
          <p:cNvSpPr/>
          <p:nvPr/>
        </p:nvSpPr>
        <p:spPr>
          <a:xfrm>
            <a:off x="987552" y="777240"/>
            <a:ext cx="594360" cy="292608"/>
          </a:xfrm>
          <a:prstGeom prst="rect">
            <a:avLst/>
          </a:prstGeom>
          <a:solidFill>
            <a:srgbClr val="F97316"/>
          </a:solidFill>
          <a:ln w="25400">
            <a:solidFill>
              <a:srgbClr val="F97316"/>
            </a:solidFill>
            <a:prstDash val="solid"/>
          </a:ln>
        </p:spPr>
      </p:sp>
      <p:sp>
        <p:nvSpPr>
          <p:cNvPr id="6" name="Text 4"/>
          <p:cNvSpPr/>
          <p:nvPr/>
        </p:nvSpPr>
        <p:spPr>
          <a:xfrm>
            <a:off x="987552" y="777240"/>
            <a:ext cx="594360" cy="292608"/>
          </a:xfrm>
          <a:prstGeom prst="rect">
            <a:avLst/>
          </a:prstGeom>
          <a:noFill/>
          <a:ln/>
        </p:spPr>
        <p:txBody>
          <a:bodyPr wrap="square" lIns="0" tIns="0" rIns="0" bIns="0" rtlCol="0" anchor="ctr"/>
          <a:lstStyle/>
          <a:p>
            <a:pPr algn="ctr" indent="0" marL="0">
              <a:buNone/>
            </a:pPr>
            <a:r>
              <a:rPr lang="en-US" sz="900" b="1" dirty="0">
                <a:solidFill>
                  <a:srgbClr val="0D1117"/>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158191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8" name="Shape 6"/>
          <p:cNvSpPr/>
          <p:nvPr/>
        </p:nvSpPr>
        <p:spPr>
          <a:xfrm>
            <a:off x="1700784" y="777240"/>
            <a:ext cx="594360" cy="292608"/>
          </a:xfrm>
          <a:prstGeom prst="rect">
            <a:avLst/>
          </a:prstGeom>
          <a:solidFill>
            <a:srgbClr val="1C2333"/>
          </a:solidFill>
          <a:ln w="6350">
            <a:solidFill>
              <a:srgbClr val="6E7681"/>
            </a:solidFill>
            <a:prstDash val="solid"/>
          </a:ln>
        </p:spPr>
      </p:sp>
      <p:sp>
        <p:nvSpPr>
          <p:cNvPr id="9" name="Text 7"/>
          <p:cNvSpPr/>
          <p:nvPr/>
        </p:nvSpPr>
        <p:spPr>
          <a:xfrm>
            <a:off x="170078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3</a:t>
            </a:r>
            <a:endParaRPr lang="en-US" sz="900" dirty="0"/>
          </a:p>
        </p:txBody>
      </p:sp>
      <p:sp>
        <p:nvSpPr>
          <p:cNvPr id="10" name="Text 8"/>
          <p:cNvSpPr/>
          <p:nvPr/>
        </p:nvSpPr>
        <p:spPr>
          <a:xfrm>
            <a:off x="229514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1" name="Shape 9"/>
          <p:cNvSpPr/>
          <p:nvPr/>
        </p:nvSpPr>
        <p:spPr>
          <a:xfrm>
            <a:off x="2414016" y="777240"/>
            <a:ext cx="594360" cy="292608"/>
          </a:xfrm>
          <a:prstGeom prst="rect">
            <a:avLst/>
          </a:prstGeom>
          <a:solidFill>
            <a:srgbClr val="1C2333"/>
          </a:solidFill>
          <a:ln w="6350">
            <a:solidFill>
              <a:srgbClr val="6E7681"/>
            </a:solidFill>
            <a:prstDash val="solid"/>
          </a:ln>
        </p:spPr>
      </p:sp>
      <p:sp>
        <p:nvSpPr>
          <p:cNvPr id="12" name="Text 10"/>
          <p:cNvSpPr/>
          <p:nvPr/>
        </p:nvSpPr>
        <p:spPr>
          <a:xfrm>
            <a:off x="241401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4</a:t>
            </a:r>
            <a:endParaRPr lang="en-US" sz="900" dirty="0"/>
          </a:p>
        </p:txBody>
      </p:sp>
      <p:sp>
        <p:nvSpPr>
          <p:cNvPr id="13" name="Text 11"/>
          <p:cNvSpPr/>
          <p:nvPr/>
        </p:nvSpPr>
        <p:spPr>
          <a:xfrm>
            <a:off x="300837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4" name="Shape 12"/>
          <p:cNvSpPr/>
          <p:nvPr/>
        </p:nvSpPr>
        <p:spPr>
          <a:xfrm>
            <a:off x="3127248" y="777240"/>
            <a:ext cx="594360" cy="292608"/>
          </a:xfrm>
          <a:prstGeom prst="rect">
            <a:avLst/>
          </a:prstGeom>
          <a:solidFill>
            <a:srgbClr val="1C2333"/>
          </a:solidFill>
          <a:ln w="6350">
            <a:solidFill>
              <a:srgbClr val="6E7681"/>
            </a:solidFill>
            <a:prstDash val="solid"/>
          </a:ln>
        </p:spPr>
      </p:sp>
      <p:sp>
        <p:nvSpPr>
          <p:cNvPr id="15" name="Text 13"/>
          <p:cNvSpPr/>
          <p:nvPr/>
        </p:nvSpPr>
        <p:spPr>
          <a:xfrm>
            <a:off x="312724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5</a:t>
            </a:r>
            <a:endParaRPr lang="en-US" sz="900" dirty="0"/>
          </a:p>
        </p:txBody>
      </p:sp>
      <p:sp>
        <p:nvSpPr>
          <p:cNvPr id="16" name="Text 14"/>
          <p:cNvSpPr/>
          <p:nvPr/>
        </p:nvSpPr>
        <p:spPr>
          <a:xfrm>
            <a:off x="372160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7" name="Shape 15"/>
          <p:cNvSpPr/>
          <p:nvPr/>
        </p:nvSpPr>
        <p:spPr>
          <a:xfrm>
            <a:off x="3840480" y="777240"/>
            <a:ext cx="594360" cy="292608"/>
          </a:xfrm>
          <a:prstGeom prst="rect">
            <a:avLst/>
          </a:prstGeom>
          <a:solidFill>
            <a:srgbClr val="1C2333"/>
          </a:solidFill>
          <a:ln w="6350">
            <a:solidFill>
              <a:srgbClr val="6E7681"/>
            </a:solidFill>
            <a:prstDash val="solid"/>
          </a:ln>
        </p:spPr>
      </p:sp>
      <p:sp>
        <p:nvSpPr>
          <p:cNvPr id="18" name="Text 16"/>
          <p:cNvSpPr/>
          <p:nvPr/>
        </p:nvSpPr>
        <p:spPr>
          <a:xfrm>
            <a:off x="384048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6</a:t>
            </a:r>
            <a:endParaRPr lang="en-US" sz="900" dirty="0"/>
          </a:p>
        </p:txBody>
      </p:sp>
      <p:sp>
        <p:nvSpPr>
          <p:cNvPr id="19" name="Text 17"/>
          <p:cNvSpPr/>
          <p:nvPr/>
        </p:nvSpPr>
        <p:spPr>
          <a:xfrm>
            <a:off x="443484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4553712" y="777240"/>
            <a:ext cx="594360" cy="292608"/>
          </a:xfrm>
          <a:prstGeom prst="rect">
            <a:avLst/>
          </a:prstGeom>
          <a:solidFill>
            <a:srgbClr val="1C2333"/>
          </a:solidFill>
          <a:ln w="6350">
            <a:solidFill>
              <a:srgbClr val="6E7681"/>
            </a:solidFill>
            <a:prstDash val="solid"/>
          </a:ln>
        </p:spPr>
      </p:sp>
      <p:sp>
        <p:nvSpPr>
          <p:cNvPr id="21" name="Text 19"/>
          <p:cNvSpPr/>
          <p:nvPr/>
        </p:nvSpPr>
        <p:spPr>
          <a:xfrm>
            <a:off x="455371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7</a:t>
            </a:r>
            <a:endParaRPr lang="en-US" sz="900" dirty="0"/>
          </a:p>
        </p:txBody>
      </p:sp>
      <p:sp>
        <p:nvSpPr>
          <p:cNvPr id="22" name="Text 20"/>
          <p:cNvSpPr/>
          <p:nvPr/>
        </p:nvSpPr>
        <p:spPr>
          <a:xfrm>
            <a:off x="514807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3" name="Shape 21"/>
          <p:cNvSpPr/>
          <p:nvPr/>
        </p:nvSpPr>
        <p:spPr>
          <a:xfrm>
            <a:off x="5266944" y="777240"/>
            <a:ext cx="594360" cy="292608"/>
          </a:xfrm>
          <a:prstGeom prst="rect">
            <a:avLst/>
          </a:prstGeom>
          <a:solidFill>
            <a:srgbClr val="1C2333"/>
          </a:solidFill>
          <a:ln w="6350">
            <a:solidFill>
              <a:srgbClr val="6E7681"/>
            </a:solidFill>
            <a:prstDash val="solid"/>
          </a:ln>
        </p:spPr>
      </p:sp>
      <p:sp>
        <p:nvSpPr>
          <p:cNvPr id="24" name="Text 22"/>
          <p:cNvSpPr/>
          <p:nvPr/>
        </p:nvSpPr>
        <p:spPr>
          <a:xfrm>
            <a:off x="526694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8</a:t>
            </a:r>
            <a:endParaRPr lang="en-US" sz="900" dirty="0"/>
          </a:p>
        </p:txBody>
      </p:sp>
      <p:sp>
        <p:nvSpPr>
          <p:cNvPr id="25" name="Text 23"/>
          <p:cNvSpPr/>
          <p:nvPr/>
        </p:nvSpPr>
        <p:spPr>
          <a:xfrm>
            <a:off x="586130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6" name="Shape 24"/>
          <p:cNvSpPr/>
          <p:nvPr/>
        </p:nvSpPr>
        <p:spPr>
          <a:xfrm>
            <a:off x="5980176" y="777240"/>
            <a:ext cx="594360" cy="292608"/>
          </a:xfrm>
          <a:prstGeom prst="rect">
            <a:avLst/>
          </a:prstGeom>
          <a:solidFill>
            <a:srgbClr val="1C2333"/>
          </a:solidFill>
          <a:ln w="6350">
            <a:solidFill>
              <a:srgbClr val="6E7681"/>
            </a:solidFill>
            <a:prstDash val="solid"/>
          </a:ln>
        </p:spPr>
      </p:sp>
      <p:sp>
        <p:nvSpPr>
          <p:cNvPr id="27" name="Text 25"/>
          <p:cNvSpPr/>
          <p:nvPr/>
        </p:nvSpPr>
        <p:spPr>
          <a:xfrm>
            <a:off x="598017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9</a:t>
            </a:r>
            <a:endParaRPr lang="en-US" sz="900" dirty="0"/>
          </a:p>
        </p:txBody>
      </p:sp>
      <p:sp>
        <p:nvSpPr>
          <p:cNvPr id="28" name="Text 26"/>
          <p:cNvSpPr/>
          <p:nvPr/>
        </p:nvSpPr>
        <p:spPr>
          <a:xfrm>
            <a:off x="657453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9" name="Shape 27"/>
          <p:cNvSpPr/>
          <p:nvPr/>
        </p:nvSpPr>
        <p:spPr>
          <a:xfrm>
            <a:off x="6693408" y="777240"/>
            <a:ext cx="594360" cy="292608"/>
          </a:xfrm>
          <a:prstGeom prst="rect">
            <a:avLst/>
          </a:prstGeom>
          <a:solidFill>
            <a:srgbClr val="1C2333"/>
          </a:solidFill>
          <a:ln w="6350">
            <a:solidFill>
              <a:srgbClr val="6E7681"/>
            </a:solidFill>
            <a:prstDash val="solid"/>
          </a:ln>
        </p:spPr>
      </p:sp>
      <p:sp>
        <p:nvSpPr>
          <p:cNvPr id="30" name="Text 28"/>
          <p:cNvSpPr/>
          <p:nvPr/>
        </p:nvSpPr>
        <p:spPr>
          <a:xfrm>
            <a:off x="669340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10</a:t>
            </a:r>
            <a:endParaRPr lang="en-US" sz="900" dirty="0"/>
          </a:p>
        </p:txBody>
      </p:sp>
      <p:sp>
        <p:nvSpPr>
          <p:cNvPr id="31" name="Text 29"/>
          <p:cNvSpPr/>
          <p:nvPr/>
        </p:nvSpPr>
        <p:spPr>
          <a:xfrm>
            <a:off x="728776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2" name="Shape 30"/>
          <p:cNvSpPr/>
          <p:nvPr/>
        </p:nvSpPr>
        <p:spPr>
          <a:xfrm>
            <a:off x="7406640" y="777240"/>
            <a:ext cx="594360" cy="292608"/>
          </a:xfrm>
          <a:prstGeom prst="rect">
            <a:avLst/>
          </a:prstGeom>
          <a:solidFill>
            <a:srgbClr val="1C2333"/>
          </a:solidFill>
          <a:ln w="6350">
            <a:solidFill>
              <a:srgbClr val="6E7681"/>
            </a:solidFill>
            <a:prstDash val="solid"/>
          </a:ln>
        </p:spPr>
      </p:sp>
      <p:sp>
        <p:nvSpPr>
          <p:cNvPr id="33" name="Text 31"/>
          <p:cNvSpPr/>
          <p:nvPr/>
        </p:nvSpPr>
        <p:spPr>
          <a:xfrm>
            <a:off x="740664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11</a:t>
            </a:r>
            <a:endParaRPr lang="en-US" sz="900" dirty="0"/>
          </a:p>
        </p:txBody>
      </p:sp>
      <p:sp>
        <p:nvSpPr>
          <p:cNvPr id="34" name="Text 32"/>
          <p:cNvSpPr/>
          <p:nvPr/>
        </p:nvSpPr>
        <p:spPr>
          <a:xfrm>
            <a:off x="800100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5" name="Shape 33"/>
          <p:cNvSpPr/>
          <p:nvPr/>
        </p:nvSpPr>
        <p:spPr>
          <a:xfrm>
            <a:off x="8119872" y="777240"/>
            <a:ext cx="594360" cy="292608"/>
          </a:xfrm>
          <a:prstGeom prst="rect">
            <a:avLst/>
          </a:prstGeom>
          <a:solidFill>
            <a:srgbClr val="1C2333"/>
          </a:solidFill>
          <a:ln w="6350">
            <a:solidFill>
              <a:srgbClr val="6E7681"/>
            </a:solidFill>
            <a:prstDash val="solid"/>
          </a:ln>
        </p:spPr>
      </p:sp>
      <p:sp>
        <p:nvSpPr>
          <p:cNvPr id="36" name="Text 34"/>
          <p:cNvSpPr/>
          <p:nvPr/>
        </p:nvSpPr>
        <p:spPr>
          <a:xfrm>
            <a:off x="811987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12</a:t>
            </a:r>
            <a:endParaRPr lang="en-US" sz="900" dirty="0"/>
          </a:p>
        </p:txBody>
      </p:sp>
      <p:pic>
        <p:nvPicPr>
          <p:cNvPr id="37" name="Image 0" descr="preencoded.png">    </p:cNvPr>
          <p:cNvPicPr>
            <a:picLocks noChangeAspect="1"/>
          </p:cNvPicPr>
          <p:nvPr/>
        </p:nvPicPr>
        <p:blipFill>
          <a:blip r:embed="rId1"/>
          <a:stretch>
            <a:fillRect/>
          </a:stretch>
        </p:blipFill>
        <p:spPr>
          <a:xfrm>
            <a:off x="365760" y="1234440"/>
            <a:ext cx="411480" cy="411480"/>
          </a:xfrm>
          <a:prstGeom prst="rect">
            <a:avLst/>
          </a:prstGeom>
        </p:spPr>
      </p:pic>
      <p:sp>
        <p:nvSpPr>
          <p:cNvPr id="38" name="Text 35"/>
          <p:cNvSpPr/>
          <p:nvPr/>
        </p:nvSpPr>
        <p:spPr>
          <a:xfrm>
            <a:off x="868680" y="1234440"/>
            <a:ext cx="68580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Node 2: Parse Client Details</a:t>
            </a:r>
            <a:endParaRPr lang="en-US" sz="2200" dirty="0"/>
          </a:p>
        </p:txBody>
      </p:sp>
      <p:sp>
        <p:nvSpPr>
          <p:cNvPr id="39" name="Text 36"/>
          <p:cNvSpPr/>
          <p:nvPr/>
        </p:nvSpPr>
        <p:spPr>
          <a:xfrm>
            <a:off x="868680" y="1664208"/>
            <a:ext cx="2743200" cy="256032"/>
          </a:xfrm>
          <a:prstGeom prst="rect">
            <a:avLst/>
          </a:prstGeom>
          <a:noFill/>
          <a:ln/>
        </p:spPr>
        <p:txBody>
          <a:bodyPr wrap="square" lIns="0" tIns="0" rIns="0" bIns="0" rtlCol="0" anchor="ctr"/>
          <a:lstStyle/>
          <a:p>
            <a:pPr indent="0" marL="0">
              <a:buNone/>
            </a:pPr>
            <a:r>
              <a:rPr lang="en-US" sz="1100" dirty="0">
                <a:solidFill>
                  <a:srgbClr val="F97316"/>
                </a:solidFill>
                <a:latin typeface="Calibri" pitchFamily="34" charset="0"/>
                <a:ea typeface="Calibri" pitchFamily="34" charset="-122"/>
                <a:cs typeface="Calibri" pitchFamily="34" charset="-120"/>
              </a:rPr>
              <a:t>Code Node</a:t>
            </a:r>
            <a:endParaRPr lang="en-US" sz="1100" dirty="0"/>
          </a:p>
        </p:txBody>
      </p:sp>
      <p:sp>
        <p:nvSpPr>
          <p:cNvPr id="40" name="Shape 37"/>
          <p:cNvSpPr/>
          <p:nvPr/>
        </p:nvSpPr>
        <p:spPr>
          <a:xfrm>
            <a:off x="365760" y="2011680"/>
            <a:ext cx="5303520" cy="1737360"/>
          </a:xfrm>
          <a:prstGeom prst="rect">
            <a:avLst/>
          </a:prstGeom>
          <a:solidFill>
            <a:srgbClr val="161B22"/>
          </a:solidFill>
          <a:ln/>
        </p:spPr>
      </p:sp>
      <p:sp>
        <p:nvSpPr>
          <p:cNvPr id="41" name="Text 38"/>
          <p:cNvSpPr/>
          <p:nvPr/>
        </p:nvSpPr>
        <p:spPr>
          <a:xfrm>
            <a:off x="548640" y="2103120"/>
            <a:ext cx="2743200" cy="228600"/>
          </a:xfrm>
          <a:prstGeom prst="rect">
            <a:avLst/>
          </a:prstGeom>
          <a:noFill/>
          <a:ln/>
        </p:spPr>
        <p:txBody>
          <a:bodyPr wrap="square" lIns="0" tIns="0" rIns="0" bIns="0"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WHAT IT DOES</a:t>
            </a:r>
            <a:endParaRPr lang="en-US" sz="1000" dirty="0"/>
          </a:p>
        </p:txBody>
      </p:sp>
      <p:sp>
        <p:nvSpPr>
          <p:cNvPr id="42" name="Text 39"/>
          <p:cNvSpPr/>
          <p:nvPr/>
        </p:nvSpPr>
        <p:spPr>
          <a:xfrm>
            <a:off x="548640" y="2377440"/>
            <a:ext cx="493776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Cleans and trims all form inputs — removes whitespace, special characters, empty values</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Calculates project start date using JavaScript Date()</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Generates ISO timestamp for tracking and audit trail</a:t>
            </a:r>
            <a:endParaRPr lang="en-US" sz="1100" dirty="0"/>
          </a:p>
        </p:txBody>
      </p:sp>
      <p:sp>
        <p:nvSpPr>
          <p:cNvPr id="43" name="Shape 40"/>
          <p:cNvSpPr/>
          <p:nvPr/>
        </p:nvSpPr>
        <p:spPr>
          <a:xfrm>
            <a:off x="5943600" y="2011680"/>
            <a:ext cx="2926080" cy="1737360"/>
          </a:xfrm>
          <a:prstGeom prst="rect">
            <a:avLst/>
          </a:prstGeom>
          <a:solidFill>
            <a:srgbClr val="161B22"/>
          </a:solidFill>
          <a:ln/>
        </p:spPr>
      </p:sp>
      <p:sp>
        <p:nvSpPr>
          <p:cNvPr id="44" name="Text 41"/>
          <p:cNvSpPr/>
          <p:nvPr/>
        </p:nvSpPr>
        <p:spPr>
          <a:xfrm>
            <a:off x="6126480" y="2103120"/>
            <a:ext cx="2560320" cy="2286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DATA FLOW</a:t>
            </a:r>
            <a:endParaRPr lang="en-US" sz="1000" dirty="0"/>
          </a:p>
        </p:txBody>
      </p:sp>
      <p:sp>
        <p:nvSpPr>
          <p:cNvPr id="45" name="Text 42"/>
          <p:cNvSpPr/>
          <p:nvPr/>
        </p:nvSpPr>
        <p:spPr>
          <a:xfrm>
            <a:off x="6126480" y="2377440"/>
            <a:ext cx="365760" cy="1828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IN:</a:t>
            </a:r>
            <a:endParaRPr lang="en-US" sz="1000" dirty="0"/>
          </a:p>
        </p:txBody>
      </p:sp>
      <p:sp>
        <p:nvSpPr>
          <p:cNvPr id="46" name="Text 43"/>
          <p:cNvSpPr/>
          <p:nvPr/>
        </p:nvSpPr>
        <p:spPr>
          <a:xfrm>
            <a:off x="6492240" y="2377440"/>
            <a:ext cx="2194560" cy="45720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Raw form JSON</a:t>
            </a:r>
            <a:endParaRPr lang="en-US" sz="1000" dirty="0"/>
          </a:p>
        </p:txBody>
      </p:sp>
      <p:sp>
        <p:nvSpPr>
          <p:cNvPr id="47" name="Text 44"/>
          <p:cNvSpPr/>
          <p:nvPr/>
        </p:nvSpPr>
        <p:spPr>
          <a:xfrm>
            <a:off x="6126480" y="2926080"/>
            <a:ext cx="457200" cy="182880"/>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OUT:</a:t>
            </a:r>
            <a:endParaRPr lang="en-US" sz="1000" dirty="0"/>
          </a:p>
        </p:txBody>
      </p:sp>
      <p:sp>
        <p:nvSpPr>
          <p:cNvPr id="48" name="Text 45"/>
          <p:cNvSpPr/>
          <p:nvPr/>
        </p:nvSpPr>
        <p:spPr>
          <a:xfrm>
            <a:off x="6583680" y="2926080"/>
            <a:ext cx="2103120" cy="64008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Clean variables: clientName, clientCompany, clientEmail, serviceRequired, budget, startDate, timestamp</a:t>
            </a:r>
            <a:endParaRPr lang="en-US" sz="1000" dirty="0"/>
          </a:p>
        </p:txBody>
      </p:sp>
      <p:sp>
        <p:nvSpPr>
          <p:cNvPr id="49" name="Shape 46"/>
          <p:cNvSpPr/>
          <p:nvPr/>
        </p:nvSpPr>
        <p:spPr>
          <a:xfrm>
            <a:off x="365760" y="3931920"/>
            <a:ext cx="8412480" cy="685800"/>
          </a:xfrm>
          <a:prstGeom prst="rect">
            <a:avLst/>
          </a:prstGeom>
          <a:solidFill>
            <a:srgbClr val="1A1F2E"/>
          </a:solidFill>
          <a:ln w="12700">
            <a:solidFill>
              <a:srgbClr val="F97316"/>
            </a:solidFill>
            <a:prstDash val="solid"/>
          </a:ln>
        </p:spPr>
      </p:sp>
      <p:sp>
        <p:nvSpPr>
          <p:cNvPr id="50" name="Text 47"/>
          <p:cNvSpPr/>
          <p:nvPr/>
        </p:nvSpPr>
        <p:spPr>
          <a:xfrm>
            <a:off x="548640" y="3977640"/>
            <a:ext cx="1371600" cy="201168"/>
          </a:xfrm>
          <a:prstGeom prst="rect">
            <a:avLst/>
          </a:prstGeom>
          <a:noFill/>
          <a:ln/>
        </p:spPr>
        <p:txBody>
          <a:bodyPr wrap="square" lIns="0" tIns="0" rIns="0" bIns="0"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KEY INSIGHT</a:t>
            </a:r>
            <a:endParaRPr lang="en-US" sz="900" dirty="0"/>
          </a:p>
        </p:txBody>
      </p:sp>
      <p:sp>
        <p:nvSpPr>
          <p:cNvPr id="51" name="Text 48"/>
          <p:cNvSpPr/>
          <p:nvPr/>
        </p:nvSpPr>
        <p:spPr>
          <a:xfrm>
            <a:off x="548640" y="4187952"/>
            <a:ext cx="8046720" cy="38404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Safety layer — raw form data can have spaces, weird characters, empty fields. This sanitizes everything before it touches the database or AI.</a:t>
            </a:r>
            <a:endParaRPr lang="en-US" sz="1100" dirty="0"/>
          </a:p>
        </p:txBody>
      </p:sp>
      <p:sp>
        <p:nvSpPr>
          <p:cNvPr id="52" name="Text 49"/>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AI Architect Simulation  |  Flow A  |  Node 2 of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777240"/>
            <a:ext cx="594360" cy="292608"/>
          </a:xfrm>
          <a:prstGeom prst="rect">
            <a:avLst/>
          </a:prstGeom>
          <a:solidFill>
            <a:srgbClr val="1C2333"/>
          </a:solidFill>
          <a:ln w="6350">
            <a:solidFill>
              <a:srgbClr val="6E7681"/>
            </a:solidFill>
            <a:prstDash val="solid"/>
          </a:ln>
        </p:spPr>
      </p:sp>
      <p:sp>
        <p:nvSpPr>
          <p:cNvPr id="3" name="Text 1"/>
          <p:cNvSpPr/>
          <p:nvPr/>
        </p:nvSpPr>
        <p:spPr>
          <a:xfrm>
            <a:off x="27432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a:t>
            </a:r>
            <a:endParaRPr lang="en-US" sz="900" dirty="0"/>
          </a:p>
        </p:txBody>
      </p:sp>
      <p:sp>
        <p:nvSpPr>
          <p:cNvPr id="4" name="Text 2"/>
          <p:cNvSpPr/>
          <p:nvPr/>
        </p:nvSpPr>
        <p:spPr>
          <a:xfrm>
            <a:off x="86868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5" name="Shape 3"/>
          <p:cNvSpPr/>
          <p:nvPr/>
        </p:nvSpPr>
        <p:spPr>
          <a:xfrm>
            <a:off x="987552" y="777240"/>
            <a:ext cx="594360" cy="292608"/>
          </a:xfrm>
          <a:prstGeom prst="rect">
            <a:avLst/>
          </a:prstGeom>
          <a:solidFill>
            <a:srgbClr val="1C2333"/>
          </a:solidFill>
          <a:ln w="6350">
            <a:solidFill>
              <a:srgbClr val="6E7681"/>
            </a:solidFill>
            <a:prstDash val="solid"/>
          </a:ln>
        </p:spPr>
      </p:sp>
      <p:sp>
        <p:nvSpPr>
          <p:cNvPr id="6" name="Text 4"/>
          <p:cNvSpPr/>
          <p:nvPr/>
        </p:nvSpPr>
        <p:spPr>
          <a:xfrm>
            <a:off x="98755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158191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8" name="Shape 6"/>
          <p:cNvSpPr/>
          <p:nvPr/>
        </p:nvSpPr>
        <p:spPr>
          <a:xfrm>
            <a:off x="1700784" y="777240"/>
            <a:ext cx="594360" cy="292608"/>
          </a:xfrm>
          <a:prstGeom prst="rect">
            <a:avLst/>
          </a:prstGeom>
          <a:solidFill>
            <a:srgbClr val="F97316"/>
          </a:solidFill>
          <a:ln w="25400">
            <a:solidFill>
              <a:srgbClr val="F97316"/>
            </a:solidFill>
            <a:prstDash val="solid"/>
          </a:ln>
        </p:spPr>
      </p:sp>
      <p:sp>
        <p:nvSpPr>
          <p:cNvPr id="9" name="Text 7"/>
          <p:cNvSpPr/>
          <p:nvPr/>
        </p:nvSpPr>
        <p:spPr>
          <a:xfrm>
            <a:off x="1700784" y="777240"/>
            <a:ext cx="594360" cy="292608"/>
          </a:xfrm>
          <a:prstGeom prst="rect">
            <a:avLst/>
          </a:prstGeom>
          <a:noFill/>
          <a:ln/>
        </p:spPr>
        <p:txBody>
          <a:bodyPr wrap="square" lIns="0" tIns="0" rIns="0" bIns="0" rtlCol="0" anchor="ctr"/>
          <a:lstStyle/>
          <a:p>
            <a:pPr algn="ctr" indent="0" marL="0">
              <a:buNone/>
            </a:pPr>
            <a:r>
              <a:rPr lang="en-US" sz="900" b="1" dirty="0">
                <a:solidFill>
                  <a:srgbClr val="0D1117"/>
                </a:solidFill>
                <a:latin typeface="Calibri" pitchFamily="34" charset="0"/>
                <a:ea typeface="Calibri" pitchFamily="34" charset="-122"/>
                <a:cs typeface="Calibri" pitchFamily="34" charset="-120"/>
              </a:rPr>
              <a:t>3</a:t>
            </a:r>
            <a:endParaRPr lang="en-US" sz="900" dirty="0"/>
          </a:p>
        </p:txBody>
      </p:sp>
      <p:sp>
        <p:nvSpPr>
          <p:cNvPr id="10" name="Text 8"/>
          <p:cNvSpPr/>
          <p:nvPr/>
        </p:nvSpPr>
        <p:spPr>
          <a:xfrm>
            <a:off x="229514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1" name="Shape 9"/>
          <p:cNvSpPr/>
          <p:nvPr/>
        </p:nvSpPr>
        <p:spPr>
          <a:xfrm>
            <a:off x="2414016" y="777240"/>
            <a:ext cx="594360" cy="292608"/>
          </a:xfrm>
          <a:prstGeom prst="rect">
            <a:avLst/>
          </a:prstGeom>
          <a:solidFill>
            <a:srgbClr val="1C2333"/>
          </a:solidFill>
          <a:ln w="6350">
            <a:solidFill>
              <a:srgbClr val="6E7681"/>
            </a:solidFill>
            <a:prstDash val="solid"/>
          </a:ln>
        </p:spPr>
      </p:sp>
      <p:sp>
        <p:nvSpPr>
          <p:cNvPr id="12" name="Text 10"/>
          <p:cNvSpPr/>
          <p:nvPr/>
        </p:nvSpPr>
        <p:spPr>
          <a:xfrm>
            <a:off x="241401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4</a:t>
            </a:r>
            <a:endParaRPr lang="en-US" sz="900" dirty="0"/>
          </a:p>
        </p:txBody>
      </p:sp>
      <p:sp>
        <p:nvSpPr>
          <p:cNvPr id="13" name="Text 11"/>
          <p:cNvSpPr/>
          <p:nvPr/>
        </p:nvSpPr>
        <p:spPr>
          <a:xfrm>
            <a:off x="300837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4" name="Shape 12"/>
          <p:cNvSpPr/>
          <p:nvPr/>
        </p:nvSpPr>
        <p:spPr>
          <a:xfrm>
            <a:off x="3127248" y="777240"/>
            <a:ext cx="594360" cy="292608"/>
          </a:xfrm>
          <a:prstGeom prst="rect">
            <a:avLst/>
          </a:prstGeom>
          <a:solidFill>
            <a:srgbClr val="1C2333"/>
          </a:solidFill>
          <a:ln w="6350">
            <a:solidFill>
              <a:srgbClr val="6E7681"/>
            </a:solidFill>
            <a:prstDash val="solid"/>
          </a:ln>
        </p:spPr>
      </p:sp>
      <p:sp>
        <p:nvSpPr>
          <p:cNvPr id="15" name="Text 13"/>
          <p:cNvSpPr/>
          <p:nvPr/>
        </p:nvSpPr>
        <p:spPr>
          <a:xfrm>
            <a:off x="312724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5</a:t>
            </a:r>
            <a:endParaRPr lang="en-US" sz="900" dirty="0"/>
          </a:p>
        </p:txBody>
      </p:sp>
      <p:sp>
        <p:nvSpPr>
          <p:cNvPr id="16" name="Text 14"/>
          <p:cNvSpPr/>
          <p:nvPr/>
        </p:nvSpPr>
        <p:spPr>
          <a:xfrm>
            <a:off x="372160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7" name="Shape 15"/>
          <p:cNvSpPr/>
          <p:nvPr/>
        </p:nvSpPr>
        <p:spPr>
          <a:xfrm>
            <a:off x="3840480" y="777240"/>
            <a:ext cx="594360" cy="292608"/>
          </a:xfrm>
          <a:prstGeom prst="rect">
            <a:avLst/>
          </a:prstGeom>
          <a:solidFill>
            <a:srgbClr val="1C2333"/>
          </a:solidFill>
          <a:ln w="6350">
            <a:solidFill>
              <a:srgbClr val="6E7681"/>
            </a:solidFill>
            <a:prstDash val="solid"/>
          </a:ln>
        </p:spPr>
      </p:sp>
      <p:sp>
        <p:nvSpPr>
          <p:cNvPr id="18" name="Text 16"/>
          <p:cNvSpPr/>
          <p:nvPr/>
        </p:nvSpPr>
        <p:spPr>
          <a:xfrm>
            <a:off x="384048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6</a:t>
            </a:r>
            <a:endParaRPr lang="en-US" sz="900" dirty="0"/>
          </a:p>
        </p:txBody>
      </p:sp>
      <p:sp>
        <p:nvSpPr>
          <p:cNvPr id="19" name="Text 17"/>
          <p:cNvSpPr/>
          <p:nvPr/>
        </p:nvSpPr>
        <p:spPr>
          <a:xfrm>
            <a:off x="443484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4553712" y="777240"/>
            <a:ext cx="594360" cy="292608"/>
          </a:xfrm>
          <a:prstGeom prst="rect">
            <a:avLst/>
          </a:prstGeom>
          <a:solidFill>
            <a:srgbClr val="1C2333"/>
          </a:solidFill>
          <a:ln w="6350">
            <a:solidFill>
              <a:srgbClr val="6E7681"/>
            </a:solidFill>
            <a:prstDash val="solid"/>
          </a:ln>
        </p:spPr>
      </p:sp>
      <p:sp>
        <p:nvSpPr>
          <p:cNvPr id="21" name="Text 19"/>
          <p:cNvSpPr/>
          <p:nvPr/>
        </p:nvSpPr>
        <p:spPr>
          <a:xfrm>
            <a:off x="455371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7</a:t>
            </a:r>
            <a:endParaRPr lang="en-US" sz="900" dirty="0"/>
          </a:p>
        </p:txBody>
      </p:sp>
      <p:sp>
        <p:nvSpPr>
          <p:cNvPr id="22" name="Text 20"/>
          <p:cNvSpPr/>
          <p:nvPr/>
        </p:nvSpPr>
        <p:spPr>
          <a:xfrm>
            <a:off x="514807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3" name="Shape 21"/>
          <p:cNvSpPr/>
          <p:nvPr/>
        </p:nvSpPr>
        <p:spPr>
          <a:xfrm>
            <a:off x="5266944" y="777240"/>
            <a:ext cx="594360" cy="292608"/>
          </a:xfrm>
          <a:prstGeom prst="rect">
            <a:avLst/>
          </a:prstGeom>
          <a:solidFill>
            <a:srgbClr val="1C2333"/>
          </a:solidFill>
          <a:ln w="6350">
            <a:solidFill>
              <a:srgbClr val="6E7681"/>
            </a:solidFill>
            <a:prstDash val="solid"/>
          </a:ln>
        </p:spPr>
      </p:sp>
      <p:sp>
        <p:nvSpPr>
          <p:cNvPr id="24" name="Text 22"/>
          <p:cNvSpPr/>
          <p:nvPr/>
        </p:nvSpPr>
        <p:spPr>
          <a:xfrm>
            <a:off x="526694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8</a:t>
            </a:r>
            <a:endParaRPr lang="en-US" sz="900" dirty="0"/>
          </a:p>
        </p:txBody>
      </p:sp>
      <p:sp>
        <p:nvSpPr>
          <p:cNvPr id="25" name="Text 23"/>
          <p:cNvSpPr/>
          <p:nvPr/>
        </p:nvSpPr>
        <p:spPr>
          <a:xfrm>
            <a:off x="586130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6" name="Shape 24"/>
          <p:cNvSpPr/>
          <p:nvPr/>
        </p:nvSpPr>
        <p:spPr>
          <a:xfrm>
            <a:off x="5980176" y="777240"/>
            <a:ext cx="594360" cy="292608"/>
          </a:xfrm>
          <a:prstGeom prst="rect">
            <a:avLst/>
          </a:prstGeom>
          <a:solidFill>
            <a:srgbClr val="1C2333"/>
          </a:solidFill>
          <a:ln w="6350">
            <a:solidFill>
              <a:srgbClr val="6E7681"/>
            </a:solidFill>
            <a:prstDash val="solid"/>
          </a:ln>
        </p:spPr>
      </p:sp>
      <p:sp>
        <p:nvSpPr>
          <p:cNvPr id="27" name="Text 25"/>
          <p:cNvSpPr/>
          <p:nvPr/>
        </p:nvSpPr>
        <p:spPr>
          <a:xfrm>
            <a:off x="598017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9</a:t>
            </a:r>
            <a:endParaRPr lang="en-US" sz="900" dirty="0"/>
          </a:p>
        </p:txBody>
      </p:sp>
      <p:sp>
        <p:nvSpPr>
          <p:cNvPr id="28" name="Text 26"/>
          <p:cNvSpPr/>
          <p:nvPr/>
        </p:nvSpPr>
        <p:spPr>
          <a:xfrm>
            <a:off x="657453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9" name="Shape 27"/>
          <p:cNvSpPr/>
          <p:nvPr/>
        </p:nvSpPr>
        <p:spPr>
          <a:xfrm>
            <a:off x="6693408" y="777240"/>
            <a:ext cx="594360" cy="292608"/>
          </a:xfrm>
          <a:prstGeom prst="rect">
            <a:avLst/>
          </a:prstGeom>
          <a:solidFill>
            <a:srgbClr val="1C2333"/>
          </a:solidFill>
          <a:ln w="6350">
            <a:solidFill>
              <a:srgbClr val="6E7681"/>
            </a:solidFill>
            <a:prstDash val="solid"/>
          </a:ln>
        </p:spPr>
      </p:sp>
      <p:sp>
        <p:nvSpPr>
          <p:cNvPr id="30" name="Text 28"/>
          <p:cNvSpPr/>
          <p:nvPr/>
        </p:nvSpPr>
        <p:spPr>
          <a:xfrm>
            <a:off x="669340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10</a:t>
            </a:r>
            <a:endParaRPr lang="en-US" sz="900" dirty="0"/>
          </a:p>
        </p:txBody>
      </p:sp>
      <p:sp>
        <p:nvSpPr>
          <p:cNvPr id="31" name="Text 29"/>
          <p:cNvSpPr/>
          <p:nvPr/>
        </p:nvSpPr>
        <p:spPr>
          <a:xfrm>
            <a:off x="728776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2" name="Shape 30"/>
          <p:cNvSpPr/>
          <p:nvPr/>
        </p:nvSpPr>
        <p:spPr>
          <a:xfrm>
            <a:off x="7406640" y="777240"/>
            <a:ext cx="594360" cy="292608"/>
          </a:xfrm>
          <a:prstGeom prst="rect">
            <a:avLst/>
          </a:prstGeom>
          <a:solidFill>
            <a:srgbClr val="1C2333"/>
          </a:solidFill>
          <a:ln w="6350">
            <a:solidFill>
              <a:srgbClr val="6E7681"/>
            </a:solidFill>
            <a:prstDash val="solid"/>
          </a:ln>
        </p:spPr>
      </p:sp>
      <p:sp>
        <p:nvSpPr>
          <p:cNvPr id="33" name="Text 31"/>
          <p:cNvSpPr/>
          <p:nvPr/>
        </p:nvSpPr>
        <p:spPr>
          <a:xfrm>
            <a:off x="740664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11</a:t>
            </a:r>
            <a:endParaRPr lang="en-US" sz="900" dirty="0"/>
          </a:p>
        </p:txBody>
      </p:sp>
      <p:sp>
        <p:nvSpPr>
          <p:cNvPr id="34" name="Text 32"/>
          <p:cNvSpPr/>
          <p:nvPr/>
        </p:nvSpPr>
        <p:spPr>
          <a:xfrm>
            <a:off x="800100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5" name="Shape 33"/>
          <p:cNvSpPr/>
          <p:nvPr/>
        </p:nvSpPr>
        <p:spPr>
          <a:xfrm>
            <a:off x="8119872" y="777240"/>
            <a:ext cx="594360" cy="292608"/>
          </a:xfrm>
          <a:prstGeom prst="rect">
            <a:avLst/>
          </a:prstGeom>
          <a:solidFill>
            <a:srgbClr val="1C2333"/>
          </a:solidFill>
          <a:ln w="6350">
            <a:solidFill>
              <a:srgbClr val="6E7681"/>
            </a:solidFill>
            <a:prstDash val="solid"/>
          </a:ln>
        </p:spPr>
      </p:sp>
      <p:sp>
        <p:nvSpPr>
          <p:cNvPr id="36" name="Text 34"/>
          <p:cNvSpPr/>
          <p:nvPr/>
        </p:nvSpPr>
        <p:spPr>
          <a:xfrm>
            <a:off x="811987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12</a:t>
            </a:r>
            <a:endParaRPr lang="en-US" sz="900" dirty="0"/>
          </a:p>
        </p:txBody>
      </p:sp>
      <p:pic>
        <p:nvPicPr>
          <p:cNvPr id="37" name="Image 0" descr="preencoded.png">    </p:cNvPr>
          <p:cNvPicPr>
            <a:picLocks noChangeAspect="1"/>
          </p:cNvPicPr>
          <p:nvPr/>
        </p:nvPicPr>
        <p:blipFill>
          <a:blip r:embed="rId1"/>
          <a:stretch>
            <a:fillRect/>
          </a:stretch>
        </p:blipFill>
        <p:spPr>
          <a:xfrm>
            <a:off x="365760" y="1234440"/>
            <a:ext cx="411480" cy="411480"/>
          </a:xfrm>
          <a:prstGeom prst="rect">
            <a:avLst/>
          </a:prstGeom>
        </p:spPr>
      </p:pic>
      <p:sp>
        <p:nvSpPr>
          <p:cNvPr id="38" name="Text 35"/>
          <p:cNvSpPr/>
          <p:nvPr/>
        </p:nvSpPr>
        <p:spPr>
          <a:xfrm>
            <a:off x="868680" y="1234440"/>
            <a:ext cx="68580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Node 3: Read Service from Database</a:t>
            </a:r>
            <a:endParaRPr lang="en-US" sz="2200" dirty="0"/>
          </a:p>
        </p:txBody>
      </p:sp>
      <p:sp>
        <p:nvSpPr>
          <p:cNvPr id="39" name="Text 36"/>
          <p:cNvSpPr/>
          <p:nvPr/>
        </p:nvSpPr>
        <p:spPr>
          <a:xfrm>
            <a:off x="868680" y="1664208"/>
            <a:ext cx="2743200" cy="256032"/>
          </a:xfrm>
          <a:prstGeom prst="rect">
            <a:avLst/>
          </a:prstGeom>
          <a:noFill/>
          <a:ln/>
        </p:spPr>
        <p:txBody>
          <a:bodyPr wrap="square" lIns="0" tIns="0" rIns="0" bIns="0" rtlCol="0" anchor="ctr"/>
          <a:lstStyle/>
          <a:p>
            <a:pPr indent="0" marL="0">
              <a:buNone/>
            </a:pPr>
            <a:r>
              <a:rPr lang="en-US" sz="1100" dirty="0">
                <a:solidFill>
                  <a:srgbClr val="F97316"/>
                </a:solidFill>
                <a:latin typeface="Calibri" pitchFamily="34" charset="0"/>
                <a:ea typeface="Calibri" pitchFamily="34" charset="-122"/>
                <a:cs typeface="Calibri" pitchFamily="34" charset="-120"/>
              </a:rPr>
              <a:t>Google Sheets</a:t>
            </a:r>
            <a:endParaRPr lang="en-US" sz="1100" dirty="0"/>
          </a:p>
        </p:txBody>
      </p:sp>
      <p:sp>
        <p:nvSpPr>
          <p:cNvPr id="40" name="Shape 37"/>
          <p:cNvSpPr/>
          <p:nvPr/>
        </p:nvSpPr>
        <p:spPr>
          <a:xfrm>
            <a:off x="365760" y="2011680"/>
            <a:ext cx="5303520" cy="1737360"/>
          </a:xfrm>
          <a:prstGeom prst="rect">
            <a:avLst/>
          </a:prstGeom>
          <a:solidFill>
            <a:srgbClr val="161B22"/>
          </a:solidFill>
          <a:ln/>
        </p:spPr>
      </p:sp>
      <p:sp>
        <p:nvSpPr>
          <p:cNvPr id="41" name="Text 38"/>
          <p:cNvSpPr/>
          <p:nvPr/>
        </p:nvSpPr>
        <p:spPr>
          <a:xfrm>
            <a:off x="548640" y="2103120"/>
            <a:ext cx="2743200" cy="228600"/>
          </a:xfrm>
          <a:prstGeom prst="rect">
            <a:avLst/>
          </a:prstGeom>
          <a:noFill/>
          <a:ln/>
        </p:spPr>
        <p:txBody>
          <a:bodyPr wrap="square" lIns="0" tIns="0" rIns="0" bIns="0"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WHAT IT DOES</a:t>
            </a:r>
            <a:endParaRPr lang="en-US" sz="1000" dirty="0"/>
          </a:p>
        </p:txBody>
      </p:sp>
      <p:sp>
        <p:nvSpPr>
          <p:cNvPr id="42" name="Text 39"/>
          <p:cNvSpPr/>
          <p:nvPr/>
        </p:nvSpPr>
        <p:spPr>
          <a:xfrm>
            <a:off x="548640" y="2377440"/>
            <a:ext cx="493776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Reads "Services Database" tab in Google Sheets</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Filters by Service Name matching the selected service</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Returns the FULL record: description, deliverables, SOP steps, timeline, tools, price range, prerequisites</a:t>
            </a:r>
            <a:endParaRPr lang="en-US" sz="1100" dirty="0"/>
          </a:p>
        </p:txBody>
      </p:sp>
      <p:sp>
        <p:nvSpPr>
          <p:cNvPr id="43" name="Shape 40"/>
          <p:cNvSpPr/>
          <p:nvPr/>
        </p:nvSpPr>
        <p:spPr>
          <a:xfrm>
            <a:off x="5943600" y="2011680"/>
            <a:ext cx="2926080" cy="1737360"/>
          </a:xfrm>
          <a:prstGeom prst="rect">
            <a:avLst/>
          </a:prstGeom>
          <a:solidFill>
            <a:srgbClr val="161B22"/>
          </a:solidFill>
          <a:ln/>
        </p:spPr>
      </p:sp>
      <p:sp>
        <p:nvSpPr>
          <p:cNvPr id="44" name="Text 41"/>
          <p:cNvSpPr/>
          <p:nvPr/>
        </p:nvSpPr>
        <p:spPr>
          <a:xfrm>
            <a:off x="6126480" y="2103120"/>
            <a:ext cx="2560320" cy="2286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DATA FLOW</a:t>
            </a:r>
            <a:endParaRPr lang="en-US" sz="1000" dirty="0"/>
          </a:p>
        </p:txBody>
      </p:sp>
      <p:sp>
        <p:nvSpPr>
          <p:cNvPr id="45" name="Text 42"/>
          <p:cNvSpPr/>
          <p:nvPr/>
        </p:nvSpPr>
        <p:spPr>
          <a:xfrm>
            <a:off x="6126480" y="2377440"/>
            <a:ext cx="365760" cy="1828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IN:</a:t>
            </a:r>
            <a:endParaRPr lang="en-US" sz="1000" dirty="0"/>
          </a:p>
        </p:txBody>
      </p:sp>
      <p:sp>
        <p:nvSpPr>
          <p:cNvPr id="46" name="Text 43"/>
          <p:cNvSpPr/>
          <p:nvPr/>
        </p:nvSpPr>
        <p:spPr>
          <a:xfrm>
            <a:off x="6492240" y="2377440"/>
            <a:ext cx="2194560" cy="45720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serviceRequired (string)</a:t>
            </a:r>
            <a:endParaRPr lang="en-US" sz="1000" dirty="0"/>
          </a:p>
        </p:txBody>
      </p:sp>
      <p:sp>
        <p:nvSpPr>
          <p:cNvPr id="47" name="Text 44"/>
          <p:cNvSpPr/>
          <p:nvPr/>
        </p:nvSpPr>
        <p:spPr>
          <a:xfrm>
            <a:off x="6126480" y="2926080"/>
            <a:ext cx="457200" cy="182880"/>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OUT:</a:t>
            </a:r>
            <a:endParaRPr lang="en-US" sz="1000" dirty="0"/>
          </a:p>
        </p:txBody>
      </p:sp>
      <p:sp>
        <p:nvSpPr>
          <p:cNvPr id="48" name="Text 45"/>
          <p:cNvSpPr/>
          <p:nvPr/>
        </p:nvSpPr>
        <p:spPr>
          <a:xfrm>
            <a:off x="6583680" y="2926080"/>
            <a:ext cx="2103120" cy="64008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Complete service record with all database columns</a:t>
            </a:r>
            <a:endParaRPr lang="en-US" sz="1000" dirty="0"/>
          </a:p>
        </p:txBody>
      </p:sp>
      <p:sp>
        <p:nvSpPr>
          <p:cNvPr id="49" name="Shape 46"/>
          <p:cNvSpPr/>
          <p:nvPr/>
        </p:nvSpPr>
        <p:spPr>
          <a:xfrm>
            <a:off x="365760" y="3931920"/>
            <a:ext cx="8412480" cy="685800"/>
          </a:xfrm>
          <a:prstGeom prst="rect">
            <a:avLst/>
          </a:prstGeom>
          <a:solidFill>
            <a:srgbClr val="1A1F2E"/>
          </a:solidFill>
          <a:ln w="12700">
            <a:solidFill>
              <a:srgbClr val="F97316"/>
            </a:solidFill>
            <a:prstDash val="solid"/>
          </a:ln>
        </p:spPr>
      </p:sp>
      <p:sp>
        <p:nvSpPr>
          <p:cNvPr id="50" name="Text 47"/>
          <p:cNvSpPr/>
          <p:nvPr/>
        </p:nvSpPr>
        <p:spPr>
          <a:xfrm>
            <a:off x="548640" y="3977640"/>
            <a:ext cx="1371600" cy="201168"/>
          </a:xfrm>
          <a:prstGeom prst="rect">
            <a:avLst/>
          </a:prstGeom>
          <a:noFill/>
          <a:ln/>
        </p:spPr>
        <p:txBody>
          <a:bodyPr wrap="square" lIns="0" tIns="0" rIns="0" bIns="0"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KEY INSIGHT</a:t>
            </a:r>
            <a:endParaRPr lang="en-US" sz="900" dirty="0"/>
          </a:p>
        </p:txBody>
      </p:sp>
      <p:sp>
        <p:nvSpPr>
          <p:cNvPr id="51" name="Text 48"/>
          <p:cNvSpPr/>
          <p:nvPr/>
        </p:nvSpPr>
        <p:spPr>
          <a:xfrm>
            <a:off x="548640" y="4187952"/>
            <a:ext cx="8046720" cy="38404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This is the BRAIN. Services DB is filled ONCE with your 8 services. The workflow reads, never invents. Consistency guaranteed.</a:t>
            </a:r>
            <a:endParaRPr lang="en-US" sz="1100" dirty="0"/>
          </a:p>
        </p:txBody>
      </p:sp>
      <p:sp>
        <p:nvSpPr>
          <p:cNvPr id="52" name="Text 49"/>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AI Architect Simulation  |  Flow A  |  Node 3 of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777240"/>
            <a:ext cx="594360" cy="292608"/>
          </a:xfrm>
          <a:prstGeom prst="rect">
            <a:avLst/>
          </a:prstGeom>
          <a:solidFill>
            <a:srgbClr val="1C2333"/>
          </a:solidFill>
          <a:ln w="6350">
            <a:solidFill>
              <a:srgbClr val="6E7681"/>
            </a:solidFill>
            <a:prstDash val="solid"/>
          </a:ln>
        </p:spPr>
      </p:sp>
      <p:sp>
        <p:nvSpPr>
          <p:cNvPr id="3" name="Text 1"/>
          <p:cNvSpPr/>
          <p:nvPr/>
        </p:nvSpPr>
        <p:spPr>
          <a:xfrm>
            <a:off x="27432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a:t>
            </a:r>
            <a:endParaRPr lang="en-US" sz="900" dirty="0"/>
          </a:p>
        </p:txBody>
      </p:sp>
      <p:sp>
        <p:nvSpPr>
          <p:cNvPr id="4" name="Text 2"/>
          <p:cNvSpPr/>
          <p:nvPr/>
        </p:nvSpPr>
        <p:spPr>
          <a:xfrm>
            <a:off x="86868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5" name="Shape 3"/>
          <p:cNvSpPr/>
          <p:nvPr/>
        </p:nvSpPr>
        <p:spPr>
          <a:xfrm>
            <a:off x="987552" y="777240"/>
            <a:ext cx="594360" cy="292608"/>
          </a:xfrm>
          <a:prstGeom prst="rect">
            <a:avLst/>
          </a:prstGeom>
          <a:solidFill>
            <a:srgbClr val="1C2333"/>
          </a:solidFill>
          <a:ln w="6350">
            <a:solidFill>
              <a:srgbClr val="6E7681"/>
            </a:solidFill>
            <a:prstDash val="solid"/>
          </a:ln>
        </p:spPr>
      </p:sp>
      <p:sp>
        <p:nvSpPr>
          <p:cNvPr id="6" name="Text 4"/>
          <p:cNvSpPr/>
          <p:nvPr/>
        </p:nvSpPr>
        <p:spPr>
          <a:xfrm>
            <a:off x="98755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158191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8" name="Shape 6"/>
          <p:cNvSpPr/>
          <p:nvPr/>
        </p:nvSpPr>
        <p:spPr>
          <a:xfrm>
            <a:off x="1700784" y="777240"/>
            <a:ext cx="594360" cy="292608"/>
          </a:xfrm>
          <a:prstGeom prst="rect">
            <a:avLst/>
          </a:prstGeom>
          <a:solidFill>
            <a:srgbClr val="1C2333"/>
          </a:solidFill>
          <a:ln w="6350">
            <a:solidFill>
              <a:srgbClr val="6E7681"/>
            </a:solidFill>
            <a:prstDash val="solid"/>
          </a:ln>
        </p:spPr>
      </p:sp>
      <p:sp>
        <p:nvSpPr>
          <p:cNvPr id="9" name="Text 7"/>
          <p:cNvSpPr/>
          <p:nvPr/>
        </p:nvSpPr>
        <p:spPr>
          <a:xfrm>
            <a:off x="170078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3</a:t>
            </a:r>
            <a:endParaRPr lang="en-US" sz="900" dirty="0"/>
          </a:p>
        </p:txBody>
      </p:sp>
      <p:sp>
        <p:nvSpPr>
          <p:cNvPr id="10" name="Text 8"/>
          <p:cNvSpPr/>
          <p:nvPr/>
        </p:nvSpPr>
        <p:spPr>
          <a:xfrm>
            <a:off x="229514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1" name="Shape 9"/>
          <p:cNvSpPr/>
          <p:nvPr/>
        </p:nvSpPr>
        <p:spPr>
          <a:xfrm>
            <a:off x="2414016" y="777240"/>
            <a:ext cx="594360" cy="292608"/>
          </a:xfrm>
          <a:prstGeom prst="rect">
            <a:avLst/>
          </a:prstGeom>
          <a:solidFill>
            <a:srgbClr val="F97316"/>
          </a:solidFill>
          <a:ln w="25400">
            <a:solidFill>
              <a:srgbClr val="F97316"/>
            </a:solidFill>
            <a:prstDash val="solid"/>
          </a:ln>
        </p:spPr>
      </p:sp>
      <p:sp>
        <p:nvSpPr>
          <p:cNvPr id="12" name="Text 10"/>
          <p:cNvSpPr/>
          <p:nvPr/>
        </p:nvSpPr>
        <p:spPr>
          <a:xfrm>
            <a:off x="2414016" y="777240"/>
            <a:ext cx="594360" cy="292608"/>
          </a:xfrm>
          <a:prstGeom prst="rect">
            <a:avLst/>
          </a:prstGeom>
          <a:noFill/>
          <a:ln/>
        </p:spPr>
        <p:txBody>
          <a:bodyPr wrap="square" lIns="0" tIns="0" rIns="0" bIns="0" rtlCol="0" anchor="ctr"/>
          <a:lstStyle/>
          <a:p>
            <a:pPr algn="ctr" indent="0" marL="0">
              <a:buNone/>
            </a:pPr>
            <a:r>
              <a:rPr lang="en-US" sz="900" b="1" dirty="0">
                <a:solidFill>
                  <a:srgbClr val="0D1117"/>
                </a:solidFill>
                <a:latin typeface="Calibri" pitchFamily="34" charset="0"/>
                <a:ea typeface="Calibri" pitchFamily="34" charset="-122"/>
                <a:cs typeface="Calibri" pitchFamily="34" charset="-120"/>
              </a:rPr>
              <a:t>4</a:t>
            </a:r>
            <a:endParaRPr lang="en-US" sz="900" dirty="0"/>
          </a:p>
        </p:txBody>
      </p:sp>
      <p:sp>
        <p:nvSpPr>
          <p:cNvPr id="13" name="Text 11"/>
          <p:cNvSpPr/>
          <p:nvPr/>
        </p:nvSpPr>
        <p:spPr>
          <a:xfrm>
            <a:off x="300837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4" name="Shape 12"/>
          <p:cNvSpPr/>
          <p:nvPr/>
        </p:nvSpPr>
        <p:spPr>
          <a:xfrm>
            <a:off x="3127248" y="777240"/>
            <a:ext cx="594360" cy="292608"/>
          </a:xfrm>
          <a:prstGeom prst="rect">
            <a:avLst/>
          </a:prstGeom>
          <a:solidFill>
            <a:srgbClr val="1C2333"/>
          </a:solidFill>
          <a:ln w="6350">
            <a:solidFill>
              <a:srgbClr val="6E7681"/>
            </a:solidFill>
            <a:prstDash val="solid"/>
          </a:ln>
        </p:spPr>
      </p:sp>
      <p:sp>
        <p:nvSpPr>
          <p:cNvPr id="15" name="Text 13"/>
          <p:cNvSpPr/>
          <p:nvPr/>
        </p:nvSpPr>
        <p:spPr>
          <a:xfrm>
            <a:off x="312724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5</a:t>
            </a:r>
            <a:endParaRPr lang="en-US" sz="900" dirty="0"/>
          </a:p>
        </p:txBody>
      </p:sp>
      <p:sp>
        <p:nvSpPr>
          <p:cNvPr id="16" name="Text 14"/>
          <p:cNvSpPr/>
          <p:nvPr/>
        </p:nvSpPr>
        <p:spPr>
          <a:xfrm>
            <a:off x="372160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7" name="Shape 15"/>
          <p:cNvSpPr/>
          <p:nvPr/>
        </p:nvSpPr>
        <p:spPr>
          <a:xfrm>
            <a:off x="3840480" y="777240"/>
            <a:ext cx="594360" cy="292608"/>
          </a:xfrm>
          <a:prstGeom prst="rect">
            <a:avLst/>
          </a:prstGeom>
          <a:solidFill>
            <a:srgbClr val="1C2333"/>
          </a:solidFill>
          <a:ln w="6350">
            <a:solidFill>
              <a:srgbClr val="6E7681"/>
            </a:solidFill>
            <a:prstDash val="solid"/>
          </a:ln>
        </p:spPr>
      </p:sp>
      <p:sp>
        <p:nvSpPr>
          <p:cNvPr id="18" name="Text 16"/>
          <p:cNvSpPr/>
          <p:nvPr/>
        </p:nvSpPr>
        <p:spPr>
          <a:xfrm>
            <a:off x="384048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6</a:t>
            </a:r>
            <a:endParaRPr lang="en-US" sz="900" dirty="0"/>
          </a:p>
        </p:txBody>
      </p:sp>
      <p:sp>
        <p:nvSpPr>
          <p:cNvPr id="19" name="Text 17"/>
          <p:cNvSpPr/>
          <p:nvPr/>
        </p:nvSpPr>
        <p:spPr>
          <a:xfrm>
            <a:off x="443484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4553712" y="777240"/>
            <a:ext cx="594360" cy="292608"/>
          </a:xfrm>
          <a:prstGeom prst="rect">
            <a:avLst/>
          </a:prstGeom>
          <a:solidFill>
            <a:srgbClr val="1C2333"/>
          </a:solidFill>
          <a:ln w="6350">
            <a:solidFill>
              <a:srgbClr val="6E7681"/>
            </a:solidFill>
            <a:prstDash val="solid"/>
          </a:ln>
        </p:spPr>
      </p:sp>
      <p:sp>
        <p:nvSpPr>
          <p:cNvPr id="21" name="Text 19"/>
          <p:cNvSpPr/>
          <p:nvPr/>
        </p:nvSpPr>
        <p:spPr>
          <a:xfrm>
            <a:off x="455371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7</a:t>
            </a:r>
            <a:endParaRPr lang="en-US" sz="900" dirty="0"/>
          </a:p>
        </p:txBody>
      </p:sp>
      <p:sp>
        <p:nvSpPr>
          <p:cNvPr id="22" name="Text 20"/>
          <p:cNvSpPr/>
          <p:nvPr/>
        </p:nvSpPr>
        <p:spPr>
          <a:xfrm>
            <a:off x="514807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3" name="Shape 21"/>
          <p:cNvSpPr/>
          <p:nvPr/>
        </p:nvSpPr>
        <p:spPr>
          <a:xfrm>
            <a:off x="5266944" y="777240"/>
            <a:ext cx="594360" cy="292608"/>
          </a:xfrm>
          <a:prstGeom prst="rect">
            <a:avLst/>
          </a:prstGeom>
          <a:solidFill>
            <a:srgbClr val="1C2333"/>
          </a:solidFill>
          <a:ln w="6350">
            <a:solidFill>
              <a:srgbClr val="6E7681"/>
            </a:solidFill>
            <a:prstDash val="solid"/>
          </a:ln>
        </p:spPr>
      </p:sp>
      <p:sp>
        <p:nvSpPr>
          <p:cNvPr id="24" name="Text 22"/>
          <p:cNvSpPr/>
          <p:nvPr/>
        </p:nvSpPr>
        <p:spPr>
          <a:xfrm>
            <a:off x="526694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8</a:t>
            </a:r>
            <a:endParaRPr lang="en-US" sz="900" dirty="0"/>
          </a:p>
        </p:txBody>
      </p:sp>
      <p:sp>
        <p:nvSpPr>
          <p:cNvPr id="25" name="Text 23"/>
          <p:cNvSpPr/>
          <p:nvPr/>
        </p:nvSpPr>
        <p:spPr>
          <a:xfrm>
            <a:off x="586130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6" name="Shape 24"/>
          <p:cNvSpPr/>
          <p:nvPr/>
        </p:nvSpPr>
        <p:spPr>
          <a:xfrm>
            <a:off x="5980176" y="777240"/>
            <a:ext cx="594360" cy="292608"/>
          </a:xfrm>
          <a:prstGeom prst="rect">
            <a:avLst/>
          </a:prstGeom>
          <a:solidFill>
            <a:srgbClr val="1C2333"/>
          </a:solidFill>
          <a:ln w="6350">
            <a:solidFill>
              <a:srgbClr val="6E7681"/>
            </a:solidFill>
            <a:prstDash val="solid"/>
          </a:ln>
        </p:spPr>
      </p:sp>
      <p:sp>
        <p:nvSpPr>
          <p:cNvPr id="27" name="Text 25"/>
          <p:cNvSpPr/>
          <p:nvPr/>
        </p:nvSpPr>
        <p:spPr>
          <a:xfrm>
            <a:off x="598017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9</a:t>
            </a:r>
            <a:endParaRPr lang="en-US" sz="900" dirty="0"/>
          </a:p>
        </p:txBody>
      </p:sp>
      <p:sp>
        <p:nvSpPr>
          <p:cNvPr id="28" name="Text 26"/>
          <p:cNvSpPr/>
          <p:nvPr/>
        </p:nvSpPr>
        <p:spPr>
          <a:xfrm>
            <a:off x="657453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9" name="Shape 27"/>
          <p:cNvSpPr/>
          <p:nvPr/>
        </p:nvSpPr>
        <p:spPr>
          <a:xfrm>
            <a:off x="6693408" y="777240"/>
            <a:ext cx="594360" cy="292608"/>
          </a:xfrm>
          <a:prstGeom prst="rect">
            <a:avLst/>
          </a:prstGeom>
          <a:solidFill>
            <a:srgbClr val="1C2333"/>
          </a:solidFill>
          <a:ln w="6350">
            <a:solidFill>
              <a:srgbClr val="6E7681"/>
            </a:solidFill>
            <a:prstDash val="solid"/>
          </a:ln>
        </p:spPr>
      </p:sp>
      <p:sp>
        <p:nvSpPr>
          <p:cNvPr id="30" name="Text 28"/>
          <p:cNvSpPr/>
          <p:nvPr/>
        </p:nvSpPr>
        <p:spPr>
          <a:xfrm>
            <a:off x="669340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10</a:t>
            </a:r>
            <a:endParaRPr lang="en-US" sz="900" dirty="0"/>
          </a:p>
        </p:txBody>
      </p:sp>
      <p:sp>
        <p:nvSpPr>
          <p:cNvPr id="31" name="Text 29"/>
          <p:cNvSpPr/>
          <p:nvPr/>
        </p:nvSpPr>
        <p:spPr>
          <a:xfrm>
            <a:off x="728776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2" name="Shape 30"/>
          <p:cNvSpPr/>
          <p:nvPr/>
        </p:nvSpPr>
        <p:spPr>
          <a:xfrm>
            <a:off x="7406640" y="777240"/>
            <a:ext cx="594360" cy="292608"/>
          </a:xfrm>
          <a:prstGeom prst="rect">
            <a:avLst/>
          </a:prstGeom>
          <a:solidFill>
            <a:srgbClr val="1C2333"/>
          </a:solidFill>
          <a:ln w="6350">
            <a:solidFill>
              <a:srgbClr val="6E7681"/>
            </a:solidFill>
            <a:prstDash val="solid"/>
          </a:ln>
        </p:spPr>
      </p:sp>
      <p:sp>
        <p:nvSpPr>
          <p:cNvPr id="33" name="Text 31"/>
          <p:cNvSpPr/>
          <p:nvPr/>
        </p:nvSpPr>
        <p:spPr>
          <a:xfrm>
            <a:off x="740664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11</a:t>
            </a:r>
            <a:endParaRPr lang="en-US" sz="900" dirty="0"/>
          </a:p>
        </p:txBody>
      </p:sp>
      <p:sp>
        <p:nvSpPr>
          <p:cNvPr id="34" name="Text 32"/>
          <p:cNvSpPr/>
          <p:nvPr/>
        </p:nvSpPr>
        <p:spPr>
          <a:xfrm>
            <a:off x="800100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5" name="Shape 33"/>
          <p:cNvSpPr/>
          <p:nvPr/>
        </p:nvSpPr>
        <p:spPr>
          <a:xfrm>
            <a:off x="8119872" y="777240"/>
            <a:ext cx="594360" cy="292608"/>
          </a:xfrm>
          <a:prstGeom prst="rect">
            <a:avLst/>
          </a:prstGeom>
          <a:solidFill>
            <a:srgbClr val="1C2333"/>
          </a:solidFill>
          <a:ln w="6350">
            <a:solidFill>
              <a:srgbClr val="6E7681"/>
            </a:solidFill>
            <a:prstDash val="solid"/>
          </a:ln>
        </p:spPr>
      </p:sp>
      <p:sp>
        <p:nvSpPr>
          <p:cNvPr id="36" name="Text 34"/>
          <p:cNvSpPr/>
          <p:nvPr/>
        </p:nvSpPr>
        <p:spPr>
          <a:xfrm>
            <a:off x="811987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12</a:t>
            </a:r>
            <a:endParaRPr lang="en-US" sz="900" dirty="0"/>
          </a:p>
        </p:txBody>
      </p:sp>
      <p:pic>
        <p:nvPicPr>
          <p:cNvPr id="37" name="Image 0" descr="preencoded.png">    </p:cNvPr>
          <p:cNvPicPr>
            <a:picLocks noChangeAspect="1"/>
          </p:cNvPicPr>
          <p:nvPr/>
        </p:nvPicPr>
        <p:blipFill>
          <a:blip r:embed="rId1"/>
          <a:stretch>
            <a:fillRect/>
          </a:stretch>
        </p:blipFill>
        <p:spPr>
          <a:xfrm>
            <a:off x="365760" y="1234440"/>
            <a:ext cx="411480" cy="411480"/>
          </a:xfrm>
          <a:prstGeom prst="rect">
            <a:avLst/>
          </a:prstGeom>
        </p:spPr>
      </p:pic>
      <p:sp>
        <p:nvSpPr>
          <p:cNvPr id="38" name="Text 35"/>
          <p:cNvSpPr/>
          <p:nvPr/>
        </p:nvSpPr>
        <p:spPr>
          <a:xfrm>
            <a:off x="868680" y="1234440"/>
            <a:ext cx="68580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Node 4: Merge Client + Service Data</a:t>
            </a:r>
            <a:endParaRPr lang="en-US" sz="2200" dirty="0"/>
          </a:p>
        </p:txBody>
      </p:sp>
      <p:sp>
        <p:nvSpPr>
          <p:cNvPr id="39" name="Text 36"/>
          <p:cNvSpPr/>
          <p:nvPr/>
        </p:nvSpPr>
        <p:spPr>
          <a:xfrm>
            <a:off x="868680" y="1664208"/>
            <a:ext cx="2743200" cy="256032"/>
          </a:xfrm>
          <a:prstGeom prst="rect">
            <a:avLst/>
          </a:prstGeom>
          <a:noFill/>
          <a:ln/>
        </p:spPr>
        <p:txBody>
          <a:bodyPr wrap="square" lIns="0" tIns="0" rIns="0" bIns="0" rtlCol="0" anchor="ctr"/>
          <a:lstStyle/>
          <a:p>
            <a:pPr indent="0" marL="0">
              <a:buNone/>
            </a:pPr>
            <a:r>
              <a:rPr lang="en-US" sz="1100" dirty="0">
                <a:solidFill>
                  <a:srgbClr val="F97316"/>
                </a:solidFill>
                <a:latin typeface="Calibri" pitchFamily="34" charset="0"/>
                <a:ea typeface="Calibri" pitchFamily="34" charset="-122"/>
                <a:cs typeface="Calibri" pitchFamily="34" charset="-120"/>
              </a:rPr>
              <a:t>Code Node</a:t>
            </a:r>
            <a:endParaRPr lang="en-US" sz="1100" dirty="0"/>
          </a:p>
        </p:txBody>
      </p:sp>
      <p:sp>
        <p:nvSpPr>
          <p:cNvPr id="40" name="Shape 37"/>
          <p:cNvSpPr/>
          <p:nvPr/>
        </p:nvSpPr>
        <p:spPr>
          <a:xfrm>
            <a:off x="365760" y="2011680"/>
            <a:ext cx="5303520" cy="1737360"/>
          </a:xfrm>
          <a:prstGeom prst="rect">
            <a:avLst/>
          </a:prstGeom>
          <a:solidFill>
            <a:srgbClr val="161B22"/>
          </a:solidFill>
          <a:ln/>
        </p:spPr>
      </p:sp>
      <p:sp>
        <p:nvSpPr>
          <p:cNvPr id="41" name="Text 38"/>
          <p:cNvSpPr/>
          <p:nvPr/>
        </p:nvSpPr>
        <p:spPr>
          <a:xfrm>
            <a:off x="548640" y="2103120"/>
            <a:ext cx="2743200" cy="228600"/>
          </a:xfrm>
          <a:prstGeom prst="rect">
            <a:avLst/>
          </a:prstGeom>
          <a:noFill/>
          <a:ln/>
        </p:spPr>
        <p:txBody>
          <a:bodyPr wrap="square" lIns="0" tIns="0" rIns="0" bIns="0"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WHAT IT DOES</a:t>
            </a:r>
            <a:endParaRPr lang="en-US" sz="1000" dirty="0"/>
          </a:p>
        </p:txBody>
      </p:sp>
      <p:sp>
        <p:nvSpPr>
          <p:cNvPr id="42" name="Text 39"/>
          <p:cNvSpPr/>
          <p:nvPr/>
        </p:nvSpPr>
        <p:spPr>
          <a:xfrm>
            <a:off x="548640" y="2377440"/>
            <a:ext cx="493776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Combines clean client data (Node 2) with service record (Node 3)</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Parses pipe-separated deliverables and SOP steps into JS arrays</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Outputs ONE unified JSON object for the AI</a:t>
            </a:r>
            <a:endParaRPr lang="en-US" sz="1100" dirty="0"/>
          </a:p>
        </p:txBody>
      </p:sp>
      <p:sp>
        <p:nvSpPr>
          <p:cNvPr id="43" name="Shape 40"/>
          <p:cNvSpPr/>
          <p:nvPr/>
        </p:nvSpPr>
        <p:spPr>
          <a:xfrm>
            <a:off x="5943600" y="2011680"/>
            <a:ext cx="2926080" cy="1737360"/>
          </a:xfrm>
          <a:prstGeom prst="rect">
            <a:avLst/>
          </a:prstGeom>
          <a:solidFill>
            <a:srgbClr val="161B22"/>
          </a:solidFill>
          <a:ln/>
        </p:spPr>
      </p:sp>
      <p:sp>
        <p:nvSpPr>
          <p:cNvPr id="44" name="Text 41"/>
          <p:cNvSpPr/>
          <p:nvPr/>
        </p:nvSpPr>
        <p:spPr>
          <a:xfrm>
            <a:off x="6126480" y="2103120"/>
            <a:ext cx="2560320" cy="2286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DATA FLOW</a:t>
            </a:r>
            <a:endParaRPr lang="en-US" sz="1000" dirty="0"/>
          </a:p>
        </p:txBody>
      </p:sp>
      <p:sp>
        <p:nvSpPr>
          <p:cNvPr id="45" name="Text 42"/>
          <p:cNvSpPr/>
          <p:nvPr/>
        </p:nvSpPr>
        <p:spPr>
          <a:xfrm>
            <a:off x="6126480" y="2377440"/>
            <a:ext cx="365760" cy="1828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IN:</a:t>
            </a:r>
            <a:endParaRPr lang="en-US" sz="1000" dirty="0"/>
          </a:p>
        </p:txBody>
      </p:sp>
      <p:sp>
        <p:nvSpPr>
          <p:cNvPr id="46" name="Text 43"/>
          <p:cNvSpPr/>
          <p:nvPr/>
        </p:nvSpPr>
        <p:spPr>
          <a:xfrm>
            <a:off x="6492240" y="2377440"/>
            <a:ext cx="2194560" cy="45720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Client data + Service record</a:t>
            </a:r>
            <a:endParaRPr lang="en-US" sz="1000" dirty="0"/>
          </a:p>
        </p:txBody>
      </p:sp>
      <p:sp>
        <p:nvSpPr>
          <p:cNvPr id="47" name="Text 44"/>
          <p:cNvSpPr/>
          <p:nvPr/>
        </p:nvSpPr>
        <p:spPr>
          <a:xfrm>
            <a:off x="6126480" y="2926080"/>
            <a:ext cx="457200" cy="182880"/>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OUT:</a:t>
            </a:r>
            <a:endParaRPr lang="en-US" sz="1000" dirty="0"/>
          </a:p>
        </p:txBody>
      </p:sp>
      <p:sp>
        <p:nvSpPr>
          <p:cNvPr id="48" name="Text 45"/>
          <p:cNvSpPr/>
          <p:nvPr/>
        </p:nvSpPr>
        <p:spPr>
          <a:xfrm>
            <a:off x="6583680" y="2926080"/>
            <a:ext cx="2103120" cy="64008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Merged object: all client fields + service arrays (deliverables, sopSteps, timeline, tools)</a:t>
            </a:r>
            <a:endParaRPr lang="en-US" sz="1000" dirty="0"/>
          </a:p>
        </p:txBody>
      </p:sp>
      <p:sp>
        <p:nvSpPr>
          <p:cNvPr id="49" name="Shape 46"/>
          <p:cNvSpPr/>
          <p:nvPr/>
        </p:nvSpPr>
        <p:spPr>
          <a:xfrm>
            <a:off x="365760" y="3931920"/>
            <a:ext cx="8412480" cy="685800"/>
          </a:xfrm>
          <a:prstGeom prst="rect">
            <a:avLst/>
          </a:prstGeom>
          <a:solidFill>
            <a:srgbClr val="1A1F2E"/>
          </a:solidFill>
          <a:ln w="12700">
            <a:solidFill>
              <a:srgbClr val="F97316"/>
            </a:solidFill>
            <a:prstDash val="solid"/>
          </a:ln>
        </p:spPr>
      </p:sp>
      <p:sp>
        <p:nvSpPr>
          <p:cNvPr id="50" name="Text 47"/>
          <p:cNvSpPr/>
          <p:nvPr/>
        </p:nvSpPr>
        <p:spPr>
          <a:xfrm>
            <a:off x="548640" y="3977640"/>
            <a:ext cx="1371600" cy="201168"/>
          </a:xfrm>
          <a:prstGeom prst="rect">
            <a:avLst/>
          </a:prstGeom>
          <a:noFill/>
          <a:ln/>
        </p:spPr>
        <p:txBody>
          <a:bodyPr wrap="square" lIns="0" tIns="0" rIns="0" bIns="0"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KEY INSIGHT</a:t>
            </a:r>
            <a:endParaRPr lang="en-US" sz="900" dirty="0"/>
          </a:p>
        </p:txBody>
      </p:sp>
      <p:sp>
        <p:nvSpPr>
          <p:cNvPr id="51" name="Text 48"/>
          <p:cNvSpPr/>
          <p:nvPr/>
        </p:nvSpPr>
        <p:spPr>
          <a:xfrm>
            <a:off x="548640" y="4187952"/>
            <a:ext cx="8046720" cy="38404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 pipe separator (|) in the database stores multiple items in a single cell. This node splits them into arrays for AI processing.</a:t>
            </a:r>
            <a:endParaRPr lang="en-US" sz="1100" dirty="0"/>
          </a:p>
        </p:txBody>
      </p:sp>
      <p:sp>
        <p:nvSpPr>
          <p:cNvPr id="52" name="Text 49"/>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AI Architect Simulation  |  Flow A  |  Node 4 of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777240"/>
            <a:ext cx="594360" cy="292608"/>
          </a:xfrm>
          <a:prstGeom prst="rect">
            <a:avLst/>
          </a:prstGeom>
          <a:solidFill>
            <a:srgbClr val="1C2333"/>
          </a:solidFill>
          <a:ln w="6350">
            <a:solidFill>
              <a:srgbClr val="6E7681"/>
            </a:solidFill>
            <a:prstDash val="solid"/>
          </a:ln>
        </p:spPr>
      </p:sp>
      <p:sp>
        <p:nvSpPr>
          <p:cNvPr id="3" name="Text 1"/>
          <p:cNvSpPr/>
          <p:nvPr/>
        </p:nvSpPr>
        <p:spPr>
          <a:xfrm>
            <a:off x="27432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a:t>
            </a:r>
            <a:endParaRPr lang="en-US" sz="900" dirty="0"/>
          </a:p>
        </p:txBody>
      </p:sp>
      <p:sp>
        <p:nvSpPr>
          <p:cNvPr id="4" name="Text 2"/>
          <p:cNvSpPr/>
          <p:nvPr/>
        </p:nvSpPr>
        <p:spPr>
          <a:xfrm>
            <a:off x="86868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5" name="Shape 3"/>
          <p:cNvSpPr/>
          <p:nvPr/>
        </p:nvSpPr>
        <p:spPr>
          <a:xfrm>
            <a:off x="987552" y="777240"/>
            <a:ext cx="594360" cy="292608"/>
          </a:xfrm>
          <a:prstGeom prst="rect">
            <a:avLst/>
          </a:prstGeom>
          <a:solidFill>
            <a:srgbClr val="1C2333"/>
          </a:solidFill>
          <a:ln w="6350">
            <a:solidFill>
              <a:srgbClr val="6E7681"/>
            </a:solidFill>
            <a:prstDash val="solid"/>
          </a:ln>
        </p:spPr>
      </p:sp>
      <p:sp>
        <p:nvSpPr>
          <p:cNvPr id="6" name="Text 4"/>
          <p:cNvSpPr/>
          <p:nvPr/>
        </p:nvSpPr>
        <p:spPr>
          <a:xfrm>
            <a:off x="98755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158191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8" name="Shape 6"/>
          <p:cNvSpPr/>
          <p:nvPr/>
        </p:nvSpPr>
        <p:spPr>
          <a:xfrm>
            <a:off x="1700784" y="777240"/>
            <a:ext cx="594360" cy="292608"/>
          </a:xfrm>
          <a:prstGeom prst="rect">
            <a:avLst/>
          </a:prstGeom>
          <a:solidFill>
            <a:srgbClr val="1C2333"/>
          </a:solidFill>
          <a:ln w="6350">
            <a:solidFill>
              <a:srgbClr val="6E7681"/>
            </a:solidFill>
            <a:prstDash val="solid"/>
          </a:ln>
        </p:spPr>
      </p:sp>
      <p:sp>
        <p:nvSpPr>
          <p:cNvPr id="9" name="Text 7"/>
          <p:cNvSpPr/>
          <p:nvPr/>
        </p:nvSpPr>
        <p:spPr>
          <a:xfrm>
            <a:off x="170078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3</a:t>
            </a:r>
            <a:endParaRPr lang="en-US" sz="900" dirty="0"/>
          </a:p>
        </p:txBody>
      </p:sp>
      <p:sp>
        <p:nvSpPr>
          <p:cNvPr id="10" name="Text 8"/>
          <p:cNvSpPr/>
          <p:nvPr/>
        </p:nvSpPr>
        <p:spPr>
          <a:xfrm>
            <a:off x="229514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1" name="Shape 9"/>
          <p:cNvSpPr/>
          <p:nvPr/>
        </p:nvSpPr>
        <p:spPr>
          <a:xfrm>
            <a:off x="2414016" y="777240"/>
            <a:ext cx="594360" cy="292608"/>
          </a:xfrm>
          <a:prstGeom prst="rect">
            <a:avLst/>
          </a:prstGeom>
          <a:solidFill>
            <a:srgbClr val="1C2333"/>
          </a:solidFill>
          <a:ln w="6350">
            <a:solidFill>
              <a:srgbClr val="6E7681"/>
            </a:solidFill>
            <a:prstDash val="solid"/>
          </a:ln>
        </p:spPr>
      </p:sp>
      <p:sp>
        <p:nvSpPr>
          <p:cNvPr id="12" name="Text 10"/>
          <p:cNvSpPr/>
          <p:nvPr/>
        </p:nvSpPr>
        <p:spPr>
          <a:xfrm>
            <a:off x="241401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4</a:t>
            </a:r>
            <a:endParaRPr lang="en-US" sz="900" dirty="0"/>
          </a:p>
        </p:txBody>
      </p:sp>
      <p:sp>
        <p:nvSpPr>
          <p:cNvPr id="13" name="Text 11"/>
          <p:cNvSpPr/>
          <p:nvPr/>
        </p:nvSpPr>
        <p:spPr>
          <a:xfrm>
            <a:off x="300837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4" name="Shape 12"/>
          <p:cNvSpPr/>
          <p:nvPr/>
        </p:nvSpPr>
        <p:spPr>
          <a:xfrm>
            <a:off x="3127248" y="777240"/>
            <a:ext cx="594360" cy="292608"/>
          </a:xfrm>
          <a:prstGeom prst="rect">
            <a:avLst/>
          </a:prstGeom>
          <a:solidFill>
            <a:srgbClr val="F97316"/>
          </a:solidFill>
          <a:ln w="25400">
            <a:solidFill>
              <a:srgbClr val="F97316"/>
            </a:solidFill>
            <a:prstDash val="solid"/>
          </a:ln>
        </p:spPr>
      </p:sp>
      <p:sp>
        <p:nvSpPr>
          <p:cNvPr id="15" name="Text 13"/>
          <p:cNvSpPr/>
          <p:nvPr/>
        </p:nvSpPr>
        <p:spPr>
          <a:xfrm>
            <a:off x="3127248" y="777240"/>
            <a:ext cx="594360" cy="292608"/>
          </a:xfrm>
          <a:prstGeom prst="rect">
            <a:avLst/>
          </a:prstGeom>
          <a:noFill/>
          <a:ln/>
        </p:spPr>
        <p:txBody>
          <a:bodyPr wrap="square" lIns="0" tIns="0" rIns="0" bIns="0" rtlCol="0" anchor="ctr"/>
          <a:lstStyle/>
          <a:p>
            <a:pPr algn="ctr" indent="0" marL="0">
              <a:buNone/>
            </a:pPr>
            <a:r>
              <a:rPr lang="en-US" sz="900" b="1" dirty="0">
                <a:solidFill>
                  <a:srgbClr val="0D1117"/>
                </a:solidFill>
                <a:latin typeface="Calibri" pitchFamily="34" charset="0"/>
                <a:ea typeface="Calibri" pitchFamily="34" charset="-122"/>
                <a:cs typeface="Calibri" pitchFamily="34" charset="-120"/>
              </a:rPr>
              <a:t>5</a:t>
            </a:r>
            <a:endParaRPr lang="en-US" sz="900" dirty="0"/>
          </a:p>
        </p:txBody>
      </p:sp>
      <p:sp>
        <p:nvSpPr>
          <p:cNvPr id="16" name="Text 14"/>
          <p:cNvSpPr/>
          <p:nvPr/>
        </p:nvSpPr>
        <p:spPr>
          <a:xfrm>
            <a:off x="372160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7" name="Shape 15"/>
          <p:cNvSpPr/>
          <p:nvPr/>
        </p:nvSpPr>
        <p:spPr>
          <a:xfrm>
            <a:off x="3840480" y="777240"/>
            <a:ext cx="594360" cy="292608"/>
          </a:xfrm>
          <a:prstGeom prst="rect">
            <a:avLst/>
          </a:prstGeom>
          <a:solidFill>
            <a:srgbClr val="1C2333"/>
          </a:solidFill>
          <a:ln w="6350">
            <a:solidFill>
              <a:srgbClr val="6E7681"/>
            </a:solidFill>
            <a:prstDash val="solid"/>
          </a:ln>
        </p:spPr>
      </p:sp>
      <p:sp>
        <p:nvSpPr>
          <p:cNvPr id="18" name="Text 16"/>
          <p:cNvSpPr/>
          <p:nvPr/>
        </p:nvSpPr>
        <p:spPr>
          <a:xfrm>
            <a:off x="384048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6</a:t>
            </a:r>
            <a:endParaRPr lang="en-US" sz="900" dirty="0"/>
          </a:p>
        </p:txBody>
      </p:sp>
      <p:sp>
        <p:nvSpPr>
          <p:cNvPr id="19" name="Text 17"/>
          <p:cNvSpPr/>
          <p:nvPr/>
        </p:nvSpPr>
        <p:spPr>
          <a:xfrm>
            <a:off x="443484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4553712" y="777240"/>
            <a:ext cx="594360" cy="292608"/>
          </a:xfrm>
          <a:prstGeom prst="rect">
            <a:avLst/>
          </a:prstGeom>
          <a:solidFill>
            <a:srgbClr val="1C2333"/>
          </a:solidFill>
          <a:ln w="6350">
            <a:solidFill>
              <a:srgbClr val="6E7681"/>
            </a:solidFill>
            <a:prstDash val="solid"/>
          </a:ln>
        </p:spPr>
      </p:sp>
      <p:sp>
        <p:nvSpPr>
          <p:cNvPr id="21" name="Text 19"/>
          <p:cNvSpPr/>
          <p:nvPr/>
        </p:nvSpPr>
        <p:spPr>
          <a:xfrm>
            <a:off x="455371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7</a:t>
            </a:r>
            <a:endParaRPr lang="en-US" sz="900" dirty="0"/>
          </a:p>
        </p:txBody>
      </p:sp>
      <p:sp>
        <p:nvSpPr>
          <p:cNvPr id="22" name="Text 20"/>
          <p:cNvSpPr/>
          <p:nvPr/>
        </p:nvSpPr>
        <p:spPr>
          <a:xfrm>
            <a:off x="514807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3" name="Shape 21"/>
          <p:cNvSpPr/>
          <p:nvPr/>
        </p:nvSpPr>
        <p:spPr>
          <a:xfrm>
            <a:off x="5266944" y="777240"/>
            <a:ext cx="594360" cy="292608"/>
          </a:xfrm>
          <a:prstGeom prst="rect">
            <a:avLst/>
          </a:prstGeom>
          <a:solidFill>
            <a:srgbClr val="1C2333"/>
          </a:solidFill>
          <a:ln w="6350">
            <a:solidFill>
              <a:srgbClr val="6E7681"/>
            </a:solidFill>
            <a:prstDash val="solid"/>
          </a:ln>
        </p:spPr>
      </p:sp>
      <p:sp>
        <p:nvSpPr>
          <p:cNvPr id="24" name="Text 22"/>
          <p:cNvSpPr/>
          <p:nvPr/>
        </p:nvSpPr>
        <p:spPr>
          <a:xfrm>
            <a:off x="526694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8</a:t>
            </a:r>
            <a:endParaRPr lang="en-US" sz="900" dirty="0"/>
          </a:p>
        </p:txBody>
      </p:sp>
      <p:sp>
        <p:nvSpPr>
          <p:cNvPr id="25" name="Text 23"/>
          <p:cNvSpPr/>
          <p:nvPr/>
        </p:nvSpPr>
        <p:spPr>
          <a:xfrm>
            <a:off x="586130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6" name="Shape 24"/>
          <p:cNvSpPr/>
          <p:nvPr/>
        </p:nvSpPr>
        <p:spPr>
          <a:xfrm>
            <a:off x="5980176" y="777240"/>
            <a:ext cx="594360" cy="292608"/>
          </a:xfrm>
          <a:prstGeom prst="rect">
            <a:avLst/>
          </a:prstGeom>
          <a:solidFill>
            <a:srgbClr val="1C2333"/>
          </a:solidFill>
          <a:ln w="6350">
            <a:solidFill>
              <a:srgbClr val="6E7681"/>
            </a:solidFill>
            <a:prstDash val="solid"/>
          </a:ln>
        </p:spPr>
      </p:sp>
      <p:sp>
        <p:nvSpPr>
          <p:cNvPr id="27" name="Text 25"/>
          <p:cNvSpPr/>
          <p:nvPr/>
        </p:nvSpPr>
        <p:spPr>
          <a:xfrm>
            <a:off x="598017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9</a:t>
            </a:r>
            <a:endParaRPr lang="en-US" sz="900" dirty="0"/>
          </a:p>
        </p:txBody>
      </p:sp>
      <p:sp>
        <p:nvSpPr>
          <p:cNvPr id="28" name="Text 26"/>
          <p:cNvSpPr/>
          <p:nvPr/>
        </p:nvSpPr>
        <p:spPr>
          <a:xfrm>
            <a:off x="657453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9" name="Shape 27"/>
          <p:cNvSpPr/>
          <p:nvPr/>
        </p:nvSpPr>
        <p:spPr>
          <a:xfrm>
            <a:off x="6693408" y="777240"/>
            <a:ext cx="594360" cy="292608"/>
          </a:xfrm>
          <a:prstGeom prst="rect">
            <a:avLst/>
          </a:prstGeom>
          <a:solidFill>
            <a:srgbClr val="1C2333"/>
          </a:solidFill>
          <a:ln w="6350">
            <a:solidFill>
              <a:srgbClr val="6E7681"/>
            </a:solidFill>
            <a:prstDash val="solid"/>
          </a:ln>
        </p:spPr>
      </p:sp>
      <p:sp>
        <p:nvSpPr>
          <p:cNvPr id="30" name="Text 28"/>
          <p:cNvSpPr/>
          <p:nvPr/>
        </p:nvSpPr>
        <p:spPr>
          <a:xfrm>
            <a:off x="669340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10</a:t>
            </a:r>
            <a:endParaRPr lang="en-US" sz="900" dirty="0"/>
          </a:p>
        </p:txBody>
      </p:sp>
      <p:sp>
        <p:nvSpPr>
          <p:cNvPr id="31" name="Text 29"/>
          <p:cNvSpPr/>
          <p:nvPr/>
        </p:nvSpPr>
        <p:spPr>
          <a:xfrm>
            <a:off x="728776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2" name="Shape 30"/>
          <p:cNvSpPr/>
          <p:nvPr/>
        </p:nvSpPr>
        <p:spPr>
          <a:xfrm>
            <a:off x="7406640" y="777240"/>
            <a:ext cx="594360" cy="292608"/>
          </a:xfrm>
          <a:prstGeom prst="rect">
            <a:avLst/>
          </a:prstGeom>
          <a:solidFill>
            <a:srgbClr val="1C2333"/>
          </a:solidFill>
          <a:ln w="6350">
            <a:solidFill>
              <a:srgbClr val="6E7681"/>
            </a:solidFill>
            <a:prstDash val="solid"/>
          </a:ln>
        </p:spPr>
      </p:sp>
      <p:sp>
        <p:nvSpPr>
          <p:cNvPr id="33" name="Text 31"/>
          <p:cNvSpPr/>
          <p:nvPr/>
        </p:nvSpPr>
        <p:spPr>
          <a:xfrm>
            <a:off x="740664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11</a:t>
            </a:r>
            <a:endParaRPr lang="en-US" sz="900" dirty="0"/>
          </a:p>
        </p:txBody>
      </p:sp>
      <p:sp>
        <p:nvSpPr>
          <p:cNvPr id="34" name="Text 32"/>
          <p:cNvSpPr/>
          <p:nvPr/>
        </p:nvSpPr>
        <p:spPr>
          <a:xfrm>
            <a:off x="800100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5" name="Shape 33"/>
          <p:cNvSpPr/>
          <p:nvPr/>
        </p:nvSpPr>
        <p:spPr>
          <a:xfrm>
            <a:off x="8119872" y="777240"/>
            <a:ext cx="594360" cy="292608"/>
          </a:xfrm>
          <a:prstGeom prst="rect">
            <a:avLst/>
          </a:prstGeom>
          <a:solidFill>
            <a:srgbClr val="1C2333"/>
          </a:solidFill>
          <a:ln w="6350">
            <a:solidFill>
              <a:srgbClr val="6E7681"/>
            </a:solidFill>
            <a:prstDash val="solid"/>
          </a:ln>
        </p:spPr>
      </p:sp>
      <p:sp>
        <p:nvSpPr>
          <p:cNvPr id="36" name="Text 34"/>
          <p:cNvSpPr/>
          <p:nvPr/>
        </p:nvSpPr>
        <p:spPr>
          <a:xfrm>
            <a:off x="811987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12</a:t>
            </a:r>
            <a:endParaRPr lang="en-US" sz="900" dirty="0"/>
          </a:p>
        </p:txBody>
      </p:sp>
      <p:pic>
        <p:nvPicPr>
          <p:cNvPr id="37" name="Image 0" descr="preencoded.png">    </p:cNvPr>
          <p:cNvPicPr>
            <a:picLocks noChangeAspect="1"/>
          </p:cNvPicPr>
          <p:nvPr/>
        </p:nvPicPr>
        <p:blipFill>
          <a:blip r:embed="rId1"/>
          <a:stretch>
            <a:fillRect/>
          </a:stretch>
        </p:blipFill>
        <p:spPr>
          <a:xfrm>
            <a:off x="365760" y="1234440"/>
            <a:ext cx="411480" cy="411480"/>
          </a:xfrm>
          <a:prstGeom prst="rect">
            <a:avLst/>
          </a:prstGeom>
        </p:spPr>
      </p:pic>
      <p:sp>
        <p:nvSpPr>
          <p:cNvPr id="38" name="Text 35"/>
          <p:cNvSpPr/>
          <p:nvPr/>
        </p:nvSpPr>
        <p:spPr>
          <a:xfrm>
            <a:off x="868680" y="1234440"/>
            <a:ext cx="68580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Node 5: Gemini: Build Project Plan</a:t>
            </a:r>
            <a:endParaRPr lang="en-US" sz="2200" dirty="0"/>
          </a:p>
        </p:txBody>
      </p:sp>
      <p:sp>
        <p:nvSpPr>
          <p:cNvPr id="39" name="Text 36"/>
          <p:cNvSpPr/>
          <p:nvPr/>
        </p:nvSpPr>
        <p:spPr>
          <a:xfrm>
            <a:off x="868680" y="1664208"/>
            <a:ext cx="2743200" cy="256032"/>
          </a:xfrm>
          <a:prstGeom prst="rect">
            <a:avLst/>
          </a:prstGeom>
          <a:noFill/>
          <a:ln/>
        </p:spPr>
        <p:txBody>
          <a:bodyPr wrap="square" lIns="0" tIns="0" rIns="0" bIns="0" rtlCol="0" anchor="ctr"/>
          <a:lstStyle/>
          <a:p>
            <a:pPr indent="0" marL="0">
              <a:buNone/>
            </a:pPr>
            <a:r>
              <a:rPr lang="en-US" sz="1100" dirty="0">
                <a:solidFill>
                  <a:srgbClr val="F97316"/>
                </a:solidFill>
                <a:latin typeface="Calibri" pitchFamily="34" charset="0"/>
                <a:ea typeface="Calibri" pitchFamily="34" charset="-122"/>
                <a:cs typeface="Calibri" pitchFamily="34" charset="-120"/>
              </a:rPr>
              <a:t>HTTP Request → Gemini API</a:t>
            </a:r>
            <a:endParaRPr lang="en-US" sz="1100" dirty="0"/>
          </a:p>
        </p:txBody>
      </p:sp>
      <p:sp>
        <p:nvSpPr>
          <p:cNvPr id="40" name="Shape 37"/>
          <p:cNvSpPr/>
          <p:nvPr/>
        </p:nvSpPr>
        <p:spPr>
          <a:xfrm>
            <a:off x="365760" y="2011680"/>
            <a:ext cx="5303520" cy="1737360"/>
          </a:xfrm>
          <a:prstGeom prst="rect">
            <a:avLst/>
          </a:prstGeom>
          <a:solidFill>
            <a:srgbClr val="161B22"/>
          </a:solidFill>
          <a:ln/>
        </p:spPr>
      </p:sp>
      <p:sp>
        <p:nvSpPr>
          <p:cNvPr id="41" name="Text 38"/>
          <p:cNvSpPr/>
          <p:nvPr/>
        </p:nvSpPr>
        <p:spPr>
          <a:xfrm>
            <a:off x="548640" y="2103120"/>
            <a:ext cx="2743200" cy="228600"/>
          </a:xfrm>
          <a:prstGeom prst="rect">
            <a:avLst/>
          </a:prstGeom>
          <a:noFill/>
          <a:ln/>
        </p:spPr>
        <p:txBody>
          <a:bodyPr wrap="square" lIns="0" tIns="0" rIns="0" bIns="0"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WHAT IT DOES</a:t>
            </a:r>
            <a:endParaRPr lang="en-US" sz="1000" dirty="0"/>
          </a:p>
        </p:txBody>
      </p:sp>
      <p:sp>
        <p:nvSpPr>
          <p:cNvPr id="42" name="Text 39"/>
          <p:cNvSpPr/>
          <p:nvPr/>
        </p:nvSpPr>
        <p:spPr>
          <a:xfrm>
            <a:off x="548640" y="2377440"/>
            <a:ext cx="493776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Sends crafted prompt to Gemini 2.5 Flash with service DB entry + client details</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Instructs: use ONLY exact deliverables from database — never invent new ones</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Returns structured JSON: project_title, timeline, roadmap, deliverables, SOPs, payment schedule, success metrics</a:t>
            </a:r>
            <a:endParaRPr lang="en-US" sz="1100" dirty="0"/>
          </a:p>
        </p:txBody>
      </p:sp>
      <p:sp>
        <p:nvSpPr>
          <p:cNvPr id="43" name="Shape 40"/>
          <p:cNvSpPr/>
          <p:nvPr/>
        </p:nvSpPr>
        <p:spPr>
          <a:xfrm>
            <a:off x="5943600" y="2011680"/>
            <a:ext cx="2926080" cy="1737360"/>
          </a:xfrm>
          <a:prstGeom prst="rect">
            <a:avLst/>
          </a:prstGeom>
          <a:solidFill>
            <a:srgbClr val="161B22"/>
          </a:solidFill>
          <a:ln/>
        </p:spPr>
      </p:sp>
      <p:sp>
        <p:nvSpPr>
          <p:cNvPr id="44" name="Text 41"/>
          <p:cNvSpPr/>
          <p:nvPr/>
        </p:nvSpPr>
        <p:spPr>
          <a:xfrm>
            <a:off x="6126480" y="2103120"/>
            <a:ext cx="2560320" cy="2286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DATA FLOW</a:t>
            </a:r>
            <a:endParaRPr lang="en-US" sz="1000" dirty="0"/>
          </a:p>
        </p:txBody>
      </p:sp>
      <p:sp>
        <p:nvSpPr>
          <p:cNvPr id="45" name="Text 42"/>
          <p:cNvSpPr/>
          <p:nvPr/>
        </p:nvSpPr>
        <p:spPr>
          <a:xfrm>
            <a:off x="6126480" y="2377440"/>
            <a:ext cx="365760" cy="1828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IN:</a:t>
            </a:r>
            <a:endParaRPr lang="en-US" sz="1000" dirty="0"/>
          </a:p>
        </p:txBody>
      </p:sp>
      <p:sp>
        <p:nvSpPr>
          <p:cNvPr id="46" name="Text 43"/>
          <p:cNvSpPr/>
          <p:nvPr/>
        </p:nvSpPr>
        <p:spPr>
          <a:xfrm>
            <a:off x="6492240" y="2377440"/>
            <a:ext cx="2194560" cy="45720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Merged client + service JSON</a:t>
            </a:r>
            <a:endParaRPr lang="en-US" sz="1000" dirty="0"/>
          </a:p>
        </p:txBody>
      </p:sp>
      <p:sp>
        <p:nvSpPr>
          <p:cNvPr id="47" name="Text 44"/>
          <p:cNvSpPr/>
          <p:nvPr/>
        </p:nvSpPr>
        <p:spPr>
          <a:xfrm>
            <a:off x="6126480" y="2926080"/>
            <a:ext cx="457200" cy="182880"/>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OUT:</a:t>
            </a:r>
            <a:endParaRPr lang="en-US" sz="1000" dirty="0"/>
          </a:p>
        </p:txBody>
      </p:sp>
      <p:sp>
        <p:nvSpPr>
          <p:cNvPr id="48" name="Text 45"/>
          <p:cNvSpPr/>
          <p:nvPr/>
        </p:nvSpPr>
        <p:spPr>
          <a:xfrm>
            <a:off x="6583680" y="2926080"/>
            <a:ext cx="2103120" cy="64008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Complete structured project plan as JSON</a:t>
            </a:r>
            <a:endParaRPr lang="en-US" sz="1000" dirty="0"/>
          </a:p>
        </p:txBody>
      </p:sp>
      <p:sp>
        <p:nvSpPr>
          <p:cNvPr id="49" name="Shape 46"/>
          <p:cNvSpPr/>
          <p:nvPr/>
        </p:nvSpPr>
        <p:spPr>
          <a:xfrm>
            <a:off x="365760" y="3931920"/>
            <a:ext cx="8412480" cy="685800"/>
          </a:xfrm>
          <a:prstGeom prst="rect">
            <a:avLst/>
          </a:prstGeom>
          <a:solidFill>
            <a:srgbClr val="1A1F2E"/>
          </a:solidFill>
          <a:ln w="12700">
            <a:solidFill>
              <a:srgbClr val="F97316"/>
            </a:solidFill>
            <a:prstDash val="solid"/>
          </a:ln>
        </p:spPr>
      </p:sp>
      <p:sp>
        <p:nvSpPr>
          <p:cNvPr id="50" name="Text 47"/>
          <p:cNvSpPr/>
          <p:nvPr/>
        </p:nvSpPr>
        <p:spPr>
          <a:xfrm>
            <a:off x="548640" y="3977640"/>
            <a:ext cx="1371600" cy="201168"/>
          </a:xfrm>
          <a:prstGeom prst="rect">
            <a:avLst/>
          </a:prstGeom>
          <a:noFill/>
          <a:ln/>
        </p:spPr>
        <p:txBody>
          <a:bodyPr wrap="square" lIns="0" tIns="0" rIns="0" bIns="0"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KEY INSIGHT</a:t>
            </a:r>
            <a:endParaRPr lang="en-US" sz="900" dirty="0"/>
          </a:p>
        </p:txBody>
      </p:sp>
      <p:sp>
        <p:nvSpPr>
          <p:cNvPr id="51" name="Text 48"/>
          <p:cNvSpPr/>
          <p:nvPr/>
        </p:nvSpPr>
        <p:spPr>
          <a:xfrm>
            <a:off x="548640" y="4187952"/>
            <a:ext cx="8046720" cy="38404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Temperature = 0.6 (structured, not creative). Two critical rules: (1) use EXACT deliverables from DB, (2) roadmap MUST have one entry per week.</a:t>
            </a:r>
            <a:endParaRPr lang="en-US" sz="1100" dirty="0"/>
          </a:p>
        </p:txBody>
      </p:sp>
      <p:sp>
        <p:nvSpPr>
          <p:cNvPr id="52" name="Text 49"/>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AI Architect Simulation  |  Flow A  |  Node 5 of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777240"/>
            <a:ext cx="594360" cy="292608"/>
          </a:xfrm>
          <a:prstGeom prst="rect">
            <a:avLst/>
          </a:prstGeom>
          <a:solidFill>
            <a:srgbClr val="1C2333"/>
          </a:solidFill>
          <a:ln w="6350">
            <a:solidFill>
              <a:srgbClr val="6E7681"/>
            </a:solidFill>
            <a:prstDash val="solid"/>
          </a:ln>
        </p:spPr>
      </p:sp>
      <p:sp>
        <p:nvSpPr>
          <p:cNvPr id="3" name="Text 1"/>
          <p:cNvSpPr/>
          <p:nvPr/>
        </p:nvSpPr>
        <p:spPr>
          <a:xfrm>
            <a:off x="27432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a:t>
            </a:r>
            <a:endParaRPr lang="en-US" sz="900" dirty="0"/>
          </a:p>
        </p:txBody>
      </p:sp>
      <p:sp>
        <p:nvSpPr>
          <p:cNvPr id="4" name="Text 2"/>
          <p:cNvSpPr/>
          <p:nvPr/>
        </p:nvSpPr>
        <p:spPr>
          <a:xfrm>
            <a:off x="86868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5" name="Shape 3"/>
          <p:cNvSpPr/>
          <p:nvPr/>
        </p:nvSpPr>
        <p:spPr>
          <a:xfrm>
            <a:off x="987552" y="777240"/>
            <a:ext cx="594360" cy="292608"/>
          </a:xfrm>
          <a:prstGeom prst="rect">
            <a:avLst/>
          </a:prstGeom>
          <a:solidFill>
            <a:srgbClr val="1C2333"/>
          </a:solidFill>
          <a:ln w="6350">
            <a:solidFill>
              <a:srgbClr val="6E7681"/>
            </a:solidFill>
            <a:prstDash val="solid"/>
          </a:ln>
        </p:spPr>
      </p:sp>
      <p:sp>
        <p:nvSpPr>
          <p:cNvPr id="6" name="Text 4"/>
          <p:cNvSpPr/>
          <p:nvPr/>
        </p:nvSpPr>
        <p:spPr>
          <a:xfrm>
            <a:off x="98755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158191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8" name="Shape 6"/>
          <p:cNvSpPr/>
          <p:nvPr/>
        </p:nvSpPr>
        <p:spPr>
          <a:xfrm>
            <a:off x="1700784" y="777240"/>
            <a:ext cx="594360" cy="292608"/>
          </a:xfrm>
          <a:prstGeom prst="rect">
            <a:avLst/>
          </a:prstGeom>
          <a:solidFill>
            <a:srgbClr val="1C2333"/>
          </a:solidFill>
          <a:ln w="6350">
            <a:solidFill>
              <a:srgbClr val="6E7681"/>
            </a:solidFill>
            <a:prstDash val="solid"/>
          </a:ln>
        </p:spPr>
      </p:sp>
      <p:sp>
        <p:nvSpPr>
          <p:cNvPr id="9" name="Text 7"/>
          <p:cNvSpPr/>
          <p:nvPr/>
        </p:nvSpPr>
        <p:spPr>
          <a:xfrm>
            <a:off x="170078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3</a:t>
            </a:r>
            <a:endParaRPr lang="en-US" sz="900" dirty="0"/>
          </a:p>
        </p:txBody>
      </p:sp>
      <p:sp>
        <p:nvSpPr>
          <p:cNvPr id="10" name="Text 8"/>
          <p:cNvSpPr/>
          <p:nvPr/>
        </p:nvSpPr>
        <p:spPr>
          <a:xfrm>
            <a:off x="229514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1" name="Shape 9"/>
          <p:cNvSpPr/>
          <p:nvPr/>
        </p:nvSpPr>
        <p:spPr>
          <a:xfrm>
            <a:off x="2414016" y="777240"/>
            <a:ext cx="594360" cy="292608"/>
          </a:xfrm>
          <a:prstGeom prst="rect">
            <a:avLst/>
          </a:prstGeom>
          <a:solidFill>
            <a:srgbClr val="1C2333"/>
          </a:solidFill>
          <a:ln w="6350">
            <a:solidFill>
              <a:srgbClr val="6E7681"/>
            </a:solidFill>
            <a:prstDash val="solid"/>
          </a:ln>
        </p:spPr>
      </p:sp>
      <p:sp>
        <p:nvSpPr>
          <p:cNvPr id="12" name="Text 10"/>
          <p:cNvSpPr/>
          <p:nvPr/>
        </p:nvSpPr>
        <p:spPr>
          <a:xfrm>
            <a:off x="241401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4</a:t>
            </a:r>
            <a:endParaRPr lang="en-US" sz="900" dirty="0"/>
          </a:p>
        </p:txBody>
      </p:sp>
      <p:sp>
        <p:nvSpPr>
          <p:cNvPr id="13" name="Text 11"/>
          <p:cNvSpPr/>
          <p:nvPr/>
        </p:nvSpPr>
        <p:spPr>
          <a:xfrm>
            <a:off x="300837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4" name="Shape 12"/>
          <p:cNvSpPr/>
          <p:nvPr/>
        </p:nvSpPr>
        <p:spPr>
          <a:xfrm>
            <a:off x="3127248" y="777240"/>
            <a:ext cx="594360" cy="292608"/>
          </a:xfrm>
          <a:prstGeom prst="rect">
            <a:avLst/>
          </a:prstGeom>
          <a:solidFill>
            <a:srgbClr val="1C2333"/>
          </a:solidFill>
          <a:ln w="6350">
            <a:solidFill>
              <a:srgbClr val="6E7681"/>
            </a:solidFill>
            <a:prstDash val="solid"/>
          </a:ln>
        </p:spPr>
      </p:sp>
      <p:sp>
        <p:nvSpPr>
          <p:cNvPr id="15" name="Text 13"/>
          <p:cNvSpPr/>
          <p:nvPr/>
        </p:nvSpPr>
        <p:spPr>
          <a:xfrm>
            <a:off x="312724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5</a:t>
            </a:r>
            <a:endParaRPr lang="en-US" sz="900" dirty="0"/>
          </a:p>
        </p:txBody>
      </p:sp>
      <p:sp>
        <p:nvSpPr>
          <p:cNvPr id="16" name="Text 14"/>
          <p:cNvSpPr/>
          <p:nvPr/>
        </p:nvSpPr>
        <p:spPr>
          <a:xfrm>
            <a:off x="372160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7" name="Shape 15"/>
          <p:cNvSpPr/>
          <p:nvPr/>
        </p:nvSpPr>
        <p:spPr>
          <a:xfrm>
            <a:off x="3840480" y="777240"/>
            <a:ext cx="594360" cy="292608"/>
          </a:xfrm>
          <a:prstGeom prst="rect">
            <a:avLst/>
          </a:prstGeom>
          <a:solidFill>
            <a:srgbClr val="F97316"/>
          </a:solidFill>
          <a:ln w="25400">
            <a:solidFill>
              <a:srgbClr val="F97316"/>
            </a:solidFill>
            <a:prstDash val="solid"/>
          </a:ln>
        </p:spPr>
      </p:sp>
      <p:sp>
        <p:nvSpPr>
          <p:cNvPr id="18" name="Text 16"/>
          <p:cNvSpPr/>
          <p:nvPr/>
        </p:nvSpPr>
        <p:spPr>
          <a:xfrm>
            <a:off x="3840480" y="777240"/>
            <a:ext cx="594360" cy="292608"/>
          </a:xfrm>
          <a:prstGeom prst="rect">
            <a:avLst/>
          </a:prstGeom>
          <a:noFill/>
          <a:ln/>
        </p:spPr>
        <p:txBody>
          <a:bodyPr wrap="square" lIns="0" tIns="0" rIns="0" bIns="0" rtlCol="0" anchor="ctr"/>
          <a:lstStyle/>
          <a:p>
            <a:pPr algn="ctr" indent="0" marL="0">
              <a:buNone/>
            </a:pPr>
            <a:r>
              <a:rPr lang="en-US" sz="900" b="1" dirty="0">
                <a:solidFill>
                  <a:srgbClr val="0D1117"/>
                </a:solidFill>
                <a:latin typeface="Calibri" pitchFamily="34" charset="0"/>
                <a:ea typeface="Calibri" pitchFamily="34" charset="-122"/>
                <a:cs typeface="Calibri" pitchFamily="34" charset="-120"/>
              </a:rPr>
              <a:t>6</a:t>
            </a:r>
            <a:endParaRPr lang="en-US" sz="900" dirty="0"/>
          </a:p>
        </p:txBody>
      </p:sp>
      <p:sp>
        <p:nvSpPr>
          <p:cNvPr id="19" name="Text 17"/>
          <p:cNvSpPr/>
          <p:nvPr/>
        </p:nvSpPr>
        <p:spPr>
          <a:xfrm>
            <a:off x="443484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4553712" y="777240"/>
            <a:ext cx="594360" cy="292608"/>
          </a:xfrm>
          <a:prstGeom prst="rect">
            <a:avLst/>
          </a:prstGeom>
          <a:solidFill>
            <a:srgbClr val="1C2333"/>
          </a:solidFill>
          <a:ln w="6350">
            <a:solidFill>
              <a:srgbClr val="6E7681"/>
            </a:solidFill>
            <a:prstDash val="solid"/>
          </a:ln>
        </p:spPr>
      </p:sp>
      <p:sp>
        <p:nvSpPr>
          <p:cNvPr id="21" name="Text 19"/>
          <p:cNvSpPr/>
          <p:nvPr/>
        </p:nvSpPr>
        <p:spPr>
          <a:xfrm>
            <a:off x="455371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7</a:t>
            </a:r>
            <a:endParaRPr lang="en-US" sz="900" dirty="0"/>
          </a:p>
        </p:txBody>
      </p:sp>
      <p:sp>
        <p:nvSpPr>
          <p:cNvPr id="22" name="Text 20"/>
          <p:cNvSpPr/>
          <p:nvPr/>
        </p:nvSpPr>
        <p:spPr>
          <a:xfrm>
            <a:off x="514807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3" name="Shape 21"/>
          <p:cNvSpPr/>
          <p:nvPr/>
        </p:nvSpPr>
        <p:spPr>
          <a:xfrm>
            <a:off x="5266944" y="777240"/>
            <a:ext cx="594360" cy="292608"/>
          </a:xfrm>
          <a:prstGeom prst="rect">
            <a:avLst/>
          </a:prstGeom>
          <a:solidFill>
            <a:srgbClr val="1C2333"/>
          </a:solidFill>
          <a:ln w="6350">
            <a:solidFill>
              <a:srgbClr val="6E7681"/>
            </a:solidFill>
            <a:prstDash val="solid"/>
          </a:ln>
        </p:spPr>
      </p:sp>
      <p:sp>
        <p:nvSpPr>
          <p:cNvPr id="24" name="Text 22"/>
          <p:cNvSpPr/>
          <p:nvPr/>
        </p:nvSpPr>
        <p:spPr>
          <a:xfrm>
            <a:off x="526694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8</a:t>
            </a:r>
            <a:endParaRPr lang="en-US" sz="900" dirty="0"/>
          </a:p>
        </p:txBody>
      </p:sp>
      <p:sp>
        <p:nvSpPr>
          <p:cNvPr id="25" name="Text 23"/>
          <p:cNvSpPr/>
          <p:nvPr/>
        </p:nvSpPr>
        <p:spPr>
          <a:xfrm>
            <a:off x="586130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6" name="Shape 24"/>
          <p:cNvSpPr/>
          <p:nvPr/>
        </p:nvSpPr>
        <p:spPr>
          <a:xfrm>
            <a:off x="5980176" y="777240"/>
            <a:ext cx="594360" cy="292608"/>
          </a:xfrm>
          <a:prstGeom prst="rect">
            <a:avLst/>
          </a:prstGeom>
          <a:solidFill>
            <a:srgbClr val="1C2333"/>
          </a:solidFill>
          <a:ln w="6350">
            <a:solidFill>
              <a:srgbClr val="6E7681"/>
            </a:solidFill>
            <a:prstDash val="solid"/>
          </a:ln>
        </p:spPr>
      </p:sp>
      <p:sp>
        <p:nvSpPr>
          <p:cNvPr id="27" name="Text 25"/>
          <p:cNvSpPr/>
          <p:nvPr/>
        </p:nvSpPr>
        <p:spPr>
          <a:xfrm>
            <a:off x="598017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9</a:t>
            </a:r>
            <a:endParaRPr lang="en-US" sz="900" dirty="0"/>
          </a:p>
        </p:txBody>
      </p:sp>
      <p:sp>
        <p:nvSpPr>
          <p:cNvPr id="28" name="Text 26"/>
          <p:cNvSpPr/>
          <p:nvPr/>
        </p:nvSpPr>
        <p:spPr>
          <a:xfrm>
            <a:off x="657453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9" name="Shape 27"/>
          <p:cNvSpPr/>
          <p:nvPr/>
        </p:nvSpPr>
        <p:spPr>
          <a:xfrm>
            <a:off x="6693408" y="777240"/>
            <a:ext cx="594360" cy="292608"/>
          </a:xfrm>
          <a:prstGeom prst="rect">
            <a:avLst/>
          </a:prstGeom>
          <a:solidFill>
            <a:srgbClr val="1C2333"/>
          </a:solidFill>
          <a:ln w="6350">
            <a:solidFill>
              <a:srgbClr val="6E7681"/>
            </a:solidFill>
            <a:prstDash val="solid"/>
          </a:ln>
        </p:spPr>
      </p:sp>
      <p:sp>
        <p:nvSpPr>
          <p:cNvPr id="30" name="Text 28"/>
          <p:cNvSpPr/>
          <p:nvPr/>
        </p:nvSpPr>
        <p:spPr>
          <a:xfrm>
            <a:off x="669340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10</a:t>
            </a:r>
            <a:endParaRPr lang="en-US" sz="900" dirty="0"/>
          </a:p>
        </p:txBody>
      </p:sp>
      <p:sp>
        <p:nvSpPr>
          <p:cNvPr id="31" name="Text 29"/>
          <p:cNvSpPr/>
          <p:nvPr/>
        </p:nvSpPr>
        <p:spPr>
          <a:xfrm>
            <a:off x="728776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2" name="Shape 30"/>
          <p:cNvSpPr/>
          <p:nvPr/>
        </p:nvSpPr>
        <p:spPr>
          <a:xfrm>
            <a:off x="7406640" y="777240"/>
            <a:ext cx="594360" cy="292608"/>
          </a:xfrm>
          <a:prstGeom prst="rect">
            <a:avLst/>
          </a:prstGeom>
          <a:solidFill>
            <a:srgbClr val="1C2333"/>
          </a:solidFill>
          <a:ln w="6350">
            <a:solidFill>
              <a:srgbClr val="6E7681"/>
            </a:solidFill>
            <a:prstDash val="solid"/>
          </a:ln>
        </p:spPr>
      </p:sp>
      <p:sp>
        <p:nvSpPr>
          <p:cNvPr id="33" name="Text 31"/>
          <p:cNvSpPr/>
          <p:nvPr/>
        </p:nvSpPr>
        <p:spPr>
          <a:xfrm>
            <a:off x="740664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11</a:t>
            </a:r>
            <a:endParaRPr lang="en-US" sz="900" dirty="0"/>
          </a:p>
        </p:txBody>
      </p:sp>
      <p:sp>
        <p:nvSpPr>
          <p:cNvPr id="34" name="Text 32"/>
          <p:cNvSpPr/>
          <p:nvPr/>
        </p:nvSpPr>
        <p:spPr>
          <a:xfrm>
            <a:off x="800100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5" name="Shape 33"/>
          <p:cNvSpPr/>
          <p:nvPr/>
        </p:nvSpPr>
        <p:spPr>
          <a:xfrm>
            <a:off x="8119872" y="777240"/>
            <a:ext cx="594360" cy="292608"/>
          </a:xfrm>
          <a:prstGeom prst="rect">
            <a:avLst/>
          </a:prstGeom>
          <a:solidFill>
            <a:srgbClr val="1C2333"/>
          </a:solidFill>
          <a:ln w="6350">
            <a:solidFill>
              <a:srgbClr val="6E7681"/>
            </a:solidFill>
            <a:prstDash val="solid"/>
          </a:ln>
        </p:spPr>
      </p:sp>
      <p:sp>
        <p:nvSpPr>
          <p:cNvPr id="36" name="Text 34"/>
          <p:cNvSpPr/>
          <p:nvPr/>
        </p:nvSpPr>
        <p:spPr>
          <a:xfrm>
            <a:off x="811987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12</a:t>
            </a:r>
            <a:endParaRPr lang="en-US" sz="900" dirty="0"/>
          </a:p>
        </p:txBody>
      </p:sp>
      <p:pic>
        <p:nvPicPr>
          <p:cNvPr id="37" name="Image 0" descr="preencoded.png">    </p:cNvPr>
          <p:cNvPicPr>
            <a:picLocks noChangeAspect="1"/>
          </p:cNvPicPr>
          <p:nvPr/>
        </p:nvPicPr>
        <p:blipFill>
          <a:blip r:embed="rId1"/>
          <a:stretch>
            <a:fillRect/>
          </a:stretch>
        </p:blipFill>
        <p:spPr>
          <a:xfrm>
            <a:off x="365760" y="1234440"/>
            <a:ext cx="411480" cy="411480"/>
          </a:xfrm>
          <a:prstGeom prst="rect">
            <a:avLst/>
          </a:prstGeom>
        </p:spPr>
      </p:pic>
      <p:sp>
        <p:nvSpPr>
          <p:cNvPr id="38" name="Text 35"/>
          <p:cNvSpPr/>
          <p:nvPr/>
        </p:nvSpPr>
        <p:spPr>
          <a:xfrm>
            <a:off x="868680" y="1234440"/>
            <a:ext cx="68580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Node 6: Parse Project Plan</a:t>
            </a:r>
            <a:endParaRPr lang="en-US" sz="2200" dirty="0"/>
          </a:p>
        </p:txBody>
      </p:sp>
      <p:sp>
        <p:nvSpPr>
          <p:cNvPr id="39" name="Text 36"/>
          <p:cNvSpPr/>
          <p:nvPr/>
        </p:nvSpPr>
        <p:spPr>
          <a:xfrm>
            <a:off x="868680" y="1664208"/>
            <a:ext cx="2743200" cy="256032"/>
          </a:xfrm>
          <a:prstGeom prst="rect">
            <a:avLst/>
          </a:prstGeom>
          <a:noFill/>
          <a:ln/>
        </p:spPr>
        <p:txBody>
          <a:bodyPr wrap="square" lIns="0" tIns="0" rIns="0" bIns="0" rtlCol="0" anchor="ctr"/>
          <a:lstStyle/>
          <a:p>
            <a:pPr indent="0" marL="0">
              <a:buNone/>
            </a:pPr>
            <a:r>
              <a:rPr lang="en-US" sz="1100" dirty="0">
                <a:solidFill>
                  <a:srgbClr val="F97316"/>
                </a:solidFill>
                <a:latin typeface="Calibri" pitchFamily="34" charset="0"/>
                <a:ea typeface="Calibri" pitchFamily="34" charset="-122"/>
                <a:cs typeface="Calibri" pitchFamily="34" charset="-120"/>
              </a:rPr>
              <a:t>Code Node</a:t>
            </a:r>
            <a:endParaRPr lang="en-US" sz="1100" dirty="0"/>
          </a:p>
        </p:txBody>
      </p:sp>
      <p:sp>
        <p:nvSpPr>
          <p:cNvPr id="40" name="Shape 37"/>
          <p:cNvSpPr/>
          <p:nvPr/>
        </p:nvSpPr>
        <p:spPr>
          <a:xfrm>
            <a:off x="365760" y="2011680"/>
            <a:ext cx="5303520" cy="1737360"/>
          </a:xfrm>
          <a:prstGeom prst="rect">
            <a:avLst/>
          </a:prstGeom>
          <a:solidFill>
            <a:srgbClr val="161B22"/>
          </a:solidFill>
          <a:ln/>
        </p:spPr>
      </p:sp>
      <p:sp>
        <p:nvSpPr>
          <p:cNvPr id="41" name="Text 38"/>
          <p:cNvSpPr/>
          <p:nvPr/>
        </p:nvSpPr>
        <p:spPr>
          <a:xfrm>
            <a:off x="548640" y="2103120"/>
            <a:ext cx="2743200" cy="228600"/>
          </a:xfrm>
          <a:prstGeom prst="rect">
            <a:avLst/>
          </a:prstGeom>
          <a:noFill/>
          <a:ln/>
        </p:spPr>
        <p:txBody>
          <a:bodyPr wrap="square" lIns="0" tIns="0" rIns="0" bIns="0"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WHAT IT DOES</a:t>
            </a:r>
            <a:endParaRPr lang="en-US" sz="1000" dirty="0"/>
          </a:p>
        </p:txBody>
      </p:sp>
      <p:sp>
        <p:nvSpPr>
          <p:cNvPr id="42" name="Text 39"/>
          <p:cNvSpPr/>
          <p:nvPr/>
        </p:nvSpPr>
        <p:spPr>
          <a:xfrm>
            <a:off x="548640" y="2377440"/>
            <a:ext cx="493776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Extracts JSON from Gemini response (handles markdown fences)</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Parses into JavaScript object for downstream nodes</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FALLBACK: If Gemini returns bad JSON, builds plan directly from database defaults — workflow NEVER breaks</a:t>
            </a:r>
            <a:endParaRPr lang="en-US" sz="1100" dirty="0"/>
          </a:p>
        </p:txBody>
      </p:sp>
      <p:sp>
        <p:nvSpPr>
          <p:cNvPr id="43" name="Shape 40"/>
          <p:cNvSpPr/>
          <p:nvPr/>
        </p:nvSpPr>
        <p:spPr>
          <a:xfrm>
            <a:off x="5943600" y="2011680"/>
            <a:ext cx="2926080" cy="1737360"/>
          </a:xfrm>
          <a:prstGeom prst="rect">
            <a:avLst/>
          </a:prstGeom>
          <a:solidFill>
            <a:srgbClr val="161B22"/>
          </a:solidFill>
          <a:ln/>
        </p:spPr>
      </p:sp>
      <p:sp>
        <p:nvSpPr>
          <p:cNvPr id="44" name="Text 41"/>
          <p:cNvSpPr/>
          <p:nvPr/>
        </p:nvSpPr>
        <p:spPr>
          <a:xfrm>
            <a:off x="6126480" y="2103120"/>
            <a:ext cx="2560320" cy="2286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DATA FLOW</a:t>
            </a:r>
            <a:endParaRPr lang="en-US" sz="1000" dirty="0"/>
          </a:p>
        </p:txBody>
      </p:sp>
      <p:sp>
        <p:nvSpPr>
          <p:cNvPr id="45" name="Text 42"/>
          <p:cNvSpPr/>
          <p:nvPr/>
        </p:nvSpPr>
        <p:spPr>
          <a:xfrm>
            <a:off x="6126480" y="2377440"/>
            <a:ext cx="365760" cy="1828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IN:</a:t>
            </a:r>
            <a:endParaRPr lang="en-US" sz="1000" dirty="0"/>
          </a:p>
        </p:txBody>
      </p:sp>
      <p:sp>
        <p:nvSpPr>
          <p:cNvPr id="46" name="Text 43"/>
          <p:cNvSpPr/>
          <p:nvPr/>
        </p:nvSpPr>
        <p:spPr>
          <a:xfrm>
            <a:off x="6492240" y="2377440"/>
            <a:ext cx="2194560" cy="45720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Gemini raw response</a:t>
            </a:r>
            <a:endParaRPr lang="en-US" sz="1000" dirty="0"/>
          </a:p>
        </p:txBody>
      </p:sp>
      <p:sp>
        <p:nvSpPr>
          <p:cNvPr id="47" name="Text 44"/>
          <p:cNvSpPr/>
          <p:nvPr/>
        </p:nvSpPr>
        <p:spPr>
          <a:xfrm>
            <a:off x="6126480" y="2926080"/>
            <a:ext cx="457200" cy="182880"/>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OUT:</a:t>
            </a:r>
            <a:endParaRPr lang="en-US" sz="1000" dirty="0"/>
          </a:p>
        </p:txBody>
      </p:sp>
      <p:sp>
        <p:nvSpPr>
          <p:cNvPr id="48" name="Text 45"/>
          <p:cNvSpPr/>
          <p:nvPr/>
        </p:nvSpPr>
        <p:spPr>
          <a:xfrm>
            <a:off x="6583680" y="2926080"/>
            <a:ext cx="2103120" cy="64008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Parsed plan merged with client + service data</a:t>
            </a:r>
            <a:endParaRPr lang="en-US" sz="1000" dirty="0"/>
          </a:p>
        </p:txBody>
      </p:sp>
      <p:sp>
        <p:nvSpPr>
          <p:cNvPr id="49" name="Shape 46"/>
          <p:cNvSpPr/>
          <p:nvPr/>
        </p:nvSpPr>
        <p:spPr>
          <a:xfrm>
            <a:off x="365760" y="3931920"/>
            <a:ext cx="8412480" cy="685800"/>
          </a:xfrm>
          <a:prstGeom prst="rect">
            <a:avLst/>
          </a:prstGeom>
          <a:solidFill>
            <a:srgbClr val="1A1F2E"/>
          </a:solidFill>
          <a:ln w="12700">
            <a:solidFill>
              <a:srgbClr val="F97316"/>
            </a:solidFill>
            <a:prstDash val="solid"/>
          </a:ln>
        </p:spPr>
      </p:sp>
      <p:sp>
        <p:nvSpPr>
          <p:cNvPr id="50" name="Text 47"/>
          <p:cNvSpPr/>
          <p:nvPr/>
        </p:nvSpPr>
        <p:spPr>
          <a:xfrm>
            <a:off x="548640" y="3977640"/>
            <a:ext cx="1371600" cy="201168"/>
          </a:xfrm>
          <a:prstGeom prst="rect">
            <a:avLst/>
          </a:prstGeom>
          <a:noFill/>
          <a:ln/>
        </p:spPr>
        <p:txBody>
          <a:bodyPr wrap="square" lIns="0" tIns="0" rIns="0" bIns="0"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KEY INSIGHT</a:t>
            </a:r>
            <a:endParaRPr lang="en-US" sz="900" dirty="0"/>
          </a:p>
        </p:txBody>
      </p:sp>
      <p:sp>
        <p:nvSpPr>
          <p:cNvPr id="51" name="Text 48"/>
          <p:cNvSpPr/>
          <p:nvPr/>
        </p:nvSpPr>
        <p:spPr>
          <a:xfrm>
            <a:off x="548640" y="4187952"/>
            <a:ext cx="8046720" cy="38404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 fallback separates amateur automation from production-grade. If AI fails, client still gets a professional email from DB defaults.</a:t>
            </a:r>
            <a:endParaRPr lang="en-US" sz="1100" dirty="0"/>
          </a:p>
        </p:txBody>
      </p:sp>
      <p:sp>
        <p:nvSpPr>
          <p:cNvPr id="52" name="Text 49"/>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AI Architect Simulation  |  Flow A  |  Node 6 of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777240"/>
            <a:ext cx="594360" cy="292608"/>
          </a:xfrm>
          <a:prstGeom prst="rect">
            <a:avLst/>
          </a:prstGeom>
          <a:solidFill>
            <a:srgbClr val="1C2333"/>
          </a:solidFill>
          <a:ln w="6350">
            <a:solidFill>
              <a:srgbClr val="6E7681"/>
            </a:solidFill>
            <a:prstDash val="solid"/>
          </a:ln>
        </p:spPr>
      </p:sp>
      <p:sp>
        <p:nvSpPr>
          <p:cNvPr id="3" name="Text 1"/>
          <p:cNvSpPr/>
          <p:nvPr/>
        </p:nvSpPr>
        <p:spPr>
          <a:xfrm>
            <a:off x="27432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a:t>
            </a:r>
            <a:endParaRPr lang="en-US" sz="900" dirty="0"/>
          </a:p>
        </p:txBody>
      </p:sp>
      <p:sp>
        <p:nvSpPr>
          <p:cNvPr id="4" name="Text 2"/>
          <p:cNvSpPr/>
          <p:nvPr/>
        </p:nvSpPr>
        <p:spPr>
          <a:xfrm>
            <a:off x="86868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5" name="Shape 3"/>
          <p:cNvSpPr/>
          <p:nvPr/>
        </p:nvSpPr>
        <p:spPr>
          <a:xfrm>
            <a:off x="987552" y="777240"/>
            <a:ext cx="594360" cy="292608"/>
          </a:xfrm>
          <a:prstGeom prst="rect">
            <a:avLst/>
          </a:prstGeom>
          <a:solidFill>
            <a:srgbClr val="1C2333"/>
          </a:solidFill>
          <a:ln w="6350">
            <a:solidFill>
              <a:srgbClr val="6E7681"/>
            </a:solidFill>
            <a:prstDash val="solid"/>
          </a:ln>
        </p:spPr>
      </p:sp>
      <p:sp>
        <p:nvSpPr>
          <p:cNvPr id="6" name="Text 4"/>
          <p:cNvSpPr/>
          <p:nvPr/>
        </p:nvSpPr>
        <p:spPr>
          <a:xfrm>
            <a:off x="98755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158191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8" name="Shape 6"/>
          <p:cNvSpPr/>
          <p:nvPr/>
        </p:nvSpPr>
        <p:spPr>
          <a:xfrm>
            <a:off x="1700784" y="777240"/>
            <a:ext cx="594360" cy="292608"/>
          </a:xfrm>
          <a:prstGeom prst="rect">
            <a:avLst/>
          </a:prstGeom>
          <a:solidFill>
            <a:srgbClr val="1C2333"/>
          </a:solidFill>
          <a:ln w="6350">
            <a:solidFill>
              <a:srgbClr val="6E7681"/>
            </a:solidFill>
            <a:prstDash val="solid"/>
          </a:ln>
        </p:spPr>
      </p:sp>
      <p:sp>
        <p:nvSpPr>
          <p:cNvPr id="9" name="Text 7"/>
          <p:cNvSpPr/>
          <p:nvPr/>
        </p:nvSpPr>
        <p:spPr>
          <a:xfrm>
            <a:off x="170078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3</a:t>
            </a:r>
            <a:endParaRPr lang="en-US" sz="900" dirty="0"/>
          </a:p>
        </p:txBody>
      </p:sp>
      <p:sp>
        <p:nvSpPr>
          <p:cNvPr id="10" name="Text 8"/>
          <p:cNvSpPr/>
          <p:nvPr/>
        </p:nvSpPr>
        <p:spPr>
          <a:xfrm>
            <a:off x="229514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1" name="Shape 9"/>
          <p:cNvSpPr/>
          <p:nvPr/>
        </p:nvSpPr>
        <p:spPr>
          <a:xfrm>
            <a:off x="2414016" y="777240"/>
            <a:ext cx="594360" cy="292608"/>
          </a:xfrm>
          <a:prstGeom prst="rect">
            <a:avLst/>
          </a:prstGeom>
          <a:solidFill>
            <a:srgbClr val="1C2333"/>
          </a:solidFill>
          <a:ln w="6350">
            <a:solidFill>
              <a:srgbClr val="6E7681"/>
            </a:solidFill>
            <a:prstDash val="solid"/>
          </a:ln>
        </p:spPr>
      </p:sp>
      <p:sp>
        <p:nvSpPr>
          <p:cNvPr id="12" name="Text 10"/>
          <p:cNvSpPr/>
          <p:nvPr/>
        </p:nvSpPr>
        <p:spPr>
          <a:xfrm>
            <a:off x="241401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4</a:t>
            </a:r>
            <a:endParaRPr lang="en-US" sz="900" dirty="0"/>
          </a:p>
        </p:txBody>
      </p:sp>
      <p:sp>
        <p:nvSpPr>
          <p:cNvPr id="13" name="Text 11"/>
          <p:cNvSpPr/>
          <p:nvPr/>
        </p:nvSpPr>
        <p:spPr>
          <a:xfrm>
            <a:off x="300837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4" name="Shape 12"/>
          <p:cNvSpPr/>
          <p:nvPr/>
        </p:nvSpPr>
        <p:spPr>
          <a:xfrm>
            <a:off x="3127248" y="777240"/>
            <a:ext cx="594360" cy="292608"/>
          </a:xfrm>
          <a:prstGeom prst="rect">
            <a:avLst/>
          </a:prstGeom>
          <a:solidFill>
            <a:srgbClr val="1C2333"/>
          </a:solidFill>
          <a:ln w="6350">
            <a:solidFill>
              <a:srgbClr val="6E7681"/>
            </a:solidFill>
            <a:prstDash val="solid"/>
          </a:ln>
        </p:spPr>
      </p:sp>
      <p:sp>
        <p:nvSpPr>
          <p:cNvPr id="15" name="Text 13"/>
          <p:cNvSpPr/>
          <p:nvPr/>
        </p:nvSpPr>
        <p:spPr>
          <a:xfrm>
            <a:off x="312724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5</a:t>
            </a:r>
            <a:endParaRPr lang="en-US" sz="900" dirty="0"/>
          </a:p>
        </p:txBody>
      </p:sp>
      <p:sp>
        <p:nvSpPr>
          <p:cNvPr id="16" name="Text 14"/>
          <p:cNvSpPr/>
          <p:nvPr/>
        </p:nvSpPr>
        <p:spPr>
          <a:xfrm>
            <a:off x="372160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7" name="Shape 15"/>
          <p:cNvSpPr/>
          <p:nvPr/>
        </p:nvSpPr>
        <p:spPr>
          <a:xfrm>
            <a:off x="3840480" y="777240"/>
            <a:ext cx="594360" cy="292608"/>
          </a:xfrm>
          <a:prstGeom prst="rect">
            <a:avLst/>
          </a:prstGeom>
          <a:solidFill>
            <a:srgbClr val="1C2333"/>
          </a:solidFill>
          <a:ln w="6350">
            <a:solidFill>
              <a:srgbClr val="6E7681"/>
            </a:solidFill>
            <a:prstDash val="solid"/>
          </a:ln>
        </p:spPr>
      </p:sp>
      <p:sp>
        <p:nvSpPr>
          <p:cNvPr id="18" name="Text 16"/>
          <p:cNvSpPr/>
          <p:nvPr/>
        </p:nvSpPr>
        <p:spPr>
          <a:xfrm>
            <a:off x="384048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6</a:t>
            </a:r>
            <a:endParaRPr lang="en-US" sz="900" dirty="0"/>
          </a:p>
        </p:txBody>
      </p:sp>
      <p:sp>
        <p:nvSpPr>
          <p:cNvPr id="19" name="Text 17"/>
          <p:cNvSpPr/>
          <p:nvPr/>
        </p:nvSpPr>
        <p:spPr>
          <a:xfrm>
            <a:off x="443484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4553712" y="777240"/>
            <a:ext cx="594360" cy="292608"/>
          </a:xfrm>
          <a:prstGeom prst="rect">
            <a:avLst/>
          </a:prstGeom>
          <a:solidFill>
            <a:srgbClr val="F97316"/>
          </a:solidFill>
          <a:ln w="25400">
            <a:solidFill>
              <a:srgbClr val="F97316"/>
            </a:solidFill>
            <a:prstDash val="solid"/>
          </a:ln>
        </p:spPr>
      </p:sp>
      <p:sp>
        <p:nvSpPr>
          <p:cNvPr id="21" name="Text 19"/>
          <p:cNvSpPr/>
          <p:nvPr/>
        </p:nvSpPr>
        <p:spPr>
          <a:xfrm>
            <a:off x="4553712" y="777240"/>
            <a:ext cx="594360" cy="292608"/>
          </a:xfrm>
          <a:prstGeom prst="rect">
            <a:avLst/>
          </a:prstGeom>
          <a:noFill/>
          <a:ln/>
        </p:spPr>
        <p:txBody>
          <a:bodyPr wrap="square" lIns="0" tIns="0" rIns="0" bIns="0" rtlCol="0" anchor="ctr"/>
          <a:lstStyle/>
          <a:p>
            <a:pPr algn="ctr" indent="0" marL="0">
              <a:buNone/>
            </a:pPr>
            <a:r>
              <a:rPr lang="en-US" sz="900" b="1" dirty="0">
                <a:solidFill>
                  <a:srgbClr val="0D1117"/>
                </a:solidFill>
                <a:latin typeface="Calibri" pitchFamily="34" charset="0"/>
                <a:ea typeface="Calibri" pitchFamily="34" charset="-122"/>
                <a:cs typeface="Calibri" pitchFamily="34" charset="-120"/>
              </a:rPr>
              <a:t>7</a:t>
            </a:r>
            <a:endParaRPr lang="en-US" sz="900" dirty="0"/>
          </a:p>
        </p:txBody>
      </p:sp>
      <p:sp>
        <p:nvSpPr>
          <p:cNvPr id="22" name="Text 20"/>
          <p:cNvSpPr/>
          <p:nvPr/>
        </p:nvSpPr>
        <p:spPr>
          <a:xfrm>
            <a:off x="514807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3" name="Shape 21"/>
          <p:cNvSpPr/>
          <p:nvPr/>
        </p:nvSpPr>
        <p:spPr>
          <a:xfrm>
            <a:off x="5266944" y="777240"/>
            <a:ext cx="594360" cy="292608"/>
          </a:xfrm>
          <a:prstGeom prst="rect">
            <a:avLst/>
          </a:prstGeom>
          <a:solidFill>
            <a:srgbClr val="1C2333"/>
          </a:solidFill>
          <a:ln w="6350">
            <a:solidFill>
              <a:srgbClr val="6E7681"/>
            </a:solidFill>
            <a:prstDash val="solid"/>
          </a:ln>
        </p:spPr>
      </p:sp>
      <p:sp>
        <p:nvSpPr>
          <p:cNvPr id="24" name="Text 22"/>
          <p:cNvSpPr/>
          <p:nvPr/>
        </p:nvSpPr>
        <p:spPr>
          <a:xfrm>
            <a:off x="526694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8</a:t>
            </a:r>
            <a:endParaRPr lang="en-US" sz="900" dirty="0"/>
          </a:p>
        </p:txBody>
      </p:sp>
      <p:sp>
        <p:nvSpPr>
          <p:cNvPr id="25" name="Text 23"/>
          <p:cNvSpPr/>
          <p:nvPr/>
        </p:nvSpPr>
        <p:spPr>
          <a:xfrm>
            <a:off x="586130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6" name="Shape 24"/>
          <p:cNvSpPr/>
          <p:nvPr/>
        </p:nvSpPr>
        <p:spPr>
          <a:xfrm>
            <a:off x="5980176" y="777240"/>
            <a:ext cx="594360" cy="292608"/>
          </a:xfrm>
          <a:prstGeom prst="rect">
            <a:avLst/>
          </a:prstGeom>
          <a:solidFill>
            <a:srgbClr val="1C2333"/>
          </a:solidFill>
          <a:ln w="6350">
            <a:solidFill>
              <a:srgbClr val="6E7681"/>
            </a:solidFill>
            <a:prstDash val="solid"/>
          </a:ln>
        </p:spPr>
      </p:sp>
      <p:sp>
        <p:nvSpPr>
          <p:cNvPr id="27" name="Text 25"/>
          <p:cNvSpPr/>
          <p:nvPr/>
        </p:nvSpPr>
        <p:spPr>
          <a:xfrm>
            <a:off x="598017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9</a:t>
            </a:r>
            <a:endParaRPr lang="en-US" sz="900" dirty="0"/>
          </a:p>
        </p:txBody>
      </p:sp>
      <p:sp>
        <p:nvSpPr>
          <p:cNvPr id="28" name="Text 26"/>
          <p:cNvSpPr/>
          <p:nvPr/>
        </p:nvSpPr>
        <p:spPr>
          <a:xfrm>
            <a:off x="657453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9" name="Shape 27"/>
          <p:cNvSpPr/>
          <p:nvPr/>
        </p:nvSpPr>
        <p:spPr>
          <a:xfrm>
            <a:off x="6693408" y="777240"/>
            <a:ext cx="594360" cy="292608"/>
          </a:xfrm>
          <a:prstGeom prst="rect">
            <a:avLst/>
          </a:prstGeom>
          <a:solidFill>
            <a:srgbClr val="1C2333"/>
          </a:solidFill>
          <a:ln w="6350">
            <a:solidFill>
              <a:srgbClr val="6E7681"/>
            </a:solidFill>
            <a:prstDash val="solid"/>
          </a:ln>
        </p:spPr>
      </p:sp>
      <p:sp>
        <p:nvSpPr>
          <p:cNvPr id="30" name="Text 28"/>
          <p:cNvSpPr/>
          <p:nvPr/>
        </p:nvSpPr>
        <p:spPr>
          <a:xfrm>
            <a:off x="669340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10</a:t>
            </a:r>
            <a:endParaRPr lang="en-US" sz="900" dirty="0"/>
          </a:p>
        </p:txBody>
      </p:sp>
      <p:sp>
        <p:nvSpPr>
          <p:cNvPr id="31" name="Text 29"/>
          <p:cNvSpPr/>
          <p:nvPr/>
        </p:nvSpPr>
        <p:spPr>
          <a:xfrm>
            <a:off x="728776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2" name="Shape 30"/>
          <p:cNvSpPr/>
          <p:nvPr/>
        </p:nvSpPr>
        <p:spPr>
          <a:xfrm>
            <a:off x="7406640" y="777240"/>
            <a:ext cx="594360" cy="292608"/>
          </a:xfrm>
          <a:prstGeom prst="rect">
            <a:avLst/>
          </a:prstGeom>
          <a:solidFill>
            <a:srgbClr val="1C2333"/>
          </a:solidFill>
          <a:ln w="6350">
            <a:solidFill>
              <a:srgbClr val="6E7681"/>
            </a:solidFill>
            <a:prstDash val="solid"/>
          </a:ln>
        </p:spPr>
      </p:sp>
      <p:sp>
        <p:nvSpPr>
          <p:cNvPr id="33" name="Text 31"/>
          <p:cNvSpPr/>
          <p:nvPr/>
        </p:nvSpPr>
        <p:spPr>
          <a:xfrm>
            <a:off x="740664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11</a:t>
            </a:r>
            <a:endParaRPr lang="en-US" sz="900" dirty="0"/>
          </a:p>
        </p:txBody>
      </p:sp>
      <p:sp>
        <p:nvSpPr>
          <p:cNvPr id="34" name="Text 32"/>
          <p:cNvSpPr/>
          <p:nvPr/>
        </p:nvSpPr>
        <p:spPr>
          <a:xfrm>
            <a:off x="800100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5" name="Shape 33"/>
          <p:cNvSpPr/>
          <p:nvPr/>
        </p:nvSpPr>
        <p:spPr>
          <a:xfrm>
            <a:off x="8119872" y="777240"/>
            <a:ext cx="594360" cy="292608"/>
          </a:xfrm>
          <a:prstGeom prst="rect">
            <a:avLst/>
          </a:prstGeom>
          <a:solidFill>
            <a:srgbClr val="1C2333"/>
          </a:solidFill>
          <a:ln w="6350">
            <a:solidFill>
              <a:srgbClr val="6E7681"/>
            </a:solidFill>
            <a:prstDash val="solid"/>
          </a:ln>
        </p:spPr>
      </p:sp>
      <p:sp>
        <p:nvSpPr>
          <p:cNvPr id="36" name="Text 34"/>
          <p:cNvSpPr/>
          <p:nvPr/>
        </p:nvSpPr>
        <p:spPr>
          <a:xfrm>
            <a:off x="811987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12</a:t>
            </a:r>
            <a:endParaRPr lang="en-US" sz="900" dirty="0"/>
          </a:p>
        </p:txBody>
      </p:sp>
      <p:pic>
        <p:nvPicPr>
          <p:cNvPr id="37" name="Image 0" descr="preencoded.png">    </p:cNvPr>
          <p:cNvPicPr>
            <a:picLocks noChangeAspect="1"/>
          </p:cNvPicPr>
          <p:nvPr/>
        </p:nvPicPr>
        <p:blipFill>
          <a:blip r:embed="rId1"/>
          <a:stretch>
            <a:fillRect/>
          </a:stretch>
        </p:blipFill>
        <p:spPr>
          <a:xfrm>
            <a:off x="365760" y="1234440"/>
            <a:ext cx="411480" cy="411480"/>
          </a:xfrm>
          <a:prstGeom prst="rect">
            <a:avLst/>
          </a:prstGeom>
        </p:spPr>
      </p:pic>
      <p:sp>
        <p:nvSpPr>
          <p:cNvPr id="38" name="Text 35"/>
          <p:cNvSpPr/>
          <p:nvPr/>
        </p:nvSpPr>
        <p:spPr>
          <a:xfrm>
            <a:off x="868680" y="1234440"/>
            <a:ext cx="68580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Node 7: Log Client Summary</a:t>
            </a:r>
            <a:endParaRPr lang="en-US" sz="2200" dirty="0"/>
          </a:p>
        </p:txBody>
      </p:sp>
      <p:sp>
        <p:nvSpPr>
          <p:cNvPr id="39" name="Text 36"/>
          <p:cNvSpPr/>
          <p:nvPr/>
        </p:nvSpPr>
        <p:spPr>
          <a:xfrm>
            <a:off x="868680" y="1664208"/>
            <a:ext cx="2743200" cy="256032"/>
          </a:xfrm>
          <a:prstGeom prst="rect">
            <a:avLst/>
          </a:prstGeom>
          <a:noFill/>
          <a:ln/>
        </p:spPr>
        <p:txBody>
          <a:bodyPr wrap="square" lIns="0" tIns="0" rIns="0" bIns="0" rtlCol="0" anchor="ctr"/>
          <a:lstStyle/>
          <a:p>
            <a:pPr indent="0" marL="0">
              <a:buNone/>
            </a:pPr>
            <a:r>
              <a:rPr lang="en-US" sz="1100" dirty="0">
                <a:solidFill>
                  <a:srgbClr val="F97316"/>
                </a:solidFill>
                <a:latin typeface="Calibri" pitchFamily="34" charset="0"/>
                <a:ea typeface="Calibri" pitchFamily="34" charset="-122"/>
                <a:cs typeface="Calibri" pitchFamily="34" charset="-120"/>
              </a:rPr>
              <a:t>Google Sheets</a:t>
            </a:r>
            <a:endParaRPr lang="en-US" sz="1100" dirty="0"/>
          </a:p>
        </p:txBody>
      </p:sp>
      <p:sp>
        <p:nvSpPr>
          <p:cNvPr id="40" name="Shape 37"/>
          <p:cNvSpPr/>
          <p:nvPr/>
        </p:nvSpPr>
        <p:spPr>
          <a:xfrm>
            <a:off x="365760" y="2011680"/>
            <a:ext cx="5303520" cy="1737360"/>
          </a:xfrm>
          <a:prstGeom prst="rect">
            <a:avLst/>
          </a:prstGeom>
          <a:solidFill>
            <a:srgbClr val="161B22"/>
          </a:solidFill>
          <a:ln/>
        </p:spPr>
      </p:sp>
      <p:sp>
        <p:nvSpPr>
          <p:cNvPr id="41" name="Text 38"/>
          <p:cNvSpPr/>
          <p:nvPr/>
        </p:nvSpPr>
        <p:spPr>
          <a:xfrm>
            <a:off x="548640" y="2103120"/>
            <a:ext cx="2743200" cy="228600"/>
          </a:xfrm>
          <a:prstGeom prst="rect">
            <a:avLst/>
          </a:prstGeom>
          <a:noFill/>
          <a:ln/>
        </p:spPr>
        <p:txBody>
          <a:bodyPr wrap="square" lIns="0" tIns="0" rIns="0" bIns="0"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WHAT IT DOES</a:t>
            </a:r>
            <a:endParaRPr lang="en-US" sz="1000" dirty="0"/>
          </a:p>
        </p:txBody>
      </p:sp>
      <p:sp>
        <p:nvSpPr>
          <p:cNvPr id="42" name="Text 39"/>
          <p:cNvSpPr/>
          <p:nvPr/>
        </p:nvSpPr>
        <p:spPr>
          <a:xfrm>
            <a:off x="548640" y="2377440"/>
            <a:ext cx="493776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Appends one row to "Client Summary" tab</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Fields: Name, Company, Email, Service, Scope, Budget, Timeline, Start Date, Payment, Status, Timestamp</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Status set to "Welcome Email Sent" — drives Flow B follow-up logic</a:t>
            </a:r>
            <a:endParaRPr lang="en-US" sz="1100" dirty="0"/>
          </a:p>
        </p:txBody>
      </p:sp>
      <p:sp>
        <p:nvSpPr>
          <p:cNvPr id="43" name="Shape 40"/>
          <p:cNvSpPr/>
          <p:nvPr/>
        </p:nvSpPr>
        <p:spPr>
          <a:xfrm>
            <a:off x="5943600" y="2011680"/>
            <a:ext cx="2926080" cy="1737360"/>
          </a:xfrm>
          <a:prstGeom prst="rect">
            <a:avLst/>
          </a:prstGeom>
          <a:solidFill>
            <a:srgbClr val="161B22"/>
          </a:solidFill>
          <a:ln/>
        </p:spPr>
      </p:sp>
      <p:sp>
        <p:nvSpPr>
          <p:cNvPr id="44" name="Text 41"/>
          <p:cNvSpPr/>
          <p:nvPr/>
        </p:nvSpPr>
        <p:spPr>
          <a:xfrm>
            <a:off x="6126480" y="2103120"/>
            <a:ext cx="2560320" cy="2286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DATA FLOW</a:t>
            </a:r>
            <a:endParaRPr lang="en-US" sz="1000" dirty="0"/>
          </a:p>
        </p:txBody>
      </p:sp>
      <p:sp>
        <p:nvSpPr>
          <p:cNvPr id="45" name="Text 42"/>
          <p:cNvSpPr/>
          <p:nvPr/>
        </p:nvSpPr>
        <p:spPr>
          <a:xfrm>
            <a:off x="6126480" y="2377440"/>
            <a:ext cx="365760" cy="1828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IN:</a:t>
            </a:r>
            <a:endParaRPr lang="en-US" sz="1000" dirty="0"/>
          </a:p>
        </p:txBody>
      </p:sp>
      <p:sp>
        <p:nvSpPr>
          <p:cNvPr id="46" name="Text 43"/>
          <p:cNvSpPr/>
          <p:nvPr/>
        </p:nvSpPr>
        <p:spPr>
          <a:xfrm>
            <a:off x="6492240" y="2377440"/>
            <a:ext cx="2194560" cy="45720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All client + plan data</a:t>
            </a:r>
            <a:endParaRPr lang="en-US" sz="1000" dirty="0"/>
          </a:p>
        </p:txBody>
      </p:sp>
      <p:sp>
        <p:nvSpPr>
          <p:cNvPr id="47" name="Text 44"/>
          <p:cNvSpPr/>
          <p:nvPr/>
        </p:nvSpPr>
        <p:spPr>
          <a:xfrm>
            <a:off x="6126480" y="2926080"/>
            <a:ext cx="457200" cy="182880"/>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OUT:</a:t>
            </a:r>
            <a:endParaRPr lang="en-US" sz="1000" dirty="0"/>
          </a:p>
        </p:txBody>
      </p:sp>
      <p:sp>
        <p:nvSpPr>
          <p:cNvPr id="48" name="Text 45"/>
          <p:cNvSpPr/>
          <p:nvPr/>
        </p:nvSpPr>
        <p:spPr>
          <a:xfrm>
            <a:off x="6583680" y="2926080"/>
            <a:ext cx="2103120" cy="64008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Row appended confirmation</a:t>
            </a:r>
            <a:endParaRPr lang="en-US" sz="1000" dirty="0"/>
          </a:p>
        </p:txBody>
      </p:sp>
      <p:sp>
        <p:nvSpPr>
          <p:cNvPr id="49" name="Shape 46"/>
          <p:cNvSpPr/>
          <p:nvPr/>
        </p:nvSpPr>
        <p:spPr>
          <a:xfrm>
            <a:off x="365760" y="3931920"/>
            <a:ext cx="8412480" cy="685800"/>
          </a:xfrm>
          <a:prstGeom prst="rect">
            <a:avLst/>
          </a:prstGeom>
          <a:solidFill>
            <a:srgbClr val="1A1F2E"/>
          </a:solidFill>
          <a:ln w="12700">
            <a:solidFill>
              <a:srgbClr val="F97316"/>
            </a:solidFill>
            <a:prstDash val="solid"/>
          </a:ln>
        </p:spPr>
      </p:sp>
      <p:sp>
        <p:nvSpPr>
          <p:cNvPr id="50" name="Text 47"/>
          <p:cNvSpPr/>
          <p:nvPr/>
        </p:nvSpPr>
        <p:spPr>
          <a:xfrm>
            <a:off x="548640" y="3977640"/>
            <a:ext cx="1371600" cy="201168"/>
          </a:xfrm>
          <a:prstGeom prst="rect">
            <a:avLst/>
          </a:prstGeom>
          <a:noFill/>
          <a:ln/>
        </p:spPr>
        <p:txBody>
          <a:bodyPr wrap="square" lIns="0" tIns="0" rIns="0" bIns="0"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KEY INSIGHT</a:t>
            </a:r>
            <a:endParaRPr lang="en-US" sz="900" dirty="0"/>
          </a:p>
        </p:txBody>
      </p:sp>
      <p:sp>
        <p:nvSpPr>
          <p:cNvPr id="51" name="Text 48"/>
          <p:cNvSpPr/>
          <p:nvPr/>
        </p:nvSpPr>
        <p:spPr>
          <a:xfrm>
            <a:off x="548640" y="4187952"/>
            <a:ext cx="8046720" cy="38404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This is your agency CRM. Every client ever onboarded is tracked here. The Status column drives the follow-up automations.</a:t>
            </a:r>
            <a:endParaRPr lang="en-US" sz="1100" dirty="0"/>
          </a:p>
        </p:txBody>
      </p:sp>
      <p:sp>
        <p:nvSpPr>
          <p:cNvPr id="52" name="Text 49"/>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AI Architect Simulation  |  Flow A  |  Node 7 of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777240"/>
            <a:ext cx="594360" cy="292608"/>
          </a:xfrm>
          <a:prstGeom prst="rect">
            <a:avLst/>
          </a:prstGeom>
          <a:solidFill>
            <a:srgbClr val="1C2333"/>
          </a:solidFill>
          <a:ln w="6350">
            <a:solidFill>
              <a:srgbClr val="6E7681"/>
            </a:solidFill>
            <a:prstDash val="solid"/>
          </a:ln>
        </p:spPr>
      </p:sp>
      <p:sp>
        <p:nvSpPr>
          <p:cNvPr id="3" name="Text 1"/>
          <p:cNvSpPr/>
          <p:nvPr/>
        </p:nvSpPr>
        <p:spPr>
          <a:xfrm>
            <a:off x="27432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a:t>
            </a:r>
            <a:endParaRPr lang="en-US" sz="900" dirty="0"/>
          </a:p>
        </p:txBody>
      </p:sp>
      <p:sp>
        <p:nvSpPr>
          <p:cNvPr id="4" name="Text 2"/>
          <p:cNvSpPr/>
          <p:nvPr/>
        </p:nvSpPr>
        <p:spPr>
          <a:xfrm>
            <a:off x="86868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5" name="Shape 3"/>
          <p:cNvSpPr/>
          <p:nvPr/>
        </p:nvSpPr>
        <p:spPr>
          <a:xfrm>
            <a:off x="987552" y="777240"/>
            <a:ext cx="594360" cy="292608"/>
          </a:xfrm>
          <a:prstGeom prst="rect">
            <a:avLst/>
          </a:prstGeom>
          <a:solidFill>
            <a:srgbClr val="1C2333"/>
          </a:solidFill>
          <a:ln w="6350">
            <a:solidFill>
              <a:srgbClr val="6E7681"/>
            </a:solidFill>
            <a:prstDash val="solid"/>
          </a:ln>
        </p:spPr>
      </p:sp>
      <p:sp>
        <p:nvSpPr>
          <p:cNvPr id="6" name="Text 4"/>
          <p:cNvSpPr/>
          <p:nvPr/>
        </p:nvSpPr>
        <p:spPr>
          <a:xfrm>
            <a:off x="98755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158191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8" name="Shape 6"/>
          <p:cNvSpPr/>
          <p:nvPr/>
        </p:nvSpPr>
        <p:spPr>
          <a:xfrm>
            <a:off x="1700784" y="777240"/>
            <a:ext cx="594360" cy="292608"/>
          </a:xfrm>
          <a:prstGeom prst="rect">
            <a:avLst/>
          </a:prstGeom>
          <a:solidFill>
            <a:srgbClr val="1C2333"/>
          </a:solidFill>
          <a:ln w="6350">
            <a:solidFill>
              <a:srgbClr val="6E7681"/>
            </a:solidFill>
            <a:prstDash val="solid"/>
          </a:ln>
        </p:spPr>
      </p:sp>
      <p:sp>
        <p:nvSpPr>
          <p:cNvPr id="9" name="Text 7"/>
          <p:cNvSpPr/>
          <p:nvPr/>
        </p:nvSpPr>
        <p:spPr>
          <a:xfrm>
            <a:off x="170078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3</a:t>
            </a:r>
            <a:endParaRPr lang="en-US" sz="900" dirty="0"/>
          </a:p>
        </p:txBody>
      </p:sp>
      <p:sp>
        <p:nvSpPr>
          <p:cNvPr id="10" name="Text 8"/>
          <p:cNvSpPr/>
          <p:nvPr/>
        </p:nvSpPr>
        <p:spPr>
          <a:xfrm>
            <a:off x="229514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1" name="Shape 9"/>
          <p:cNvSpPr/>
          <p:nvPr/>
        </p:nvSpPr>
        <p:spPr>
          <a:xfrm>
            <a:off x="2414016" y="777240"/>
            <a:ext cx="594360" cy="292608"/>
          </a:xfrm>
          <a:prstGeom prst="rect">
            <a:avLst/>
          </a:prstGeom>
          <a:solidFill>
            <a:srgbClr val="1C2333"/>
          </a:solidFill>
          <a:ln w="6350">
            <a:solidFill>
              <a:srgbClr val="6E7681"/>
            </a:solidFill>
            <a:prstDash val="solid"/>
          </a:ln>
        </p:spPr>
      </p:sp>
      <p:sp>
        <p:nvSpPr>
          <p:cNvPr id="12" name="Text 10"/>
          <p:cNvSpPr/>
          <p:nvPr/>
        </p:nvSpPr>
        <p:spPr>
          <a:xfrm>
            <a:off x="241401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4</a:t>
            </a:r>
            <a:endParaRPr lang="en-US" sz="900" dirty="0"/>
          </a:p>
        </p:txBody>
      </p:sp>
      <p:sp>
        <p:nvSpPr>
          <p:cNvPr id="13" name="Text 11"/>
          <p:cNvSpPr/>
          <p:nvPr/>
        </p:nvSpPr>
        <p:spPr>
          <a:xfrm>
            <a:off x="300837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4" name="Shape 12"/>
          <p:cNvSpPr/>
          <p:nvPr/>
        </p:nvSpPr>
        <p:spPr>
          <a:xfrm>
            <a:off x="3127248" y="777240"/>
            <a:ext cx="594360" cy="292608"/>
          </a:xfrm>
          <a:prstGeom prst="rect">
            <a:avLst/>
          </a:prstGeom>
          <a:solidFill>
            <a:srgbClr val="1C2333"/>
          </a:solidFill>
          <a:ln w="6350">
            <a:solidFill>
              <a:srgbClr val="6E7681"/>
            </a:solidFill>
            <a:prstDash val="solid"/>
          </a:ln>
        </p:spPr>
      </p:sp>
      <p:sp>
        <p:nvSpPr>
          <p:cNvPr id="15" name="Text 13"/>
          <p:cNvSpPr/>
          <p:nvPr/>
        </p:nvSpPr>
        <p:spPr>
          <a:xfrm>
            <a:off x="312724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5</a:t>
            </a:r>
            <a:endParaRPr lang="en-US" sz="900" dirty="0"/>
          </a:p>
        </p:txBody>
      </p:sp>
      <p:sp>
        <p:nvSpPr>
          <p:cNvPr id="16" name="Text 14"/>
          <p:cNvSpPr/>
          <p:nvPr/>
        </p:nvSpPr>
        <p:spPr>
          <a:xfrm>
            <a:off x="372160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7" name="Shape 15"/>
          <p:cNvSpPr/>
          <p:nvPr/>
        </p:nvSpPr>
        <p:spPr>
          <a:xfrm>
            <a:off x="3840480" y="777240"/>
            <a:ext cx="594360" cy="292608"/>
          </a:xfrm>
          <a:prstGeom prst="rect">
            <a:avLst/>
          </a:prstGeom>
          <a:solidFill>
            <a:srgbClr val="1C2333"/>
          </a:solidFill>
          <a:ln w="6350">
            <a:solidFill>
              <a:srgbClr val="6E7681"/>
            </a:solidFill>
            <a:prstDash val="solid"/>
          </a:ln>
        </p:spPr>
      </p:sp>
      <p:sp>
        <p:nvSpPr>
          <p:cNvPr id="18" name="Text 16"/>
          <p:cNvSpPr/>
          <p:nvPr/>
        </p:nvSpPr>
        <p:spPr>
          <a:xfrm>
            <a:off x="384048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6</a:t>
            </a:r>
            <a:endParaRPr lang="en-US" sz="900" dirty="0"/>
          </a:p>
        </p:txBody>
      </p:sp>
      <p:sp>
        <p:nvSpPr>
          <p:cNvPr id="19" name="Text 17"/>
          <p:cNvSpPr/>
          <p:nvPr/>
        </p:nvSpPr>
        <p:spPr>
          <a:xfrm>
            <a:off x="443484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4553712" y="777240"/>
            <a:ext cx="594360" cy="292608"/>
          </a:xfrm>
          <a:prstGeom prst="rect">
            <a:avLst/>
          </a:prstGeom>
          <a:solidFill>
            <a:srgbClr val="1C2333"/>
          </a:solidFill>
          <a:ln w="6350">
            <a:solidFill>
              <a:srgbClr val="6E7681"/>
            </a:solidFill>
            <a:prstDash val="solid"/>
          </a:ln>
        </p:spPr>
      </p:sp>
      <p:sp>
        <p:nvSpPr>
          <p:cNvPr id="21" name="Text 19"/>
          <p:cNvSpPr/>
          <p:nvPr/>
        </p:nvSpPr>
        <p:spPr>
          <a:xfrm>
            <a:off x="455371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7</a:t>
            </a:r>
            <a:endParaRPr lang="en-US" sz="900" dirty="0"/>
          </a:p>
        </p:txBody>
      </p:sp>
      <p:sp>
        <p:nvSpPr>
          <p:cNvPr id="22" name="Text 20"/>
          <p:cNvSpPr/>
          <p:nvPr/>
        </p:nvSpPr>
        <p:spPr>
          <a:xfrm>
            <a:off x="514807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3" name="Shape 21"/>
          <p:cNvSpPr/>
          <p:nvPr/>
        </p:nvSpPr>
        <p:spPr>
          <a:xfrm>
            <a:off x="5266944" y="777240"/>
            <a:ext cx="594360" cy="292608"/>
          </a:xfrm>
          <a:prstGeom prst="rect">
            <a:avLst/>
          </a:prstGeom>
          <a:solidFill>
            <a:srgbClr val="F97316"/>
          </a:solidFill>
          <a:ln w="25400">
            <a:solidFill>
              <a:srgbClr val="F97316"/>
            </a:solidFill>
            <a:prstDash val="solid"/>
          </a:ln>
        </p:spPr>
      </p:sp>
      <p:sp>
        <p:nvSpPr>
          <p:cNvPr id="24" name="Text 22"/>
          <p:cNvSpPr/>
          <p:nvPr/>
        </p:nvSpPr>
        <p:spPr>
          <a:xfrm>
            <a:off x="5266944" y="777240"/>
            <a:ext cx="594360" cy="292608"/>
          </a:xfrm>
          <a:prstGeom prst="rect">
            <a:avLst/>
          </a:prstGeom>
          <a:noFill/>
          <a:ln/>
        </p:spPr>
        <p:txBody>
          <a:bodyPr wrap="square" lIns="0" tIns="0" rIns="0" bIns="0" rtlCol="0" anchor="ctr"/>
          <a:lstStyle/>
          <a:p>
            <a:pPr algn="ctr" indent="0" marL="0">
              <a:buNone/>
            </a:pPr>
            <a:r>
              <a:rPr lang="en-US" sz="900" b="1" dirty="0">
                <a:solidFill>
                  <a:srgbClr val="0D1117"/>
                </a:solidFill>
                <a:latin typeface="Calibri" pitchFamily="34" charset="0"/>
                <a:ea typeface="Calibri" pitchFamily="34" charset="-122"/>
                <a:cs typeface="Calibri" pitchFamily="34" charset="-120"/>
              </a:rPr>
              <a:t>8</a:t>
            </a:r>
            <a:endParaRPr lang="en-US" sz="900" dirty="0"/>
          </a:p>
        </p:txBody>
      </p:sp>
      <p:sp>
        <p:nvSpPr>
          <p:cNvPr id="25" name="Text 23"/>
          <p:cNvSpPr/>
          <p:nvPr/>
        </p:nvSpPr>
        <p:spPr>
          <a:xfrm>
            <a:off x="586130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6" name="Shape 24"/>
          <p:cNvSpPr/>
          <p:nvPr/>
        </p:nvSpPr>
        <p:spPr>
          <a:xfrm>
            <a:off x="5980176" y="777240"/>
            <a:ext cx="594360" cy="292608"/>
          </a:xfrm>
          <a:prstGeom prst="rect">
            <a:avLst/>
          </a:prstGeom>
          <a:solidFill>
            <a:srgbClr val="1C2333"/>
          </a:solidFill>
          <a:ln w="6350">
            <a:solidFill>
              <a:srgbClr val="6E7681"/>
            </a:solidFill>
            <a:prstDash val="solid"/>
          </a:ln>
        </p:spPr>
      </p:sp>
      <p:sp>
        <p:nvSpPr>
          <p:cNvPr id="27" name="Text 25"/>
          <p:cNvSpPr/>
          <p:nvPr/>
        </p:nvSpPr>
        <p:spPr>
          <a:xfrm>
            <a:off x="598017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9</a:t>
            </a:r>
            <a:endParaRPr lang="en-US" sz="900" dirty="0"/>
          </a:p>
        </p:txBody>
      </p:sp>
      <p:sp>
        <p:nvSpPr>
          <p:cNvPr id="28" name="Text 26"/>
          <p:cNvSpPr/>
          <p:nvPr/>
        </p:nvSpPr>
        <p:spPr>
          <a:xfrm>
            <a:off x="657453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9" name="Shape 27"/>
          <p:cNvSpPr/>
          <p:nvPr/>
        </p:nvSpPr>
        <p:spPr>
          <a:xfrm>
            <a:off x="6693408" y="777240"/>
            <a:ext cx="594360" cy="292608"/>
          </a:xfrm>
          <a:prstGeom prst="rect">
            <a:avLst/>
          </a:prstGeom>
          <a:solidFill>
            <a:srgbClr val="1C2333"/>
          </a:solidFill>
          <a:ln w="6350">
            <a:solidFill>
              <a:srgbClr val="6E7681"/>
            </a:solidFill>
            <a:prstDash val="solid"/>
          </a:ln>
        </p:spPr>
      </p:sp>
      <p:sp>
        <p:nvSpPr>
          <p:cNvPr id="30" name="Text 28"/>
          <p:cNvSpPr/>
          <p:nvPr/>
        </p:nvSpPr>
        <p:spPr>
          <a:xfrm>
            <a:off x="669340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10</a:t>
            </a:r>
            <a:endParaRPr lang="en-US" sz="900" dirty="0"/>
          </a:p>
        </p:txBody>
      </p:sp>
      <p:sp>
        <p:nvSpPr>
          <p:cNvPr id="31" name="Text 29"/>
          <p:cNvSpPr/>
          <p:nvPr/>
        </p:nvSpPr>
        <p:spPr>
          <a:xfrm>
            <a:off x="728776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2" name="Shape 30"/>
          <p:cNvSpPr/>
          <p:nvPr/>
        </p:nvSpPr>
        <p:spPr>
          <a:xfrm>
            <a:off x="7406640" y="777240"/>
            <a:ext cx="594360" cy="292608"/>
          </a:xfrm>
          <a:prstGeom prst="rect">
            <a:avLst/>
          </a:prstGeom>
          <a:solidFill>
            <a:srgbClr val="1C2333"/>
          </a:solidFill>
          <a:ln w="6350">
            <a:solidFill>
              <a:srgbClr val="6E7681"/>
            </a:solidFill>
            <a:prstDash val="solid"/>
          </a:ln>
        </p:spPr>
      </p:sp>
      <p:sp>
        <p:nvSpPr>
          <p:cNvPr id="33" name="Text 31"/>
          <p:cNvSpPr/>
          <p:nvPr/>
        </p:nvSpPr>
        <p:spPr>
          <a:xfrm>
            <a:off x="740664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11</a:t>
            </a:r>
            <a:endParaRPr lang="en-US" sz="900" dirty="0"/>
          </a:p>
        </p:txBody>
      </p:sp>
      <p:sp>
        <p:nvSpPr>
          <p:cNvPr id="34" name="Text 32"/>
          <p:cNvSpPr/>
          <p:nvPr/>
        </p:nvSpPr>
        <p:spPr>
          <a:xfrm>
            <a:off x="800100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5" name="Shape 33"/>
          <p:cNvSpPr/>
          <p:nvPr/>
        </p:nvSpPr>
        <p:spPr>
          <a:xfrm>
            <a:off x="8119872" y="777240"/>
            <a:ext cx="594360" cy="292608"/>
          </a:xfrm>
          <a:prstGeom prst="rect">
            <a:avLst/>
          </a:prstGeom>
          <a:solidFill>
            <a:srgbClr val="1C2333"/>
          </a:solidFill>
          <a:ln w="6350">
            <a:solidFill>
              <a:srgbClr val="6E7681"/>
            </a:solidFill>
            <a:prstDash val="solid"/>
          </a:ln>
        </p:spPr>
      </p:sp>
      <p:sp>
        <p:nvSpPr>
          <p:cNvPr id="36" name="Text 34"/>
          <p:cNvSpPr/>
          <p:nvPr/>
        </p:nvSpPr>
        <p:spPr>
          <a:xfrm>
            <a:off x="811987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12</a:t>
            </a:r>
            <a:endParaRPr lang="en-US" sz="900" dirty="0"/>
          </a:p>
        </p:txBody>
      </p:sp>
      <p:pic>
        <p:nvPicPr>
          <p:cNvPr id="37" name="Image 0" descr="preencoded.png">    </p:cNvPr>
          <p:cNvPicPr>
            <a:picLocks noChangeAspect="1"/>
          </p:cNvPicPr>
          <p:nvPr/>
        </p:nvPicPr>
        <p:blipFill>
          <a:blip r:embed="rId1"/>
          <a:stretch>
            <a:fillRect/>
          </a:stretch>
        </p:blipFill>
        <p:spPr>
          <a:xfrm>
            <a:off x="365760" y="1234440"/>
            <a:ext cx="411480" cy="411480"/>
          </a:xfrm>
          <a:prstGeom prst="rect">
            <a:avLst/>
          </a:prstGeom>
        </p:spPr>
      </p:pic>
      <p:sp>
        <p:nvSpPr>
          <p:cNvPr id="38" name="Text 35"/>
          <p:cNvSpPr/>
          <p:nvPr/>
        </p:nvSpPr>
        <p:spPr>
          <a:xfrm>
            <a:off x="868680" y="1234440"/>
            <a:ext cx="68580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Node 8: Expand Deliverables</a:t>
            </a:r>
            <a:endParaRPr lang="en-US" sz="2200" dirty="0"/>
          </a:p>
        </p:txBody>
      </p:sp>
      <p:sp>
        <p:nvSpPr>
          <p:cNvPr id="39" name="Text 36"/>
          <p:cNvSpPr/>
          <p:nvPr/>
        </p:nvSpPr>
        <p:spPr>
          <a:xfrm>
            <a:off x="868680" y="1664208"/>
            <a:ext cx="2743200" cy="256032"/>
          </a:xfrm>
          <a:prstGeom prst="rect">
            <a:avLst/>
          </a:prstGeom>
          <a:noFill/>
          <a:ln/>
        </p:spPr>
        <p:txBody>
          <a:bodyPr wrap="square" lIns="0" tIns="0" rIns="0" bIns="0" rtlCol="0" anchor="ctr"/>
          <a:lstStyle/>
          <a:p>
            <a:pPr indent="0" marL="0">
              <a:buNone/>
            </a:pPr>
            <a:r>
              <a:rPr lang="en-US" sz="1100" dirty="0">
                <a:solidFill>
                  <a:srgbClr val="F97316"/>
                </a:solidFill>
                <a:latin typeface="Calibri" pitchFamily="34" charset="0"/>
                <a:ea typeface="Calibri" pitchFamily="34" charset="-122"/>
                <a:cs typeface="Calibri" pitchFamily="34" charset="-120"/>
              </a:rPr>
              <a:t>Code Node</a:t>
            </a:r>
            <a:endParaRPr lang="en-US" sz="1100" dirty="0"/>
          </a:p>
        </p:txBody>
      </p:sp>
      <p:sp>
        <p:nvSpPr>
          <p:cNvPr id="40" name="Shape 37"/>
          <p:cNvSpPr/>
          <p:nvPr/>
        </p:nvSpPr>
        <p:spPr>
          <a:xfrm>
            <a:off x="365760" y="2011680"/>
            <a:ext cx="5303520" cy="1737360"/>
          </a:xfrm>
          <a:prstGeom prst="rect">
            <a:avLst/>
          </a:prstGeom>
          <a:solidFill>
            <a:srgbClr val="161B22"/>
          </a:solidFill>
          <a:ln/>
        </p:spPr>
      </p:sp>
      <p:sp>
        <p:nvSpPr>
          <p:cNvPr id="41" name="Text 38"/>
          <p:cNvSpPr/>
          <p:nvPr/>
        </p:nvSpPr>
        <p:spPr>
          <a:xfrm>
            <a:off x="548640" y="2103120"/>
            <a:ext cx="2743200" cy="228600"/>
          </a:xfrm>
          <a:prstGeom prst="rect">
            <a:avLst/>
          </a:prstGeom>
          <a:noFill/>
          <a:ln/>
        </p:spPr>
        <p:txBody>
          <a:bodyPr wrap="square" lIns="0" tIns="0" rIns="0" bIns="0"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WHAT IT DOES</a:t>
            </a:r>
            <a:endParaRPr lang="en-US" sz="1000" dirty="0"/>
          </a:p>
        </p:txBody>
      </p:sp>
      <p:sp>
        <p:nvSpPr>
          <p:cNvPr id="42" name="Text 39"/>
          <p:cNvSpPr/>
          <p:nvPr/>
        </p:nvSpPr>
        <p:spPr>
          <a:xfrm>
            <a:off x="548640" y="2377440"/>
            <a:ext cx="493776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Takes deliverables_with_dates array from the parsed plan</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Returns each deliverable as a SEPARATE item (10 deliverables → 10 items)</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Each item: Client, Service, Deliverable name, Due Date, Week, Owner, Status, Approval</a:t>
            </a:r>
            <a:endParaRPr lang="en-US" sz="1100" dirty="0"/>
          </a:p>
        </p:txBody>
      </p:sp>
      <p:sp>
        <p:nvSpPr>
          <p:cNvPr id="43" name="Shape 40"/>
          <p:cNvSpPr/>
          <p:nvPr/>
        </p:nvSpPr>
        <p:spPr>
          <a:xfrm>
            <a:off x="5943600" y="2011680"/>
            <a:ext cx="2926080" cy="1737360"/>
          </a:xfrm>
          <a:prstGeom prst="rect">
            <a:avLst/>
          </a:prstGeom>
          <a:solidFill>
            <a:srgbClr val="161B22"/>
          </a:solidFill>
          <a:ln/>
        </p:spPr>
      </p:sp>
      <p:sp>
        <p:nvSpPr>
          <p:cNvPr id="44" name="Text 41"/>
          <p:cNvSpPr/>
          <p:nvPr/>
        </p:nvSpPr>
        <p:spPr>
          <a:xfrm>
            <a:off x="6126480" y="2103120"/>
            <a:ext cx="2560320" cy="2286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DATA FLOW</a:t>
            </a:r>
            <a:endParaRPr lang="en-US" sz="1000" dirty="0"/>
          </a:p>
        </p:txBody>
      </p:sp>
      <p:sp>
        <p:nvSpPr>
          <p:cNvPr id="45" name="Text 42"/>
          <p:cNvSpPr/>
          <p:nvPr/>
        </p:nvSpPr>
        <p:spPr>
          <a:xfrm>
            <a:off x="6126480" y="2377440"/>
            <a:ext cx="365760" cy="1828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IN:</a:t>
            </a:r>
            <a:endParaRPr lang="en-US" sz="1000" dirty="0"/>
          </a:p>
        </p:txBody>
      </p:sp>
      <p:sp>
        <p:nvSpPr>
          <p:cNvPr id="46" name="Text 43"/>
          <p:cNvSpPr/>
          <p:nvPr/>
        </p:nvSpPr>
        <p:spPr>
          <a:xfrm>
            <a:off x="6492240" y="2377440"/>
            <a:ext cx="2194560" cy="45720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deliverables_with_dates array</a:t>
            </a:r>
            <a:endParaRPr lang="en-US" sz="1000" dirty="0"/>
          </a:p>
        </p:txBody>
      </p:sp>
      <p:sp>
        <p:nvSpPr>
          <p:cNvPr id="47" name="Text 44"/>
          <p:cNvSpPr/>
          <p:nvPr/>
        </p:nvSpPr>
        <p:spPr>
          <a:xfrm>
            <a:off x="6126480" y="2926080"/>
            <a:ext cx="457200" cy="182880"/>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OUT:</a:t>
            </a:r>
            <a:endParaRPr lang="en-US" sz="1000" dirty="0"/>
          </a:p>
        </p:txBody>
      </p:sp>
      <p:sp>
        <p:nvSpPr>
          <p:cNvPr id="48" name="Text 45"/>
          <p:cNvSpPr/>
          <p:nvPr/>
        </p:nvSpPr>
        <p:spPr>
          <a:xfrm>
            <a:off x="6583680" y="2926080"/>
            <a:ext cx="2103120" cy="64008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Multiple items — one per deliverable</a:t>
            </a:r>
            <a:endParaRPr lang="en-US" sz="1000" dirty="0"/>
          </a:p>
        </p:txBody>
      </p:sp>
      <p:sp>
        <p:nvSpPr>
          <p:cNvPr id="49" name="Shape 46"/>
          <p:cNvSpPr/>
          <p:nvPr/>
        </p:nvSpPr>
        <p:spPr>
          <a:xfrm>
            <a:off x="365760" y="3931920"/>
            <a:ext cx="8412480" cy="685800"/>
          </a:xfrm>
          <a:prstGeom prst="rect">
            <a:avLst/>
          </a:prstGeom>
          <a:solidFill>
            <a:srgbClr val="1A1F2E"/>
          </a:solidFill>
          <a:ln w="12700">
            <a:solidFill>
              <a:srgbClr val="F97316"/>
            </a:solidFill>
            <a:prstDash val="solid"/>
          </a:ln>
        </p:spPr>
      </p:sp>
      <p:sp>
        <p:nvSpPr>
          <p:cNvPr id="50" name="Text 47"/>
          <p:cNvSpPr/>
          <p:nvPr/>
        </p:nvSpPr>
        <p:spPr>
          <a:xfrm>
            <a:off x="548640" y="3977640"/>
            <a:ext cx="1371600" cy="201168"/>
          </a:xfrm>
          <a:prstGeom prst="rect">
            <a:avLst/>
          </a:prstGeom>
          <a:noFill/>
          <a:ln/>
        </p:spPr>
        <p:txBody>
          <a:bodyPr wrap="square" lIns="0" tIns="0" rIns="0" bIns="0"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KEY INSIGHT</a:t>
            </a:r>
            <a:endParaRPr lang="en-US" sz="900" dirty="0"/>
          </a:p>
        </p:txBody>
      </p:sp>
      <p:sp>
        <p:nvSpPr>
          <p:cNvPr id="51" name="Text 48"/>
          <p:cNvSpPr/>
          <p:nvPr/>
        </p:nvSpPr>
        <p:spPr>
          <a:xfrm>
            <a:off x="548640" y="4187952"/>
            <a:ext cx="8046720" cy="38404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n8n processes all items through the next node automatically. One row per deliverable in the tracker — no loops needed.</a:t>
            </a:r>
            <a:endParaRPr lang="en-US" sz="1100" dirty="0"/>
          </a:p>
        </p:txBody>
      </p:sp>
      <p:sp>
        <p:nvSpPr>
          <p:cNvPr id="52" name="Text 49"/>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AI Architect Simulation  |  Flow A  |  Node 8 of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777240"/>
            <a:ext cx="594360" cy="292608"/>
          </a:xfrm>
          <a:prstGeom prst="rect">
            <a:avLst/>
          </a:prstGeom>
          <a:solidFill>
            <a:srgbClr val="1C2333"/>
          </a:solidFill>
          <a:ln w="6350">
            <a:solidFill>
              <a:srgbClr val="6E7681"/>
            </a:solidFill>
            <a:prstDash val="solid"/>
          </a:ln>
        </p:spPr>
      </p:sp>
      <p:sp>
        <p:nvSpPr>
          <p:cNvPr id="3" name="Text 1"/>
          <p:cNvSpPr/>
          <p:nvPr/>
        </p:nvSpPr>
        <p:spPr>
          <a:xfrm>
            <a:off x="27432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a:t>
            </a:r>
            <a:endParaRPr lang="en-US" sz="900" dirty="0"/>
          </a:p>
        </p:txBody>
      </p:sp>
      <p:sp>
        <p:nvSpPr>
          <p:cNvPr id="4" name="Text 2"/>
          <p:cNvSpPr/>
          <p:nvPr/>
        </p:nvSpPr>
        <p:spPr>
          <a:xfrm>
            <a:off x="86868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5" name="Shape 3"/>
          <p:cNvSpPr/>
          <p:nvPr/>
        </p:nvSpPr>
        <p:spPr>
          <a:xfrm>
            <a:off x="987552" y="777240"/>
            <a:ext cx="594360" cy="292608"/>
          </a:xfrm>
          <a:prstGeom prst="rect">
            <a:avLst/>
          </a:prstGeom>
          <a:solidFill>
            <a:srgbClr val="1C2333"/>
          </a:solidFill>
          <a:ln w="6350">
            <a:solidFill>
              <a:srgbClr val="6E7681"/>
            </a:solidFill>
            <a:prstDash val="solid"/>
          </a:ln>
        </p:spPr>
      </p:sp>
      <p:sp>
        <p:nvSpPr>
          <p:cNvPr id="6" name="Text 4"/>
          <p:cNvSpPr/>
          <p:nvPr/>
        </p:nvSpPr>
        <p:spPr>
          <a:xfrm>
            <a:off x="98755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158191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8" name="Shape 6"/>
          <p:cNvSpPr/>
          <p:nvPr/>
        </p:nvSpPr>
        <p:spPr>
          <a:xfrm>
            <a:off x="1700784" y="777240"/>
            <a:ext cx="594360" cy="292608"/>
          </a:xfrm>
          <a:prstGeom prst="rect">
            <a:avLst/>
          </a:prstGeom>
          <a:solidFill>
            <a:srgbClr val="1C2333"/>
          </a:solidFill>
          <a:ln w="6350">
            <a:solidFill>
              <a:srgbClr val="6E7681"/>
            </a:solidFill>
            <a:prstDash val="solid"/>
          </a:ln>
        </p:spPr>
      </p:sp>
      <p:sp>
        <p:nvSpPr>
          <p:cNvPr id="9" name="Text 7"/>
          <p:cNvSpPr/>
          <p:nvPr/>
        </p:nvSpPr>
        <p:spPr>
          <a:xfrm>
            <a:off x="170078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3</a:t>
            </a:r>
            <a:endParaRPr lang="en-US" sz="900" dirty="0"/>
          </a:p>
        </p:txBody>
      </p:sp>
      <p:sp>
        <p:nvSpPr>
          <p:cNvPr id="10" name="Text 8"/>
          <p:cNvSpPr/>
          <p:nvPr/>
        </p:nvSpPr>
        <p:spPr>
          <a:xfrm>
            <a:off x="229514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1" name="Shape 9"/>
          <p:cNvSpPr/>
          <p:nvPr/>
        </p:nvSpPr>
        <p:spPr>
          <a:xfrm>
            <a:off x="2414016" y="777240"/>
            <a:ext cx="594360" cy="292608"/>
          </a:xfrm>
          <a:prstGeom prst="rect">
            <a:avLst/>
          </a:prstGeom>
          <a:solidFill>
            <a:srgbClr val="1C2333"/>
          </a:solidFill>
          <a:ln w="6350">
            <a:solidFill>
              <a:srgbClr val="6E7681"/>
            </a:solidFill>
            <a:prstDash val="solid"/>
          </a:ln>
        </p:spPr>
      </p:sp>
      <p:sp>
        <p:nvSpPr>
          <p:cNvPr id="12" name="Text 10"/>
          <p:cNvSpPr/>
          <p:nvPr/>
        </p:nvSpPr>
        <p:spPr>
          <a:xfrm>
            <a:off x="241401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4</a:t>
            </a:r>
            <a:endParaRPr lang="en-US" sz="900" dirty="0"/>
          </a:p>
        </p:txBody>
      </p:sp>
      <p:sp>
        <p:nvSpPr>
          <p:cNvPr id="13" name="Text 11"/>
          <p:cNvSpPr/>
          <p:nvPr/>
        </p:nvSpPr>
        <p:spPr>
          <a:xfrm>
            <a:off x="300837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4" name="Shape 12"/>
          <p:cNvSpPr/>
          <p:nvPr/>
        </p:nvSpPr>
        <p:spPr>
          <a:xfrm>
            <a:off x="3127248" y="777240"/>
            <a:ext cx="594360" cy="292608"/>
          </a:xfrm>
          <a:prstGeom prst="rect">
            <a:avLst/>
          </a:prstGeom>
          <a:solidFill>
            <a:srgbClr val="1C2333"/>
          </a:solidFill>
          <a:ln w="6350">
            <a:solidFill>
              <a:srgbClr val="6E7681"/>
            </a:solidFill>
            <a:prstDash val="solid"/>
          </a:ln>
        </p:spPr>
      </p:sp>
      <p:sp>
        <p:nvSpPr>
          <p:cNvPr id="15" name="Text 13"/>
          <p:cNvSpPr/>
          <p:nvPr/>
        </p:nvSpPr>
        <p:spPr>
          <a:xfrm>
            <a:off x="312724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5</a:t>
            </a:r>
            <a:endParaRPr lang="en-US" sz="900" dirty="0"/>
          </a:p>
        </p:txBody>
      </p:sp>
      <p:sp>
        <p:nvSpPr>
          <p:cNvPr id="16" name="Text 14"/>
          <p:cNvSpPr/>
          <p:nvPr/>
        </p:nvSpPr>
        <p:spPr>
          <a:xfrm>
            <a:off x="372160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7" name="Shape 15"/>
          <p:cNvSpPr/>
          <p:nvPr/>
        </p:nvSpPr>
        <p:spPr>
          <a:xfrm>
            <a:off x="3840480" y="777240"/>
            <a:ext cx="594360" cy="292608"/>
          </a:xfrm>
          <a:prstGeom prst="rect">
            <a:avLst/>
          </a:prstGeom>
          <a:solidFill>
            <a:srgbClr val="1C2333"/>
          </a:solidFill>
          <a:ln w="6350">
            <a:solidFill>
              <a:srgbClr val="6E7681"/>
            </a:solidFill>
            <a:prstDash val="solid"/>
          </a:ln>
        </p:spPr>
      </p:sp>
      <p:sp>
        <p:nvSpPr>
          <p:cNvPr id="18" name="Text 16"/>
          <p:cNvSpPr/>
          <p:nvPr/>
        </p:nvSpPr>
        <p:spPr>
          <a:xfrm>
            <a:off x="384048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6</a:t>
            </a:r>
            <a:endParaRPr lang="en-US" sz="900" dirty="0"/>
          </a:p>
        </p:txBody>
      </p:sp>
      <p:sp>
        <p:nvSpPr>
          <p:cNvPr id="19" name="Text 17"/>
          <p:cNvSpPr/>
          <p:nvPr/>
        </p:nvSpPr>
        <p:spPr>
          <a:xfrm>
            <a:off x="443484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4553712" y="777240"/>
            <a:ext cx="594360" cy="292608"/>
          </a:xfrm>
          <a:prstGeom prst="rect">
            <a:avLst/>
          </a:prstGeom>
          <a:solidFill>
            <a:srgbClr val="1C2333"/>
          </a:solidFill>
          <a:ln w="6350">
            <a:solidFill>
              <a:srgbClr val="6E7681"/>
            </a:solidFill>
            <a:prstDash val="solid"/>
          </a:ln>
        </p:spPr>
      </p:sp>
      <p:sp>
        <p:nvSpPr>
          <p:cNvPr id="21" name="Text 19"/>
          <p:cNvSpPr/>
          <p:nvPr/>
        </p:nvSpPr>
        <p:spPr>
          <a:xfrm>
            <a:off x="455371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7</a:t>
            </a:r>
            <a:endParaRPr lang="en-US" sz="900" dirty="0"/>
          </a:p>
        </p:txBody>
      </p:sp>
      <p:sp>
        <p:nvSpPr>
          <p:cNvPr id="22" name="Text 20"/>
          <p:cNvSpPr/>
          <p:nvPr/>
        </p:nvSpPr>
        <p:spPr>
          <a:xfrm>
            <a:off x="514807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3" name="Shape 21"/>
          <p:cNvSpPr/>
          <p:nvPr/>
        </p:nvSpPr>
        <p:spPr>
          <a:xfrm>
            <a:off x="5266944" y="777240"/>
            <a:ext cx="594360" cy="292608"/>
          </a:xfrm>
          <a:prstGeom prst="rect">
            <a:avLst/>
          </a:prstGeom>
          <a:solidFill>
            <a:srgbClr val="1C2333"/>
          </a:solidFill>
          <a:ln w="6350">
            <a:solidFill>
              <a:srgbClr val="6E7681"/>
            </a:solidFill>
            <a:prstDash val="solid"/>
          </a:ln>
        </p:spPr>
      </p:sp>
      <p:sp>
        <p:nvSpPr>
          <p:cNvPr id="24" name="Text 22"/>
          <p:cNvSpPr/>
          <p:nvPr/>
        </p:nvSpPr>
        <p:spPr>
          <a:xfrm>
            <a:off x="526694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8</a:t>
            </a:r>
            <a:endParaRPr lang="en-US" sz="900" dirty="0"/>
          </a:p>
        </p:txBody>
      </p:sp>
      <p:sp>
        <p:nvSpPr>
          <p:cNvPr id="25" name="Text 23"/>
          <p:cNvSpPr/>
          <p:nvPr/>
        </p:nvSpPr>
        <p:spPr>
          <a:xfrm>
            <a:off x="586130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6" name="Shape 24"/>
          <p:cNvSpPr/>
          <p:nvPr/>
        </p:nvSpPr>
        <p:spPr>
          <a:xfrm>
            <a:off x="5980176" y="777240"/>
            <a:ext cx="594360" cy="292608"/>
          </a:xfrm>
          <a:prstGeom prst="rect">
            <a:avLst/>
          </a:prstGeom>
          <a:solidFill>
            <a:srgbClr val="F97316"/>
          </a:solidFill>
          <a:ln w="25400">
            <a:solidFill>
              <a:srgbClr val="F97316"/>
            </a:solidFill>
            <a:prstDash val="solid"/>
          </a:ln>
        </p:spPr>
      </p:sp>
      <p:sp>
        <p:nvSpPr>
          <p:cNvPr id="27" name="Text 25"/>
          <p:cNvSpPr/>
          <p:nvPr/>
        </p:nvSpPr>
        <p:spPr>
          <a:xfrm>
            <a:off x="5980176" y="777240"/>
            <a:ext cx="594360" cy="292608"/>
          </a:xfrm>
          <a:prstGeom prst="rect">
            <a:avLst/>
          </a:prstGeom>
          <a:noFill/>
          <a:ln/>
        </p:spPr>
        <p:txBody>
          <a:bodyPr wrap="square" lIns="0" tIns="0" rIns="0" bIns="0" rtlCol="0" anchor="ctr"/>
          <a:lstStyle/>
          <a:p>
            <a:pPr algn="ctr" indent="0" marL="0">
              <a:buNone/>
            </a:pPr>
            <a:r>
              <a:rPr lang="en-US" sz="900" b="1" dirty="0">
                <a:solidFill>
                  <a:srgbClr val="0D1117"/>
                </a:solidFill>
                <a:latin typeface="Calibri" pitchFamily="34" charset="0"/>
                <a:ea typeface="Calibri" pitchFamily="34" charset="-122"/>
                <a:cs typeface="Calibri" pitchFamily="34" charset="-120"/>
              </a:rPr>
              <a:t>9</a:t>
            </a:r>
            <a:endParaRPr lang="en-US" sz="900" dirty="0"/>
          </a:p>
        </p:txBody>
      </p:sp>
      <p:sp>
        <p:nvSpPr>
          <p:cNvPr id="28" name="Text 26"/>
          <p:cNvSpPr/>
          <p:nvPr/>
        </p:nvSpPr>
        <p:spPr>
          <a:xfrm>
            <a:off x="657453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9" name="Shape 27"/>
          <p:cNvSpPr/>
          <p:nvPr/>
        </p:nvSpPr>
        <p:spPr>
          <a:xfrm>
            <a:off x="6693408" y="777240"/>
            <a:ext cx="594360" cy="292608"/>
          </a:xfrm>
          <a:prstGeom prst="rect">
            <a:avLst/>
          </a:prstGeom>
          <a:solidFill>
            <a:srgbClr val="1C2333"/>
          </a:solidFill>
          <a:ln w="6350">
            <a:solidFill>
              <a:srgbClr val="6E7681"/>
            </a:solidFill>
            <a:prstDash val="solid"/>
          </a:ln>
        </p:spPr>
      </p:sp>
      <p:sp>
        <p:nvSpPr>
          <p:cNvPr id="30" name="Text 28"/>
          <p:cNvSpPr/>
          <p:nvPr/>
        </p:nvSpPr>
        <p:spPr>
          <a:xfrm>
            <a:off x="669340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10</a:t>
            </a:r>
            <a:endParaRPr lang="en-US" sz="900" dirty="0"/>
          </a:p>
        </p:txBody>
      </p:sp>
      <p:sp>
        <p:nvSpPr>
          <p:cNvPr id="31" name="Text 29"/>
          <p:cNvSpPr/>
          <p:nvPr/>
        </p:nvSpPr>
        <p:spPr>
          <a:xfrm>
            <a:off x="728776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2" name="Shape 30"/>
          <p:cNvSpPr/>
          <p:nvPr/>
        </p:nvSpPr>
        <p:spPr>
          <a:xfrm>
            <a:off x="7406640" y="777240"/>
            <a:ext cx="594360" cy="292608"/>
          </a:xfrm>
          <a:prstGeom prst="rect">
            <a:avLst/>
          </a:prstGeom>
          <a:solidFill>
            <a:srgbClr val="1C2333"/>
          </a:solidFill>
          <a:ln w="6350">
            <a:solidFill>
              <a:srgbClr val="6E7681"/>
            </a:solidFill>
            <a:prstDash val="solid"/>
          </a:ln>
        </p:spPr>
      </p:sp>
      <p:sp>
        <p:nvSpPr>
          <p:cNvPr id="33" name="Text 31"/>
          <p:cNvSpPr/>
          <p:nvPr/>
        </p:nvSpPr>
        <p:spPr>
          <a:xfrm>
            <a:off x="740664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11</a:t>
            </a:r>
            <a:endParaRPr lang="en-US" sz="900" dirty="0"/>
          </a:p>
        </p:txBody>
      </p:sp>
      <p:sp>
        <p:nvSpPr>
          <p:cNvPr id="34" name="Text 32"/>
          <p:cNvSpPr/>
          <p:nvPr/>
        </p:nvSpPr>
        <p:spPr>
          <a:xfrm>
            <a:off x="800100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5" name="Shape 33"/>
          <p:cNvSpPr/>
          <p:nvPr/>
        </p:nvSpPr>
        <p:spPr>
          <a:xfrm>
            <a:off x="8119872" y="777240"/>
            <a:ext cx="594360" cy="292608"/>
          </a:xfrm>
          <a:prstGeom prst="rect">
            <a:avLst/>
          </a:prstGeom>
          <a:solidFill>
            <a:srgbClr val="1C2333"/>
          </a:solidFill>
          <a:ln w="6350">
            <a:solidFill>
              <a:srgbClr val="6E7681"/>
            </a:solidFill>
            <a:prstDash val="solid"/>
          </a:ln>
        </p:spPr>
      </p:sp>
      <p:sp>
        <p:nvSpPr>
          <p:cNvPr id="36" name="Text 34"/>
          <p:cNvSpPr/>
          <p:nvPr/>
        </p:nvSpPr>
        <p:spPr>
          <a:xfrm>
            <a:off x="811987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12</a:t>
            </a:r>
            <a:endParaRPr lang="en-US" sz="900" dirty="0"/>
          </a:p>
        </p:txBody>
      </p:sp>
      <p:pic>
        <p:nvPicPr>
          <p:cNvPr id="37" name="Image 0" descr="preencoded.png">    </p:cNvPr>
          <p:cNvPicPr>
            <a:picLocks noChangeAspect="1"/>
          </p:cNvPicPr>
          <p:nvPr/>
        </p:nvPicPr>
        <p:blipFill>
          <a:blip r:embed="rId1"/>
          <a:stretch>
            <a:fillRect/>
          </a:stretch>
        </p:blipFill>
        <p:spPr>
          <a:xfrm>
            <a:off x="365760" y="1234440"/>
            <a:ext cx="411480" cy="411480"/>
          </a:xfrm>
          <a:prstGeom prst="rect">
            <a:avLst/>
          </a:prstGeom>
        </p:spPr>
      </p:pic>
      <p:sp>
        <p:nvSpPr>
          <p:cNvPr id="38" name="Text 35"/>
          <p:cNvSpPr/>
          <p:nvPr/>
        </p:nvSpPr>
        <p:spPr>
          <a:xfrm>
            <a:off x="868680" y="1234440"/>
            <a:ext cx="68580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Node 9: Log Deliverables Tracker</a:t>
            </a:r>
            <a:endParaRPr lang="en-US" sz="2200" dirty="0"/>
          </a:p>
        </p:txBody>
      </p:sp>
      <p:sp>
        <p:nvSpPr>
          <p:cNvPr id="39" name="Text 36"/>
          <p:cNvSpPr/>
          <p:nvPr/>
        </p:nvSpPr>
        <p:spPr>
          <a:xfrm>
            <a:off x="868680" y="1664208"/>
            <a:ext cx="2743200" cy="256032"/>
          </a:xfrm>
          <a:prstGeom prst="rect">
            <a:avLst/>
          </a:prstGeom>
          <a:noFill/>
          <a:ln/>
        </p:spPr>
        <p:txBody>
          <a:bodyPr wrap="square" lIns="0" tIns="0" rIns="0" bIns="0" rtlCol="0" anchor="ctr"/>
          <a:lstStyle/>
          <a:p>
            <a:pPr indent="0" marL="0">
              <a:buNone/>
            </a:pPr>
            <a:r>
              <a:rPr lang="en-US" sz="1100" dirty="0">
                <a:solidFill>
                  <a:srgbClr val="F97316"/>
                </a:solidFill>
                <a:latin typeface="Calibri" pitchFamily="34" charset="0"/>
                <a:ea typeface="Calibri" pitchFamily="34" charset="-122"/>
                <a:cs typeface="Calibri" pitchFamily="34" charset="-120"/>
              </a:rPr>
              <a:t>Google Sheets</a:t>
            </a:r>
            <a:endParaRPr lang="en-US" sz="1100" dirty="0"/>
          </a:p>
        </p:txBody>
      </p:sp>
      <p:sp>
        <p:nvSpPr>
          <p:cNvPr id="40" name="Shape 37"/>
          <p:cNvSpPr/>
          <p:nvPr/>
        </p:nvSpPr>
        <p:spPr>
          <a:xfrm>
            <a:off x="365760" y="2011680"/>
            <a:ext cx="5303520" cy="1737360"/>
          </a:xfrm>
          <a:prstGeom prst="rect">
            <a:avLst/>
          </a:prstGeom>
          <a:solidFill>
            <a:srgbClr val="161B22"/>
          </a:solidFill>
          <a:ln/>
        </p:spPr>
      </p:sp>
      <p:sp>
        <p:nvSpPr>
          <p:cNvPr id="41" name="Text 38"/>
          <p:cNvSpPr/>
          <p:nvPr/>
        </p:nvSpPr>
        <p:spPr>
          <a:xfrm>
            <a:off x="548640" y="2103120"/>
            <a:ext cx="2743200" cy="228600"/>
          </a:xfrm>
          <a:prstGeom prst="rect">
            <a:avLst/>
          </a:prstGeom>
          <a:noFill/>
          <a:ln/>
        </p:spPr>
        <p:txBody>
          <a:bodyPr wrap="square" lIns="0" tIns="0" rIns="0" bIns="0"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WHAT IT DOES</a:t>
            </a:r>
            <a:endParaRPr lang="en-US" sz="1000" dirty="0"/>
          </a:p>
        </p:txBody>
      </p:sp>
      <p:sp>
        <p:nvSpPr>
          <p:cNvPr id="42" name="Text 39"/>
          <p:cNvSpPr/>
          <p:nvPr/>
        </p:nvSpPr>
        <p:spPr>
          <a:xfrm>
            <a:off x="548640" y="2377440"/>
            <a:ext cx="493776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Appends ALL deliverable items to "Client Projects" tab</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Each deliverable gets its own row with trackable columns</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Columns: Deliverable, Description, Due Date, Week, Owner, Status, Client Approval, Notes</a:t>
            </a:r>
            <a:endParaRPr lang="en-US" sz="1100" dirty="0"/>
          </a:p>
        </p:txBody>
      </p:sp>
      <p:sp>
        <p:nvSpPr>
          <p:cNvPr id="43" name="Shape 40"/>
          <p:cNvSpPr/>
          <p:nvPr/>
        </p:nvSpPr>
        <p:spPr>
          <a:xfrm>
            <a:off x="5943600" y="2011680"/>
            <a:ext cx="2926080" cy="1737360"/>
          </a:xfrm>
          <a:prstGeom prst="rect">
            <a:avLst/>
          </a:prstGeom>
          <a:solidFill>
            <a:srgbClr val="161B22"/>
          </a:solidFill>
          <a:ln/>
        </p:spPr>
      </p:sp>
      <p:sp>
        <p:nvSpPr>
          <p:cNvPr id="44" name="Text 41"/>
          <p:cNvSpPr/>
          <p:nvPr/>
        </p:nvSpPr>
        <p:spPr>
          <a:xfrm>
            <a:off x="6126480" y="2103120"/>
            <a:ext cx="2560320" cy="2286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DATA FLOW</a:t>
            </a:r>
            <a:endParaRPr lang="en-US" sz="1000" dirty="0"/>
          </a:p>
        </p:txBody>
      </p:sp>
      <p:sp>
        <p:nvSpPr>
          <p:cNvPr id="45" name="Text 42"/>
          <p:cNvSpPr/>
          <p:nvPr/>
        </p:nvSpPr>
        <p:spPr>
          <a:xfrm>
            <a:off x="6126480" y="2377440"/>
            <a:ext cx="365760" cy="1828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IN:</a:t>
            </a:r>
            <a:endParaRPr lang="en-US" sz="1000" dirty="0"/>
          </a:p>
        </p:txBody>
      </p:sp>
      <p:sp>
        <p:nvSpPr>
          <p:cNvPr id="46" name="Text 43"/>
          <p:cNvSpPr/>
          <p:nvPr/>
        </p:nvSpPr>
        <p:spPr>
          <a:xfrm>
            <a:off x="6492240" y="2377440"/>
            <a:ext cx="2194560" cy="45720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Multiple deliverable items</a:t>
            </a:r>
            <a:endParaRPr lang="en-US" sz="1000" dirty="0"/>
          </a:p>
        </p:txBody>
      </p:sp>
      <p:sp>
        <p:nvSpPr>
          <p:cNvPr id="47" name="Text 44"/>
          <p:cNvSpPr/>
          <p:nvPr/>
        </p:nvSpPr>
        <p:spPr>
          <a:xfrm>
            <a:off x="6126480" y="2926080"/>
            <a:ext cx="457200" cy="182880"/>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OUT:</a:t>
            </a:r>
            <a:endParaRPr lang="en-US" sz="1000" dirty="0"/>
          </a:p>
        </p:txBody>
      </p:sp>
      <p:sp>
        <p:nvSpPr>
          <p:cNvPr id="48" name="Text 45"/>
          <p:cNvSpPr/>
          <p:nvPr/>
        </p:nvSpPr>
        <p:spPr>
          <a:xfrm>
            <a:off x="6583680" y="2926080"/>
            <a:ext cx="2103120" cy="64008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All rows appended</a:t>
            </a:r>
            <a:endParaRPr lang="en-US" sz="1000" dirty="0"/>
          </a:p>
        </p:txBody>
      </p:sp>
      <p:sp>
        <p:nvSpPr>
          <p:cNvPr id="49" name="Shape 46"/>
          <p:cNvSpPr/>
          <p:nvPr/>
        </p:nvSpPr>
        <p:spPr>
          <a:xfrm>
            <a:off x="365760" y="3931920"/>
            <a:ext cx="8412480" cy="685800"/>
          </a:xfrm>
          <a:prstGeom prst="rect">
            <a:avLst/>
          </a:prstGeom>
          <a:solidFill>
            <a:srgbClr val="1A1F2E"/>
          </a:solidFill>
          <a:ln w="12700">
            <a:solidFill>
              <a:srgbClr val="F97316"/>
            </a:solidFill>
            <a:prstDash val="solid"/>
          </a:ln>
        </p:spPr>
      </p:sp>
      <p:sp>
        <p:nvSpPr>
          <p:cNvPr id="50" name="Text 47"/>
          <p:cNvSpPr/>
          <p:nvPr/>
        </p:nvSpPr>
        <p:spPr>
          <a:xfrm>
            <a:off x="548640" y="3977640"/>
            <a:ext cx="1371600" cy="201168"/>
          </a:xfrm>
          <a:prstGeom prst="rect">
            <a:avLst/>
          </a:prstGeom>
          <a:noFill/>
          <a:ln/>
        </p:spPr>
        <p:txBody>
          <a:bodyPr wrap="square" lIns="0" tIns="0" rIns="0" bIns="0"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KEY INSIGHT</a:t>
            </a:r>
            <a:endParaRPr lang="en-US" sz="900" dirty="0"/>
          </a:p>
        </p:txBody>
      </p:sp>
      <p:sp>
        <p:nvSpPr>
          <p:cNvPr id="51" name="Text 48"/>
          <p:cNvSpPr/>
          <p:nvPr/>
        </p:nvSpPr>
        <p:spPr>
          <a:xfrm>
            <a:off x="548640" y="4187952"/>
            <a:ext cx="8046720" cy="38404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This tab becomes your project management dashboard. Filter by client, sort by due date, track completion — no PM tool needed.</a:t>
            </a:r>
            <a:endParaRPr lang="en-US" sz="1100" dirty="0"/>
          </a:p>
        </p:txBody>
      </p:sp>
      <p:sp>
        <p:nvSpPr>
          <p:cNvPr id="52" name="Text 49"/>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AI Architect Simulation  |  Flow A  |  Node 9 of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777240"/>
            <a:ext cx="594360" cy="292608"/>
          </a:xfrm>
          <a:prstGeom prst="rect">
            <a:avLst/>
          </a:prstGeom>
          <a:solidFill>
            <a:srgbClr val="1C2333"/>
          </a:solidFill>
          <a:ln w="6350">
            <a:solidFill>
              <a:srgbClr val="6E7681"/>
            </a:solidFill>
            <a:prstDash val="solid"/>
          </a:ln>
        </p:spPr>
      </p:sp>
      <p:sp>
        <p:nvSpPr>
          <p:cNvPr id="3" name="Text 1"/>
          <p:cNvSpPr/>
          <p:nvPr/>
        </p:nvSpPr>
        <p:spPr>
          <a:xfrm>
            <a:off x="27432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a:t>
            </a:r>
            <a:endParaRPr lang="en-US" sz="900" dirty="0"/>
          </a:p>
        </p:txBody>
      </p:sp>
      <p:sp>
        <p:nvSpPr>
          <p:cNvPr id="4" name="Text 2"/>
          <p:cNvSpPr/>
          <p:nvPr/>
        </p:nvSpPr>
        <p:spPr>
          <a:xfrm>
            <a:off x="86868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5" name="Shape 3"/>
          <p:cNvSpPr/>
          <p:nvPr/>
        </p:nvSpPr>
        <p:spPr>
          <a:xfrm>
            <a:off x="987552" y="777240"/>
            <a:ext cx="594360" cy="292608"/>
          </a:xfrm>
          <a:prstGeom prst="rect">
            <a:avLst/>
          </a:prstGeom>
          <a:solidFill>
            <a:srgbClr val="1C2333"/>
          </a:solidFill>
          <a:ln w="6350">
            <a:solidFill>
              <a:srgbClr val="6E7681"/>
            </a:solidFill>
            <a:prstDash val="solid"/>
          </a:ln>
        </p:spPr>
      </p:sp>
      <p:sp>
        <p:nvSpPr>
          <p:cNvPr id="6" name="Text 4"/>
          <p:cNvSpPr/>
          <p:nvPr/>
        </p:nvSpPr>
        <p:spPr>
          <a:xfrm>
            <a:off x="98755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158191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8" name="Shape 6"/>
          <p:cNvSpPr/>
          <p:nvPr/>
        </p:nvSpPr>
        <p:spPr>
          <a:xfrm>
            <a:off x="1700784" y="777240"/>
            <a:ext cx="594360" cy="292608"/>
          </a:xfrm>
          <a:prstGeom prst="rect">
            <a:avLst/>
          </a:prstGeom>
          <a:solidFill>
            <a:srgbClr val="1C2333"/>
          </a:solidFill>
          <a:ln w="6350">
            <a:solidFill>
              <a:srgbClr val="6E7681"/>
            </a:solidFill>
            <a:prstDash val="solid"/>
          </a:ln>
        </p:spPr>
      </p:sp>
      <p:sp>
        <p:nvSpPr>
          <p:cNvPr id="9" name="Text 7"/>
          <p:cNvSpPr/>
          <p:nvPr/>
        </p:nvSpPr>
        <p:spPr>
          <a:xfrm>
            <a:off x="170078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3</a:t>
            </a:r>
            <a:endParaRPr lang="en-US" sz="900" dirty="0"/>
          </a:p>
        </p:txBody>
      </p:sp>
      <p:sp>
        <p:nvSpPr>
          <p:cNvPr id="10" name="Text 8"/>
          <p:cNvSpPr/>
          <p:nvPr/>
        </p:nvSpPr>
        <p:spPr>
          <a:xfrm>
            <a:off x="229514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1" name="Shape 9"/>
          <p:cNvSpPr/>
          <p:nvPr/>
        </p:nvSpPr>
        <p:spPr>
          <a:xfrm>
            <a:off x="2414016" y="777240"/>
            <a:ext cx="594360" cy="292608"/>
          </a:xfrm>
          <a:prstGeom prst="rect">
            <a:avLst/>
          </a:prstGeom>
          <a:solidFill>
            <a:srgbClr val="1C2333"/>
          </a:solidFill>
          <a:ln w="6350">
            <a:solidFill>
              <a:srgbClr val="6E7681"/>
            </a:solidFill>
            <a:prstDash val="solid"/>
          </a:ln>
        </p:spPr>
      </p:sp>
      <p:sp>
        <p:nvSpPr>
          <p:cNvPr id="12" name="Text 10"/>
          <p:cNvSpPr/>
          <p:nvPr/>
        </p:nvSpPr>
        <p:spPr>
          <a:xfrm>
            <a:off x="241401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4</a:t>
            </a:r>
            <a:endParaRPr lang="en-US" sz="900" dirty="0"/>
          </a:p>
        </p:txBody>
      </p:sp>
      <p:sp>
        <p:nvSpPr>
          <p:cNvPr id="13" name="Text 11"/>
          <p:cNvSpPr/>
          <p:nvPr/>
        </p:nvSpPr>
        <p:spPr>
          <a:xfrm>
            <a:off x="300837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4" name="Shape 12"/>
          <p:cNvSpPr/>
          <p:nvPr/>
        </p:nvSpPr>
        <p:spPr>
          <a:xfrm>
            <a:off x="3127248" y="777240"/>
            <a:ext cx="594360" cy="292608"/>
          </a:xfrm>
          <a:prstGeom prst="rect">
            <a:avLst/>
          </a:prstGeom>
          <a:solidFill>
            <a:srgbClr val="1C2333"/>
          </a:solidFill>
          <a:ln w="6350">
            <a:solidFill>
              <a:srgbClr val="6E7681"/>
            </a:solidFill>
            <a:prstDash val="solid"/>
          </a:ln>
        </p:spPr>
      </p:sp>
      <p:sp>
        <p:nvSpPr>
          <p:cNvPr id="15" name="Text 13"/>
          <p:cNvSpPr/>
          <p:nvPr/>
        </p:nvSpPr>
        <p:spPr>
          <a:xfrm>
            <a:off x="312724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5</a:t>
            </a:r>
            <a:endParaRPr lang="en-US" sz="900" dirty="0"/>
          </a:p>
        </p:txBody>
      </p:sp>
      <p:sp>
        <p:nvSpPr>
          <p:cNvPr id="16" name="Text 14"/>
          <p:cNvSpPr/>
          <p:nvPr/>
        </p:nvSpPr>
        <p:spPr>
          <a:xfrm>
            <a:off x="372160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7" name="Shape 15"/>
          <p:cNvSpPr/>
          <p:nvPr/>
        </p:nvSpPr>
        <p:spPr>
          <a:xfrm>
            <a:off x="3840480" y="777240"/>
            <a:ext cx="594360" cy="292608"/>
          </a:xfrm>
          <a:prstGeom prst="rect">
            <a:avLst/>
          </a:prstGeom>
          <a:solidFill>
            <a:srgbClr val="1C2333"/>
          </a:solidFill>
          <a:ln w="6350">
            <a:solidFill>
              <a:srgbClr val="6E7681"/>
            </a:solidFill>
            <a:prstDash val="solid"/>
          </a:ln>
        </p:spPr>
      </p:sp>
      <p:sp>
        <p:nvSpPr>
          <p:cNvPr id="18" name="Text 16"/>
          <p:cNvSpPr/>
          <p:nvPr/>
        </p:nvSpPr>
        <p:spPr>
          <a:xfrm>
            <a:off x="384048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6</a:t>
            </a:r>
            <a:endParaRPr lang="en-US" sz="900" dirty="0"/>
          </a:p>
        </p:txBody>
      </p:sp>
      <p:sp>
        <p:nvSpPr>
          <p:cNvPr id="19" name="Text 17"/>
          <p:cNvSpPr/>
          <p:nvPr/>
        </p:nvSpPr>
        <p:spPr>
          <a:xfrm>
            <a:off x="443484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4553712" y="777240"/>
            <a:ext cx="594360" cy="292608"/>
          </a:xfrm>
          <a:prstGeom prst="rect">
            <a:avLst/>
          </a:prstGeom>
          <a:solidFill>
            <a:srgbClr val="1C2333"/>
          </a:solidFill>
          <a:ln w="6350">
            <a:solidFill>
              <a:srgbClr val="6E7681"/>
            </a:solidFill>
            <a:prstDash val="solid"/>
          </a:ln>
        </p:spPr>
      </p:sp>
      <p:sp>
        <p:nvSpPr>
          <p:cNvPr id="21" name="Text 19"/>
          <p:cNvSpPr/>
          <p:nvPr/>
        </p:nvSpPr>
        <p:spPr>
          <a:xfrm>
            <a:off x="455371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7</a:t>
            </a:r>
            <a:endParaRPr lang="en-US" sz="900" dirty="0"/>
          </a:p>
        </p:txBody>
      </p:sp>
      <p:sp>
        <p:nvSpPr>
          <p:cNvPr id="22" name="Text 20"/>
          <p:cNvSpPr/>
          <p:nvPr/>
        </p:nvSpPr>
        <p:spPr>
          <a:xfrm>
            <a:off x="514807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3" name="Shape 21"/>
          <p:cNvSpPr/>
          <p:nvPr/>
        </p:nvSpPr>
        <p:spPr>
          <a:xfrm>
            <a:off x="5266944" y="777240"/>
            <a:ext cx="594360" cy="292608"/>
          </a:xfrm>
          <a:prstGeom prst="rect">
            <a:avLst/>
          </a:prstGeom>
          <a:solidFill>
            <a:srgbClr val="1C2333"/>
          </a:solidFill>
          <a:ln w="6350">
            <a:solidFill>
              <a:srgbClr val="6E7681"/>
            </a:solidFill>
            <a:prstDash val="solid"/>
          </a:ln>
        </p:spPr>
      </p:sp>
      <p:sp>
        <p:nvSpPr>
          <p:cNvPr id="24" name="Text 22"/>
          <p:cNvSpPr/>
          <p:nvPr/>
        </p:nvSpPr>
        <p:spPr>
          <a:xfrm>
            <a:off x="526694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8</a:t>
            </a:r>
            <a:endParaRPr lang="en-US" sz="900" dirty="0"/>
          </a:p>
        </p:txBody>
      </p:sp>
      <p:sp>
        <p:nvSpPr>
          <p:cNvPr id="25" name="Text 23"/>
          <p:cNvSpPr/>
          <p:nvPr/>
        </p:nvSpPr>
        <p:spPr>
          <a:xfrm>
            <a:off x="586130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6" name="Shape 24"/>
          <p:cNvSpPr/>
          <p:nvPr/>
        </p:nvSpPr>
        <p:spPr>
          <a:xfrm>
            <a:off x="5980176" y="777240"/>
            <a:ext cx="594360" cy="292608"/>
          </a:xfrm>
          <a:prstGeom prst="rect">
            <a:avLst/>
          </a:prstGeom>
          <a:solidFill>
            <a:srgbClr val="1C2333"/>
          </a:solidFill>
          <a:ln w="6350">
            <a:solidFill>
              <a:srgbClr val="6E7681"/>
            </a:solidFill>
            <a:prstDash val="solid"/>
          </a:ln>
        </p:spPr>
      </p:sp>
      <p:sp>
        <p:nvSpPr>
          <p:cNvPr id="27" name="Text 25"/>
          <p:cNvSpPr/>
          <p:nvPr/>
        </p:nvSpPr>
        <p:spPr>
          <a:xfrm>
            <a:off x="598017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9</a:t>
            </a:r>
            <a:endParaRPr lang="en-US" sz="900" dirty="0"/>
          </a:p>
        </p:txBody>
      </p:sp>
      <p:sp>
        <p:nvSpPr>
          <p:cNvPr id="28" name="Text 26"/>
          <p:cNvSpPr/>
          <p:nvPr/>
        </p:nvSpPr>
        <p:spPr>
          <a:xfrm>
            <a:off x="657453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9" name="Shape 27"/>
          <p:cNvSpPr/>
          <p:nvPr/>
        </p:nvSpPr>
        <p:spPr>
          <a:xfrm>
            <a:off x="6693408" y="777240"/>
            <a:ext cx="594360" cy="292608"/>
          </a:xfrm>
          <a:prstGeom prst="rect">
            <a:avLst/>
          </a:prstGeom>
          <a:solidFill>
            <a:srgbClr val="F97316"/>
          </a:solidFill>
          <a:ln w="25400">
            <a:solidFill>
              <a:srgbClr val="F97316"/>
            </a:solidFill>
            <a:prstDash val="solid"/>
          </a:ln>
        </p:spPr>
      </p:sp>
      <p:sp>
        <p:nvSpPr>
          <p:cNvPr id="30" name="Text 28"/>
          <p:cNvSpPr/>
          <p:nvPr/>
        </p:nvSpPr>
        <p:spPr>
          <a:xfrm>
            <a:off x="6693408" y="777240"/>
            <a:ext cx="594360" cy="292608"/>
          </a:xfrm>
          <a:prstGeom prst="rect">
            <a:avLst/>
          </a:prstGeom>
          <a:noFill/>
          <a:ln/>
        </p:spPr>
        <p:txBody>
          <a:bodyPr wrap="square" lIns="0" tIns="0" rIns="0" bIns="0" rtlCol="0" anchor="ctr"/>
          <a:lstStyle/>
          <a:p>
            <a:pPr algn="ctr" indent="0" marL="0">
              <a:buNone/>
            </a:pPr>
            <a:r>
              <a:rPr lang="en-US" sz="900" b="1" dirty="0">
                <a:solidFill>
                  <a:srgbClr val="0D1117"/>
                </a:solidFill>
                <a:latin typeface="Calibri" pitchFamily="34" charset="0"/>
                <a:ea typeface="Calibri" pitchFamily="34" charset="-122"/>
                <a:cs typeface="Calibri" pitchFamily="34" charset="-120"/>
              </a:rPr>
              <a:t>10</a:t>
            </a:r>
            <a:endParaRPr lang="en-US" sz="900" dirty="0"/>
          </a:p>
        </p:txBody>
      </p:sp>
      <p:sp>
        <p:nvSpPr>
          <p:cNvPr id="31" name="Text 29"/>
          <p:cNvSpPr/>
          <p:nvPr/>
        </p:nvSpPr>
        <p:spPr>
          <a:xfrm>
            <a:off x="728776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2" name="Shape 30"/>
          <p:cNvSpPr/>
          <p:nvPr/>
        </p:nvSpPr>
        <p:spPr>
          <a:xfrm>
            <a:off x="7406640" y="777240"/>
            <a:ext cx="594360" cy="292608"/>
          </a:xfrm>
          <a:prstGeom prst="rect">
            <a:avLst/>
          </a:prstGeom>
          <a:solidFill>
            <a:srgbClr val="1C2333"/>
          </a:solidFill>
          <a:ln w="6350">
            <a:solidFill>
              <a:srgbClr val="6E7681"/>
            </a:solidFill>
            <a:prstDash val="solid"/>
          </a:ln>
        </p:spPr>
      </p:sp>
      <p:sp>
        <p:nvSpPr>
          <p:cNvPr id="33" name="Text 31"/>
          <p:cNvSpPr/>
          <p:nvPr/>
        </p:nvSpPr>
        <p:spPr>
          <a:xfrm>
            <a:off x="740664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11</a:t>
            </a:r>
            <a:endParaRPr lang="en-US" sz="900" dirty="0"/>
          </a:p>
        </p:txBody>
      </p:sp>
      <p:sp>
        <p:nvSpPr>
          <p:cNvPr id="34" name="Text 32"/>
          <p:cNvSpPr/>
          <p:nvPr/>
        </p:nvSpPr>
        <p:spPr>
          <a:xfrm>
            <a:off x="800100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5" name="Shape 33"/>
          <p:cNvSpPr/>
          <p:nvPr/>
        </p:nvSpPr>
        <p:spPr>
          <a:xfrm>
            <a:off x="8119872" y="777240"/>
            <a:ext cx="594360" cy="292608"/>
          </a:xfrm>
          <a:prstGeom prst="rect">
            <a:avLst/>
          </a:prstGeom>
          <a:solidFill>
            <a:srgbClr val="1C2333"/>
          </a:solidFill>
          <a:ln w="6350">
            <a:solidFill>
              <a:srgbClr val="6E7681"/>
            </a:solidFill>
            <a:prstDash val="solid"/>
          </a:ln>
        </p:spPr>
      </p:sp>
      <p:sp>
        <p:nvSpPr>
          <p:cNvPr id="36" name="Text 34"/>
          <p:cNvSpPr/>
          <p:nvPr/>
        </p:nvSpPr>
        <p:spPr>
          <a:xfrm>
            <a:off x="811987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12</a:t>
            </a:r>
            <a:endParaRPr lang="en-US" sz="900" dirty="0"/>
          </a:p>
        </p:txBody>
      </p:sp>
      <p:pic>
        <p:nvPicPr>
          <p:cNvPr id="37" name="Image 0" descr="preencoded.png">    </p:cNvPr>
          <p:cNvPicPr>
            <a:picLocks noChangeAspect="1"/>
          </p:cNvPicPr>
          <p:nvPr/>
        </p:nvPicPr>
        <p:blipFill>
          <a:blip r:embed="rId1"/>
          <a:stretch>
            <a:fillRect/>
          </a:stretch>
        </p:blipFill>
        <p:spPr>
          <a:xfrm>
            <a:off x="365760" y="1234440"/>
            <a:ext cx="411480" cy="411480"/>
          </a:xfrm>
          <a:prstGeom prst="rect">
            <a:avLst/>
          </a:prstGeom>
        </p:spPr>
      </p:pic>
      <p:sp>
        <p:nvSpPr>
          <p:cNvPr id="38" name="Text 35"/>
          <p:cNvSpPr/>
          <p:nvPr/>
        </p:nvSpPr>
        <p:spPr>
          <a:xfrm>
            <a:off x="868680" y="1234440"/>
            <a:ext cx="68580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Node 10: Build HTML Client Email</a:t>
            </a:r>
            <a:endParaRPr lang="en-US" sz="2200" dirty="0"/>
          </a:p>
        </p:txBody>
      </p:sp>
      <p:sp>
        <p:nvSpPr>
          <p:cNvPr id="39" name="Text 36"/>
          <p:cNvSpPr/>
          <p:nvPr/>
        </p:nvSpPr>
        <p:spPr>
          <a:xfrm>
            <a:off x="868680" y="1664208"/>
            <a:ext cx="2743200" cy="256032"/>
          </a:xfrm>
          <a:prstGeom prst="rect">
            <a:avLst/>
          </a:prstGeom>
          <a:noFill/>
          <a:ln/>
        </p:spPr>
        <p:txBody>
          <a:bodyPr wrap="square" lIns="0" tIns="0" rIns="0" bIns="0" rtlCol="0" anchor="ctr"/>
          <a:lstStyle/>
          <a:p>
            <a:pPr indent="0" marL="0">
              <a:buNone/>
            </a:pPr>
            <a:r>
              <a:rPr lang="en-US" sz="1100" dirty="0">
                <a:solidFill>
                  <a:srgbClr val="F97316"/>
                </a:solidFill>
                <a:latin typeface="Calibri" pitchFamily="34" charset="0"/>
                <a:ea typeface="Calibri" pitchFamily="34" charset="-122"/>
                <a:cs typeface="Calibri" pitchFamily="34" charset="-120"/>
              </a:rPr>
              <a:t>Code Node</a:t>
            </a:r>
            <a:endParaRPr lang="en-US" sz="1100" dirty="0"/>
          </a:p>
        </p:txBody>
      </p:sp>
      <p:sp>
        <p:nvSpPr>
          <p:cNvPr id="40" name="Shape 37"/>
          <p:cNvSpPr/>
          <p:nvPr/>
        </p:nvSpPr>
        <p:spPr>
          <a:xfrm>
            <a:off x="365760" y="2011680"/>
            <a:ext cx="5303520" cy="1737360"/>
          </a:xfrm>
          <a:prstGeom prst="rect">
            <a:avLst/>
          </a:prstGeom>
          <a:solidFill>
            <a:srgbClr val="161B22"/>
          </a:solidFill>
          <a:ln/>
        </p:spPr>
      </p:sp>
      <p:sp>
        <p:nvSpPr>
          <p:cNvPr id="41" name="Text 38"/>
          <p:cNvSpPr/>
          <p:nvPr/>
        </p:nvSpPr>
        <p:spPr>
          <a:xfrm>
            <a:off x="548640" y="2103120"/>
            <a:ext cx="2743200" cy="228600"/>
          </a:xfrm>
          <a:prstGeom prst="rect">
            <a:avLst/>
          </a:prstGeom>
          <a:noFill/>
          <a:ln/>
        </p:spPr>
        <p:txBody>
          <a:bodyPr wrap="square" lIns="0" tIns="0" rIns="0" bIns="0"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WHAT IT DOES</a:t>
            </a:r>
            <a:endParaRPr lang="en-US" sz="1000" dirty="0"/>
          </a:p>
        </p:txBody>
      </p:sp>
      <p:sp>
        <p:nvSpPr>
          <p:cNvPr id="42" name="Text 39"/>
          <p:cNvSpPr/>
          <p:nvPr/>
        </p:nvSpPr>
        <p:spPr>
          <a:xfrm>
            <a:off x="548640" y="2377440"/>
            <a:ext cx="493776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The most complex node — generates premium dark-themed HTML email</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12 sections: Header, Project overview, Timeline roadmap, Workflow diagram, SOPs, Deliverables table, Prerequisites, Payment, Communication plan, Metrics, Warranty, CTA</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Table-based layout for email client compatibility across Gmail, Outlook, Apple Mail</a:t>
            </a:r>
            <a:endParaRPr lang="en-US" sz="1100" dirty="0"/>
          </a:p>
        </p:txBody>
      </p:sp>
      <p:sp>
        <p:nvSpPr>
          <p:cNvPr id="43" name="Shape 40"/>
          <p:cNvSpPr/>
          <p:nvPr/>
        </p:nvSpPr>
        <p:spPr>
          <a:xfrm>
            <a:off x="5943600" y="2011680"/>
            <a:ext cx="2926080" cy="1737360"/>
          </a:xfrm>
          <a:prstGeom prst="rect">
            <a:avLst/>
          </a:prstGeom>
          <a:solidFill>
            <a:srgbClr val="161B22"/>
          </a:solidFill>
          <a:ln/>
        </p:spPr>
      </p:sp>
      <p:sp>
        <p:nvSpPr>
          <p:cNvPr id="44" name="Text 41"/>
          <p:cNvSpPr/>
          <p:nvPr/>
        </p:nvSpPr>
        <p:spPr>
          <a:xfrm>
            <a:off x="6126480" y="2103120"/>
            <a:ext cx="2560320" cy="2286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DATA FLOW</a:t>
            </a:r>
            <a:endParaRPr lang="en-US" sz="1000" dirty="0"/>
          </a:p>
        </p:txBody>
      </p:sp>
      <p:sp>
        <p:nvSpPr>
          <p:cNvPr id="45" name="Text 42"/>
          <p:cNvSpPr/>
          <p:nvPr/>
        </p:nvSpPr>
        <p:spPr>
          <a:xfrm>
            <a:off x="6126480" y="2377440"/>
            <a:ext cx="365760" cy="1828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IN:</a:t>
            </a:r>
            <a:endParaRPr lang="en-US" sz="1000" dirty="0"/>
          </a:p>
        </p:txBody>
      </p:sp>
      <p:sp>
        <p:nvSpPr>
          <p:cNvPr id="46" name="Text 43"/>
          <p:cNvSpPr/>
          <p:nvPr/>
        </p:nvSpPr>
        <p:spPr>
          <a:xfrm>
            <a:off x="6492240" y="2377440"/>
            <a:ext cx="2194560" cy="45720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All plan + client + service data</a:t>
            </a:r>
            <a:endParaRPr lang="en-US" sz="1000" dirty="0"/>
          </a:p>
        </p:txBody>
      </p:sp>
      <p:sp>
        <p:nvSpPr>
          <p:cNvPr id="47" name="Text 44"/>
          <p:cNvSpPr/>
          <p:nvPr/>
        </p:nvSpPr>
        <p:spPr>
          <a:xfrm>
            <a:off x="6126480" y="2926080"/>
            <a:ext cx="457200" cy="182880"/>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OUT:</a:t>
            </a:r>
            <a:endParaRPr lang="en-US" sz="1000" dirty="0"/>
          </a:p>
        </p:txBody>
      </p:sp>
      <p:sp>
        <p:nvSpPr>
          <p:cNvPr id="48" name="Text 45"/>
          <p:cNvSpPr/>
          <p:nvPr/>
        </p:nvSpPr>
        <p:spPr>
          <a:xfrm>
            <a:off x="6583680" y="2926080"/>
            <a:ext cx="2103120" cy="64008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Complete HTML string ready for Gmail</a:t>
            </a:r>
            <a:endParaRPr lang="en-US" sz="1000" dirty="0"/>
          </a:p>
        </p:txBody>
      </p:sp>
      <p:sp>
        <p:nvSpPr>
          <p:cNvPr id="49" name="Shape 46"/>
          <p:cNvSpPr/>
          <p:nvPr/>
        </p:nvSpPr>
        <p:spPr>
          <a:xfrm>
            <a:off x="365760" y="3931920"/>
            <a:ext cx="8412480" cy="685800"/>
          </a:xfrm>
          <a:prstGeom prst="rect">
            <a:avLst/>
          </a:prstGeom>
          <a:solidFill>
            <a:srgbClr val="1A1F2E"/>
          </a:solidFill>
          <a:ln w="12700">
            <a:solidFill>
              <a:srgbClr val="F97316"/>
            </a:solidFill>
            <a:prstDash val="solid"/>
          </a:ln>
        </p:spPr>
      </p:sp>
      <p:sp>
        <p:nvSpPr>
          <p:cNvPr id="50" name="Text 47"/>
          <p:cNvSpPr/>
          <p:nvPr/>
        </p:nvSpPr>
        <p:spPr>
          <a:xfrm>
            <a:off x="548640" y="3977640"/>
            <a:ext cx="1371600" cy="201168"/>
          </a:xfrm>
          <a:prstGeom prst="rect">
            <a:avLst/>
          </a:prstGeom>
          <a:noFill/>
          <a:ln/>
        </p:spPr>
        <p:txBody>
          <a:bodyPr wrap="square" lIns="0" tIns="0" rIns="0" bIns="0"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KEY INSIGHT</a:t>
            </a:r>
            <a:endParaRPr lang="en-US" sz="900" dirty="0"/>
          </a:p>
        </p:txBody>
      </p:sp>
      <p:sp>
        <p:nvSpPr>
          <p:cNvPr id="51" name="Text 48"/>
          <p:cNvSpPr/>
          <p:nvPr/>
        </p:nvSpPr>
        <p:spPr>
          <a:xfrm>
            <a:off x="548640" y="4187952"/>
            <a:ext cx="8046720" cy="38404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This makes clients think you have a $10K/month ops platform. The email looks like it came from premium SaaS, not a free automation.</a:t>
            </a:r>
            <a:endParaRPr lang="en-US" sz="1100" dirty="0"/>
          </a:p>
        </p:txBody>
      </p:sp>
      <p:sp>
        <p:nvSpPr>
          <p:cNvPr id="52" name="Text 49"/>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AI Architect Simulation  |  Flow A  |  Node 10 of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777240"/>
            <a:ext cx="594360" cy="292608"/>
          </a:xfrm>
          <a:prstGeom prst="rect">
            <a:avLst/>
          </a:prstGeom>
          <a:solidFill>
            <a:srgbClr val="1C2333"/>
          </a:solidFill>
          <a:ln w="6350">
            <a:solidFill>
              <a:srgbClr val="6E7681"/>
            </a:solidFill>
            <a:prstDash val="solid"/>
          </a:ln>
        </p:spPr>
      </p:sp>
      <p:sp>
        <p:nvSpPr>
          <p:cNvPr id="3" name="Text 1"/>
          <p:cNvSpPr/>
          <p:nvPr/>
        </p:nvSpPr>
        <p:spPr>
          <a:xfrm>
            <a:off x="27432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a:t>
            </a:r>
            <a:endParaRPr lang="en-US" sz="900" dirty="0"/>
          </a:p>
        </p:txBody>
      </p:sp>
      <p:sp>
        <p:nvSpPr>
          <p:cNvPr id="4" name="Text 2"/>
          <p:cNvSpPr/>
          <p:nvPr/>
        </p:nvSpPr>
        <p:spPr>
          <a:xfrm>
            <a:off x="86868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5" name="Shape 3"/>
          <p:cNvSpPr/>
          <p:nvPr/>
        </p:nvSpPr>
        <p:spPr>
          <a:xfrm>
            <a:off x="987552" y="777240"/>
            <a:ext cx="594360" cy="292608"/>
          </a:xfrm>
          <a:prstGeom prst="rect">
            <a:avLst/>
          </a:prstGeom>
          <a:solidFill>
            <a:srgbClr val="1C2333"/>
          </a:solidFill>
          <a:ln w="6350">
            <a:solidFill>
              <a:srgbClr val="6E7681"/>
            </a:solidFill>
            <a:prstDash val="solid"/>
          </a:ln>
        </p:spPr>
      </p:sp>
      <p:sp>
        <p:nvSpPr>
          <p:cNvPr id="6" name="Text 4"/>
          <p:cNvSpPr/>
          <p:nvPr/>
        </p:nvSpPr>
        <p:spPr>
          <a:xfrm>
            <a:off x="98755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158191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8" name="Shape 6"/>
          <p:cNvSpPr/>
          <p:nvPr/>
        </p:nvSpPr>
        <p:spPr>
          <a:xfrm>
            <a:off x="1700784" y="777240"/>
            <a:ext cx="594360" cy="292608"/>
          </a:xfrm>
          <a:prstGeom prst="rect">
            <a:avLst/>
          </a:prstGeom>
          <a:solidFill>
            <a:srgbClr val="1C2333"/>
          </a:solidFill>
          <a:ln w="6350">
            <a:solidFill>
              <a:srgbClr val="6E7681"/>
            </a:solidFill>
            <a:prstDash val="solid"/>
          </a:ln>
        </p:spPr>
      </p:sp>
      <p:sp>
        <p:nvSpPr>
          <p:cNvPr id="9" name="Text 7"/>
          <p:cNvSpPr/>
          <p:nvPr/>
        </p:nvSpPr>
        <p:spPr>
          <a:xfrm>
            <a:off x="170078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3</a:t>
            </a:r>
            <a:endParaRPr lang="en-US" sz="900" dirty="0"/>
          </a:p>
        </p:txBody>
      </p:sp>
      <p:sp>
        <p:nvSpPr>
          <p:cNvPr id="10" name="Text 8"/>
          <p:cNvSpPr/>
          <p:nvPr/>
        </p:nvSpPr>
        <p:spPr>
          <a:xfrm>
            <a:off x="229514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1" name="Shape 9"/>
          <p:cNvSpPr/>
          <p:nvPr/>
        </p:nvSpPr>
        <p:spPr>
          <a:xfrm>
            <a:off x="2414016" y="777240"/>
            <a:ext cx="594360" cy="292608"/>
          </a:xfrm>
          <a:prstGeom prst="rect">
            <a:avLst/>
          </a:prstGeom>
          <a:solidFill>
            <a:srgbClr val="1C2333"/>
          </a:solidFill>
          <a:ln w="6350">
            <a:solidFill>
              <a:srgbClr val="6E7681"/>
            </a:solidFill>
            <a:prstDash val="solid"/>
          </a:ln>
        </p:spPr>
      </p:sp>
      <p:sp>
        <p:nvSpPr>
          <p:cNvPr id="12" name="Text 10"/>
          <p:cNvSpPr/>
          <p:nvPr/>
        </p:nvSpPr>
        <p:spPr>
          <a:xfrm>
            <a:off x="241401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4</a:t>
            </a:r>
            <a:endParaRPr lang="en-US" sz="900" dirty="0"/>
          </a:p>
        </p:txBody>
      </p:sp>
      <p:sp>
        <p:nvSpPr>
          <p:cNvPr id="13" name="Text 11"/>
          <p:cNvSpPr/>
          <p:nvPr/>
        </p:nvSpPr>
        <p:spPr>
          <a:xfrm>
            <a:off x="300837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4" name="Shape 12"/>
          <p:cNvSpPr/>
          <p:nvPr/>
        </p:nvSpPr>
        <p:spPr>
          <a:xfrm>
            <a:off x="3127248" y="777240"/>
            <a:ext cx="594360" cy="292608"/>
          </a:xfrm>
          <a:prstGeom prst="rect">
            <a:avLst/>
          </a:prstGeom>
          <a:solidFill>
            <a:srgbClr val="1C2333"/>
          </a:solidFill>
          <a:ln w="6350">
            <a:solidFill>
              <a:srgbClr val="6E7681"/>
            </a:solidFill>
            <a:prstDash val="solid"/>
          </a:ln>
        </p:spPr>
      </p:sp>
      <p:sp>
        <p:nvSpPr>
          <p:cNvPr id="15" name="Text 13"/>
          <p:cNvSpPr/>
          <p:nvPr/>
        </p:nvSpPr>
        <p:spPr>
          <a:xfrm>
            <a:off x="312724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5</a:t>
            </a:r>
            <a:endParaRPr lang="en-US" sz="900" dirty="0"/>
          </a:p>
        </p:txBody>
      </p:sp>
      <p:sp>
        <p:nvSpPr>
          <p:cNvPr id="16" name="Text 14"/>
          <p:cNvSpPr/>
          <p:nvPr/>
        </p:nvSpPr>
        <p:spPr>
          <a:xfrm>
            <a:off x="372160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7" name="Shape 15"/>
          <p:cNvSpPr/>
          <p:nvPr/>
        </p:nvSpPr>
        <p:spPr>
          <a:xfrm>
            <a:off x="3840480" y="777240"/>
            <a:ext cx="594360" cy="292608"/>
          </a:xfrm>
          <a:prstGeom prst="rect">
            <a:avLst/>
          </a:prstGeom>
          <a:solidFill>
            <a:srgbClr val="1C2333"/>
          </a:solidFill>
          <a:ln w="6350">
            <a:solidFill>
              <a:srgbClr val="6E7681"/>
            </a:solidFill>
            <a:prstDash val="solid"/>
          </a:ln>
        </p:spPr>
      </p:sp>
      <p:sp>
        <p:nvSpPr>
          <p:cNvPr id="18" name="Text 16"/>
          <p:cNvSpPr/>
          <p:nvPr/>
        </p:nvSpPr>
        <p:spPr>
          <a:xfrm>
            <a:off x="384048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6</a:t>
            </a:r>
            <a:endParaRPr lang="en-US" sz="900" dirty="0"/>
          </a:p>
        </p:txBody>
      </p:sp>
      <p:sp>
        <p:nvSpPr>
          <p:cNvPr id="19" name="Text 17"/>
          <p:cNvSpPr/>
          <p:nvPr/>
        </p:nvSpPr>
        <p:spPr>
          <a:xfrm>
            <a:off x="443484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4553712" y="777240"/>
            <a:ext cx="594360" cy="292608"/>
          </a:xfrm>
          <a:prstGeom prst="rect">
            <a:avLst/>
          </a:prstGeom>
          <a:solidFill>
            <a:srgbClr val="1C2333"/>
          </a:solidFill>
          <a:ln w="6350">
            <a:solidFill>
              <a:srgbClr val="6E7681"/>
            </a:solidFill>
            <a:prstDash val="solid"/>
          </a:ln>
        </p:spPr>
      </p:sp>
      <p:sp>
        <p:nvSpPr>
          <p:cNvPr id="21" name="Text 19"/>
          <p:cNvSpPr/>
          <p:nvPr/>
        </p:nvSpPr>
        <p:spPr>
          <a:xfrm>
            <a:off x="455371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7</a:t>
            </a:r>
            <a:endParaRPr lang="en-US" sz="900" dirty="0"/>
          </a:p>
        </p:txBody>
      </p:sp>
      <p:sp>
        <p:nvSpPr>
          <p:cNvPr id="22" name="Text 20"/>
          <p:cNvSpPr/>
          <p:nvPr/>
        </p:nvSpPr>
        <p:spPr>
          <a:xfrm>
            <a:off x="514807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3" name="Shape 21"/>
          <p:cNvSpPr/>
          <p:nvPr/>
        </p:nvSpPr>
        <p:spPr>
          <a:xfrm>
            <a:off x="5266944" y="777240"/>
            <a:ext cx="594360" cy="292608"/>
          </a:xfrm>
          <a:prstGeom prst="rect">
            <a:avLst/>
          </a:prstGeom>
          <a:solidFill>
            <a:srgbClr val="1C2333"/>
          </a:solidFill>
          <a:ln w="6350">
            <a:solidFill>
              <a:srgbClr val="6E7681"/>
            </a:solidFill>
            <a:prstDash val="solid"/>
          </a:ln>
        </p:spPr>
      </p:sp>
      <p:sp>
        <p:nvSpPr>
          <p:cNvPr id="24" name="Text 22"/>
          <p:cNvSpPr/>
          <p:nvPr/>
        </p:nvSpPr>
        <p:spPr>
          <a:xfrm>
            <a:off x="526694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8</a:t>
            </a:r>
            <a:endParaRPr lang="en-US" sz="900" dirty="0"/>
          </a:p>
        </p:txBody>
      </p:sp>
      <p:sp>
        <p:nvSpPr>
          <p:cNvPr id="25" name="Text 23"/>
          <p:cNvSpPr/>
          <p:nvPr/>
        </p:nvSpPr>
        <p:spPr>
          <a:xfrm>
            <a:off x="586130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6" name="Shape 24"/>
          <p:cNvSpPr/>
          <p:nvPr/>
        </p:nvSpPr>
        <p:spPr>
          <a:xfrm>
            <a:off x="5980176" y="777240"/>
            <a:ext cx="594360" cy="292608"/>
          </a:xfrm>
          <a:prstGeom prst="rect">
            <a:avLst/>
          </a:prstGeom>
          <a:solidFill>
            <a:srgbClr val="1C2333"/>
          </a:solidFill>
          <a:ln w="6350">
            <a:solidFill>
              <a:srgbClr val="6E7681"/>
            </a:solidFill>
            <a:prstDash val="solid"/>
          </a:ln>
        </p:spPr>
      </p:sp>
      <p:sp>
        <p:nvSpPr>
          <p:cNvPr id="27" name="Text 25"/>
          <p:cNvSpPr/>
          <p:nvPr/>
        </p:nvSpPr>
        <p:spPr>
          <a:xfrm>
            <a:off x="598017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9</a:t>
            </a:r>
            <a:endParaRPr lang="en-US" sz="900" dirty="0"/>
          </a:p>
        </p:txBody>
      </p:sp>
      <p:sp>
        <p:nvSpPr>
          <p:cNvPr id="28" name="Text 26"/>
          <p:cNvSpPr/>
          <p:nvPr/>
        </p:nvSpPr>
        <p:spPr>
          <a:xfrm>
            <a:off x="657453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9" name="Shape 27"/>
          <p:cNvSpPr/>
          <p:nvPr/>
        </p:nvSpPr>
        <p:spPr>
          <a:xfrm>
            <a:off x="6693408" y="777240"/>
            <a:ext cx="594360" cy="292608"/>
          </a:xfrm>
          <a:prstGeom prst="rect">
            <a:avLst/>
          </a:prstGeom>
          <a:solidFill>
            <a:srgbClr val="1C2333"/>
          </a:solidFill>
          <a:ln w="6350">
            <a:solidFill>
              <a:srgbClr val="6E7681"/>
            </a:solidFill>
            <a:prstDash val="solid"/>
          </a:ln>
        </p:spPr>
      </p:sp>
      <p:sp>
        <p:nvSpPr>
          <p:cNvPr id="30" name="Text 28"/>
          <p:cNvSpPr/>
          <p:nvPr/>
        </p:nvSpPr>
        <p:spPr>
          <a:xfrm>
            <a:off x="669340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10</a:t>
            </a:r>
            <a:endParaRPr lang="en-US" sz="900" dirty="0"/>
          </a:p>
        </p:txBody>
      </p:sp>
      <p:sp>
        <p:nvSpPr>
          <p:cNvPr id="31" name="Text 29"/>
          <p:cNvSpPr/>
          <p:nvPr/>
        </p:nvSpPr>
        <p:spPr>
          <a:xfrm>
            <a:off x="728776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2" name="Shape 30"/>
          <p:cNvSpPr/>
          <p:nvPr/>
        </p:nvSpPr>
        <p:spPr>
          <a:xfrm>
            <a:off x="7406640" y="777240"/>
            <a:ext cx="594360" cy="292608"/>
          </a:xfrm>
          <a:prstGeom prst="rect">
            <a:avLst/>
          </a:prstGeom>
          <a:solidFill>
            <a:srgbClr val="F97316"/>
          </a:solidFill>
          <a:ln w="25400">
            <a:solidFill>
              <a:srgbClr val="F97316"/>
            </a:solidFill>
            <a:prstDash val="solid"/>
          </a:ln>
        </p:spPr>
      </p:sp>
      <p:sp>
        <p:nvSpPr>
          <p:cNvPr id="33" name="Text 31"/>
          <p:cNvSpPr/>
          <p:nvPr/>
        </p:nvSpPr>
        <p:spPr>
          <a:xfrm>
            <a:off x="7406640" y="777240"/>
            <a:ext cx="594360" cy="292608"/>
          </a:xfrm>
          <a:prstGeom prst="rect">
            <a:avLst/>
          </a:prstGeom>
          <a:noFill/>
          <a:ln/>
        </p:spPr>
        <p:txBody>
          <a:bodyPr wrap="square" lIns="0" tIns="0" rIns="0" bIns="0" rtlCol="0" anchor="ctr"/>
          <a:lstStyle/>
          <a:p>
            <a:pPr algn="ctr" indent="0" marL="0">
              <a:buNone/>
            </a:pPr>
            <a:r>
              <a:rPr lang="en-US" sz="900" b="1" dirty="0">
                <a:solidFill>
                  <a:srgbClr val="0D1117"/>
                </a:solidFill>
                <a:latin typeface="Calibri" pitchFamily="34" charset="0"/>
                <a:ea typeface="Calibri" pitchFamily="34" charset="-122"/>
                <a:cs typeface="Calibri" pitchFamily="34" charset="-120"/>
              </a:rPr>
              <a:t>11</a:t>
            </a:r>
            <a:endParaRPr lang="en-US" sz="900" dirty="0"/>
          </a:p>
        </p:txBody>
      </p:sp>
      <p:sp>
        <p:nvSpPr>
          <p:cNvPr id="34" name="Text 32"/>
          <p:cNvSpPr/>
          <p:nvPr/>
        </p:nvSpPr>
        <p:spPr>
          <a:xfrm>
            <a:off x="800100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5" name="Shape 33"/>
          <p:cNvSpPr/>
          <p:nvPr/>
        </p:nvSpPr>
        <p:spPr>
          <a:xfrm>
            <a:off x="8119872" y="777240"/>
            <a:ext cx="594360" cy="292608"/>
          </a:xfrm>
          <a:prstGeom prst="rect">
            <a:avLst/>
          </a:prstGeom>
          <a:solidFill>
            <a:srgbClr val="1C2333"/>
          </a:solidFill>
          <a:ln w="6350">
            <a:solidFill>
              <a:srgbClr val="6E7681"/>
            </a:solidFill>
            <a:prstDash val="solid"/>
          </a:ln>
        </p:spPr>
      </p:sp>
      <p:sp>
        <p:nvSpPr>
          <p:cNvPr id="36" name="Text 34"/>
          <p:cNvSpPr/>
          <p:nvPr/>
        </p:nvSpPr>
        <p:spPr>
          <a:xfrm>
            <a:off x="811987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12</a:t>
            </a:r>
            <a:endParaRPr lang="en-US" sz="900" dirty="0"/>
          </a:p>
        </p:txBody>
      </p:sp>
      <p:pic>
        <p:nvPicPr>
          <p:cNvPr id="37" name="Image 0" descr="preencoded.png">    </p:cNvPr>
          <p:cNvPicPr>
            <a:picLocks noChangeAspect="1"/>
          </p:cNvPicPr>
          <p:nvPr/>
        </p:nvPicPr>
        <p:blipFill>
          <a:blip r:embed="rId1"/>
          <a:stretch>
            <a:fillRect/>
          </a:stretch>
        </p:blipFill>
        <p:spPr>
          <a:xfrm>
            <a:off x="365760" y="1234440"/>
            <a:ext cx="411480" cy="411480"/>
          </a:xfrm>
          <a:prstGeom prst="rect">
            <a:avLst/>
          </a:prstGeom>
        </p:spPr>
      </p:pic>
      <p:sp>
        <p:nvSpPr>
          <p:cNvPr id="38" name="Text 35"/>
          <p:cNvSpPr/>
          <p:nvPr/>
        </p:nvSpPr>
        <p:spPr>
          <a:xfrm>
            <a:off x="868680" y="1234440"/>
            <a:ext cx="68580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Node 11: Send Onboarding Email</a:t>
            </a:r>
            <a:endParaRPr lang="en-US" sz="2200" dirty="0"/>
          </a:p>
        </p:txBody>
      </p:sp>
      <p:sp>
        <p:nvSpPr>
          <p:cNvPr id="39" name="Text 36"/>
          <p:cNvSpPr/>
          <p:nvPr/>
        </p:nvSpPr>
        <p:spPr>
          <a:xfrm>
            <a:off x="868680" y="1664208"/>
            <a:ext cx="2743200" cy="256032"/>
          </a:xfrm>
          <a:prstGeom prst="rect">
            <a:avLst/>
          </a:prstGeom>
          <a:noFill/>
          <a:ln/>
        </p:spPr>
        <p:txBody>
          <a:bodyPr wrap="square" lIns="0" tIns="0" rIns="0" bIns="0" rtlCol="0" anchor="ctr"/>
          <a:lstStyle/>
          <a:p>
            <a:pPr indent="0" marL="0">
              <a:buNone/>
            </a:pPr>
            <a:r>
              <a:rPr lang="en-US" sz="1100" dirty="0">
                <a:solidFill>
                  <a:srgbClr val="F97316"/>
                </a:solidFill>
                <a:latin typeface="Calibri" pitchFamily="34" charset="0"/>
                <a:ea typeface="Calibri" pitchFamily="34" charset="-122"/>
                <a:cs typeface="Calibri" pitchFamily="34" charset="-120"/>
              </a:rPr>
              <a:t>Gmail</a:t>
            </a:r>
            <a:endParaRPr lang="en-US" sz="1100" dirty="0"/>
          </a:p>
        </p:txBody>
      </p:sp>
      <p:sp>
        <p:nvSpPr>
          <p:cNvPr id="40" name="Shape 37"/>
          <p:cNvSpPr/>
          <p:nvPr/>
        </p:nvSpPr>
        <p:spPr>
          <a:xfrm>
            <a:off x="365760" y="2011680"/>
            <a:ext cx="5303520" cy="1737360"/>
          </a:xfrm>
          <a:prstGeom prst="rect">
            <a:avLst/>
          </a:prstGeom>
          <a:solidFill>
            <a:srgbClr val="161B22"/>
          </a:solidFill>
          <a:ln/>
        </p:spPr>
      </p:sp>
      <p:sp>
        <p:nvSpPr>
          <p:cNvPr id="41" name="Text 38"/>
          <p:cNvSpPr/>
          <p:nvPr/>
        </p:nvSpPr>
        <p:spPr>
          <a:xfrm>
            <a:off x="548640" y="2103120"/>
            <a:ext cx="2743200" cy="228600"/>
          </a:xfrm>
          <a:prstGeom prst="rect">
            <a:avLst/>
          </a:prstGeom>
          <a:noFill/>
          <a:ln/>
        </p:spPr>
        <p:txBody>
          <a:bodyPr wrap="square" lIns="0" tIns="0" rIns="0" bIns="0"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WHAT IT DOES</a:t>
            </a:r>
            <a:endParaRPr lang="en-US" sz="1000" dirty="0"/>
          </a:p>
        </p:txBody>
      </p:sp>
      <p:sp>
        <p:nvSpPr>
          <p:cNvPr id="42" name="Text 39"/>
          <p:cNvSpPr/>
          <p:nvPr/>
        </p:nvSpPr>
        <p:spPr>
          <a:xfrm>
            <a:off x="548640" y="2377440"/>
            <a:ext cx="493776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Sends the premium HTML email directly to the client's email</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Subject includes agency name and project title</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Reply-to set to your agency email for responses</a:t>
            </a:r>
            <a:endParaRPr lang="en-US" sz="1100" dirty="0"/>
          </a:p>
        </p:txBody>
      </p:sp>
      <p:sp>
        <p:nvSpPr>
          <p:cNvPr id="43" name="Shape 40"/>
          <p:cNvSpPr/>
          <p:nvPr/>
        </p:nvSpPr>
        <p:spPr>
          <a:xfrm>
            <a:off x="5943600" y="2011680"/>
            <a:ext cx="2926080" cy="1737360"/>
          </a:xfrm>
          <a:prstGeom prst="rect">
            <a:avLst/>
          </a:prstGeom>
          <a:solidFill>
            <a:srgbClr val="161B22"/>
          </a:solidFill>
          <a:ln/>
        </p:spPr>
      </p:sp>
      <p:sp>
        <p:nvSpPr>
          <p:cNvPr id="44" name="Text 41"/>
          <p:cNvSpPr/>
          <p:nvPr/>
        </p:nvSpPr>
        <p:spPr>
          <a:xfrm>
            <a:off x="6126480" y="2103120"/>
            <a:ext cx="2560320" cy="2286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DATA FLOW</a:t>
            </a:r>
            <a:endParaRPr lang="en-US" sz="1000" dirty="0"/>
          </a:p>
        </p:txBody>
      </p:sp>
      <p:sp>
        <p:nvSpPr>
          <p:cNvPr id="45" name="Text 42"/>
          <p:cNvSpPr/>
          <p:nvPr/>
        </p:nvSpPr>
        <p:spPr>
          <a:xfrm>
            <a:off x="6126480" y="2377440"/>
            <a:ext cx="365760" cy="1828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IN:</a:t>
            </a:r>
            <a:endParaRPr lang="en-US" sz="1000" dirty="0"/>
          </a:p>
        </p:txBody>
      </p:sp>
      <p:sp>
        <p:nvSpPr>
          <p:cNvPr id="46" name="Text 43"/>
          <p:cNvSpPr/>
          <p:nvPr/>
        </p:nvSpPr>
        <p:spPr>
          <a:xfrm>
            <a:off x="6492240" y="2377440"/>
            <a:ext cx="2194560" cy="45720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HTML email + client email</a:t>
            </a:r>
            <a:endParaRPr lang="en-US" sz="1000" dirty="0"/>
          </a:p>
        </p:txBody>
      </p:sp>
      <p:sp>
        <p:nvSpPr>
          <p:cNvPr id="47" name="Text 44"/>
          <p:cNvSpPr/>
          <p:nvPr/>
        </p:nvSpPr>
        <p:spPr>
          <a:xfrm>
            <a:off x="6126480" y="2926080"/>
            <a:ext cx="457200" cy="182880"/>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OUT:</a:t>
            </a:r>
            <a:endParaRPr lang="en-US" sz="1000" dirty="0"/>
          </a:p>
        </p:txBody>
      </p:sp>
      <p:sp>
        <p:nvSpPr>
          <p:cNvPr id="48" name="Text 45"/>
          <p:cNvSpPr/>
          <p:nvPr/>
        </p:nvSpPr>
        <p:spPr>
          <a:xfrm>
            <a:off x="6583680" y="2926080"/>
            <a:ext cx="2103120" cy="64008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Email sent confirmation</a:t>
            </a:r>
            <a:endParaRPr lang="en-US" sz="1000" dirty="0"/>
          </a:p>
        </p:txBody>
      </p:sp>
      <p:sp>
        <p:nvSpPr>
          <p:cNvPr id="49" name="Shape 46"/>
          <p:cNvSpPr/>
          <p:nvPr/>
        </p:nvSpPr>
        <p:spPr>
          <a:xfrm>
            <a:off x="365760" y="3931920"/>
            <a:ext cx="8412480" cy="685800"/>
          </a:xfrm>
          <a:prstGeom prst="rect">
            <a:avLst/>
          </a:prstGeom>
          <a:solidFill>
            <a:srgbClr val="1A1F2E"/>
          </a:solidFill>
          <a:ln w="12700">
            <a:solidFill>
              <a:srgbClr val="F97316"/>
            </a:solidFill>
            <a:prstDash val="solid"/>
          </a:ln>
        </p:spPr>
      </p:sp>
      <p:sp>
        <p:nvSpPr>
          <p:cNvPr id="50" name="Text 47"/>
          <p:cNvSpPr/>
          <p:nvPr/>
        </p:nvSpPr>
        <p:spPr>
          <a:xfrm>
            <a:off x="548640" y="3977640"/>
            <a:ext cx="1371600" cy="201168"/>
          </a:xfrm>
          <a:prstGeom prst="rect">
            <a:avLst/>
          </a:prstGeom>
          <a:noFill/>
          <a:ln/>
        </p:spPr>
        <p:txBody>
          <a:bodyPr wrap="square" lIns="0" tIns="0" rIns="0" bIns="0"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KEY INSIGHT</a:t>
            </a:r>
            <a:endParaRPr lang="en-US" sz="900" dirty="0"/>
          </a:p>
        </p:txBody>
      </p:sp>
      <p:sp>
        <p:nvSpPr>
          <p:cNvPr id="51" name="Text 48"/>
          <p:cNvSpPr/>
          <p:nvPr/>
        </p:nvSpPr>
        <p:spPr>
          <a:xfrm>
            <a:off x="548640" y="4187952"/>
            <a:ext cx="8046720" cy="38404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Client receives a professional onboarding package within 60 seconds of form submission. No manual writing, no copy-pasting.</a:t>
            </a:r>
            <a:endParaRPr lang="en-US" sz="1100" dirty="0"/>
          </a:p>
        </p:txBody>
      </p:sp>
      <p:sp>
        <p:nvSpPr>
          <p:cNvPr id="52" name="Text 49"/>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AI Architect Simulation  |  Flow A  |  Node 11 of 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274320" y="777240"/>
            <a:ext cx="594360" cy="292608"/>
          </a:xfrm>
          <a:prstGeom prst="rect">
            <a:avLst/>
          </a:prstGeom>
          <a:solidFill>
            <a:srgbClr val="1C2333"/>
          </a:solidFill>
          <a:ln w="6350">
            <a:solidFill>
              <a:srgbClr val="6E7681"/>
            </a:solidFill>
            <a:prstDash val="solid"/>
          </a:ln>
        </p:spPr>
      </p:sp>
      <p:sp>
        <p:nvSpPr>
          <p:cNvPr id="3" name="Text 1"/>
          <p:cNvSpPr/>
          <p:nvPr/>
        </p:nvSpPr>
        <p:spPr>
          <a:xfrm>
            <a:off x="27432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a:t>
            </a:r>
            <a:endParaRPr lang="en-US" sz="900" dirty="0"/>
          </a:p>
        </p:txBody>
      </p:sp>
      <p:sp>
        <p:nvSpPr>
          <p:cNvPr id="4" name="Text 2"/>
          <p:cNvSpPr/>
          <p:nvPr/>
        </p:nvSpPr>
        <p:spPr>
          <a:xfrm>
            <a:off x="86868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5" name="Shape 3"/>
          <p:cNvSpPr/>
          <p:nvPr/>
        </p:nvSpPr>
        <p:spPr>
          <a:xfrm>
            <a:off x="987552" y="777240"/>
            <a:ext cx="594360" cy="292608"/>
          </a:xfrm>
          <a:prstGeom prst="rect">
            <a:avLst/>
          </a:prstGeom>
          <a:solidFill>
            <a:srgbClr val="1C2333"/>
          </a:solidFill>
          <a:ln w="6350">
            <a:solidFill>
              <a:srgbClr val="6E7681"/>
            </a:solidFill>
            <a:prstDash val="solid"/>
          </a:ln>
        </p:spPr>
      </p:sp>
      <p:sp>
        <p:nvSpPr>
          <p:cNvPr id="6" name="Text 4"/>
          <p:cNvSpPr/>
          <p:nvPr/>
        </p:nvSpPr>
        <p:spPr>
          <a:xfrm>
            <a:off x="98755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158191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8" name="Shape 6"/>
          <p:cNvSpPr/>
          <p:nvPr/>
        </p:nvSpPr>
        <p:spPr>
          <a:xfrm>
            <a:off x="1700784" y="777240"/>
            <a:ext cx="594360" cy="292608"/>
          </a:xfrm>
          <a:prstGeom prst="rect">
            <a:avLst/>
          </a:prstGeom>
          <a:solidFill>
            <a:srgbClr val="1C2333"/>
          </a:solidFill>
          <a:ln w="6350">
            <a:solidFill>
              <a:srgbClr val="6E7681"/>
            </a:solidFill>
            <a:prstDash val="solid"/>
          </a:ln>
        </p:spPr>
      </p:sp>
      <p:sp>
        <p:nvSpPr>
          <p:cNvPr id="9" name="Text 7"/>
          <p:cNvSpPr/>
          <p:nvPr/>
        </p:nvSpPr>
        <p:spPr>
          <a:xfrm>
            <a:off x="170078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3</a:t>
            </a:r>
            <a:endParaRPr lang="en-US" sz="900" dirty="0"/>
          </a:p>
        </p:txBody>
      </p:sp>
      <p:sp>
        <p:nvSpPr>
          <p:cNvPr id="10" name="Text 8"/>
          <p:cNvSpPr/>
          <p:nvPr/>
        </p:nvSpPr>
        <p:spPr>
          <a:xfrm>
            <a:off x="229514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1" name="Shape 9"/>
          <p:cNvSpPr/>
          <p:nvPr/>
        </p:nvSpPr>
        <p:spPr>
          <a:xfrm>
            <a:off x="2414016" y="777240"/>
            <a:ext cx="594360" cy="292608"/>
          </a:xfrm>
          <a:prstGeom prst="rect">
            <a:avLst/>
          </a:prstGeom>
          <a:solidFill>
            <a:srgbClr val="1C2333"/>
          </a:solidFill>
          <a:ln w="6350">
            <a:solidFill>
              <a:srgbClr val="6E7681"/>
            </a:solidFill>
            <a:prstDash val="solid"/>
          </a:ln>
        </p:spPr>
      </p:sp>
      <p:sp>
        <p:nvSpPr>
          <p:cNvPr id="12" name="Text 10"/>
          <p:cNvSpPr/>
          <p:nvPr/>
        </p:nvSpPr>
        <p:spPr>
          <a:xfrm>
            <a:off x="241401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4</a:t>
            </a:r>
            <a:endParaRPr lang="en-US" sz="900" dirty="0"/>
          </a:p>
        </p:txBody>
      </p:sp>
      <p:sp>
        <p:nvSpPr>
          <p:cNvPr id="13" name="Text 11"/>
          <p:cNvSpPr/>
          <p:nvPr/>
        </p:nvSpPr>
        <p:spPr>
          <a:xfrm>
            <a:off x="300837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4" name="Shape 12"/>
          <p:cNvSpPr/>
          <p:nvPr/>
        </p:nvSpPr>
        <p:spPr>
          <a:xfrm>
            <a:off x="3127248" y="777240"/>
            <a:ext cx="594360" cy="292608"/>
          </a:xfrm>
          <a:prstGeom prst="rect">
            <a:avLst/>
          </a:prstGeom>
          <a:solidFill>
            <a:srgbClr val="1C2333"/>
          </a:solidFill>
          <a:ln w="6350">
            <a:solidFill>
              <a:srgbClr val="6E7681"/>
            </a:solidFill>
            <a:prstDash val="solid"/>
          </a:ln>
        </p:spPr>
      </p:sp>
      <p:sp>
        <p:nvSpPr>
          <p:cNvPr id="15" name="Text 13"/>
          <p:cNvSpPr/>
          <p:nvPr/>
        </p:nvSpPr>
        <p:spPr>
          <a:xfrm>
            <a:off x="312724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5</a:t>
            </a:r>
            <a:endParaRPr lang="en-US" sz="900" dirty="0"/>
          </a:p>
        </p:txBody>
      </p:sp>
      <p:sp>
        <p:nvSpPr>
          <p:cNvPr id="16" name="Text 14"/>
          <p:cNvSpPr/>
          <p:nvPr/>
        </p:nvSpPr>
        <p:spPr>
          <a:xfrm>
            <a:off x="372160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17" name="Shape 15"/>
          <p:cNvSpPr/>
          <p:nvPr/>
        </p:nvSpPr>
        <p:spPr>
          <a:xfrm>
            <a:off x="3840480" y="777240"/>
            <a:ext cx="594360" cy="292608"/>
          </a:xfrm>
          <a:prstGeom prst="rect">
            <a:avLst/>
          </a:prstGeom>
          <a:solidFill>
            <a:srgbClr val="1C2333"/>
          </a:solidFill>
          <a:ln w="6350">
            <a:solidFill>
              <a:srgbClr val="6E7681"/>
            </a:solidFill>
            <a:prstDash val="solid"/>
          </a:ln>
        </p:spPr>
      </p:sp>
      <p:sp>
        <p:nvSpPr>
          <p:cNvPr id="18" name="Text 16"/>
          <p:cNvSpPr/>
          <p:nvPr/>
        </p:nvSpPr>
        <p:spPr>
          <a:xfrm>
            <a:off x="384048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6</a:t>
            </a:r>
            <a:endParaRPr lang="en-US" sz="900" dirty="0"/>
          </a:p>
        </p:txBody>
      </p:sp>
      <p:sp>
        <p:nvSpPr>
          <p:cNvPr id="19" name="Text 17"/>
          <p:cNvSpPr/>
          <p:nvPr/>
        </p:nvSpPr>
        <p:spPr>
          <a:xfrm>
            <a:off x="443484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4553712" y="777240"/>
            <a:ext cx="594360" cy="292608"/>
          </a:xfrm>
          <a:prstGeom prst="rect">
            <a:avLst/>
          </a:prstGeom>
          <a:solidFill>
            <a:srgbClr val="1C2333"/>
          </a:solidFill>
          <a:ln w="6350">
            <a:solidFill>
              <a:srgbClr val="6E7681"/>
            </a:solidFill>
            <a:prstDash val="solid"/>
          </a:ln>
        </p:spPr>
      </p:sp>
      <p:sp>
        <p:nvSpPr>
          <p:cNvPr id="21" name="Text 19"/>
          <p:cNvSpPr/>
          <p:nvPr/>
        </p:nvSpPr>
        <p:spPr>
          <a:xfrm>
            <a:off x="4553712"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7</a:t>
            </a:r>
            <a:endParaRPr lang="en-US" sz="900" dirty="0"/>
          </a:p>
        </p:txBody>
      </p:sp>
      <p:sp>
        <p:nvSpPr>
          <p:cNvPr id="22" name="Text 20"/>
          <p:cNvSpPr/>
          <p:nvPr/>
        </p:nvSpPr>
        <p:spPr>
          <a:xfrm>
            <a:off x="5148072"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3" name="Shape 21"/>
          <p:cNvSpPr/>
          <p:nvPr/>
        </p:nvSpPr>
        <p:spPr>
          <a:xfrm>
            <a:off x="5266944" y="777240"/>
            <a:ext cx="594360" cy="292608"/>
          </a:xfrm>
          <a:prstGeom prst="rect">
            <a:avLst/>
          </a:prstGeom>
          <a:solidFill>
            <a:srgbClr val="1C2333"/>
          </a:solidFill>
          <a:ln w="6350">
            <a:solidFill>
              <a:srgbClr val="6E7681"/>
            </a:solidFill>
            <a:prstDash val="solid"/>
          </a:ln>
        </p:spPr>
      </p:sp>
      <p:sp>
        <p:nvSpPr>
          <p:cNvPr id="24" name="Text 22"/>
          <p:cNvSpPr/>
          <p:nvPr/>
        </p:nvSpPr>
        <p:spPr>
          <a:xfrm>
            <a:off x="5266944"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8</a:t>
            </a:r>
            <a:endParaRPr lang="en-US" sz="900" dirty="0"/>
          </a:p>
        </p:txBody>
      </p:sp>
      <p:sp>
        <p:nvSpPr>
          <p:cNvPr id="25" name="Text 23"/>
          <p:cNvSpPr/>
          <p:nvPr/>
        </p:nvSpPr>
        <p:spPr>
          <a:xfrm>
            <a:off x="5861304"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6" name="Shape 24"/>
          <p:cNvSpPr/>
          <p:nvPr/>
        </p:nvSpPr>
        <p:spPr>
          <a:xfrm>
            <a:off x="5980176" y="777240"/>
            <a:ext cx="594360" cy="292608"/>
          </a:xfrm>
          <a:prstGeom prst="rect">
            <a:avLst/>
          </a:prstGeom>
          <a:solidFill>
            <a:srgbClr val="1C2333"/>
          </a:solidFill>
          <a:ln w="6350">
            <a:solidFill>
              <a:srgbClr val="6E7681"/>
            </a:solidFill>
            <a:prstDash val="solid"/>
          </a:ln>
        </p:spPr>
      </p:sp>
      <p:sp>
        <p:nvSpPr>
          <p:cNvPr id="27" name="Text 25"/>
          <p:cNvSpPr/>
          <p:nvPr/>
        </p:nvSpPr>
        <p:spPr>
          <a:xfrm>
            <a:off x="5980176"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9</a:t>
            </a:r>
            <a:endParaRPr lang="en-US" sz="900" dirty="0"/>
          </a:p>
        </p:txBody>
      </p:sp>
      <p:sp>
        <p:nvSpPr>
          <p:cNvPr id="28" name="Text 26"/>
          <p:cNvSpPr/>
          <p:nvPr/>
        </p:nvSpPr>
        <p:spPr>
          <a:xfrm>
            <a:off x="6574536"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29" name="Shape 27"/>
          <p:cNvSpPr/>
          <p:nvPr/>
        </p:nvSpPr>
        <p:spPr>
          <a:xfrm>
            <a:off x="6693408" y="777240"/>
            <a:ext cx="594360" cy="292608"/>
          </a:xfrm>
          <a:prstGeom prst="rect">
            <a:avLst/>
          </a:prstGeom>
          <a:solidFill>
            <a:srgbClr val="1C2333"/>
          </a:solidFill>
          <a:ln w="6350">
            <a:solidFill>
              <a:srgbClr val="6E7681"/>
            </a:solidFill>
            <a:prstDash val="solid"/>
          </a:ln>
        </p:spPr>
      </p:sp>
      <p:sp>
        <p:nvSpPr>
          <p:cNvPr id="30" name="Text 28"/>
          <p:cNvSpPr/>
          <p:nvPr/>
        </p:nvSpPr>
        <p:spPr>
          <a:xfrm>
            <a:off x="6693408"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10</a:t>
            </a:r>
            <a:endParaRPr lang="en-US" sz="900" dirty="0"/>
          </a:p>
        </p:txBody>
      </p:sp>
      <p:sp>
        <p:nvSpPr>
          <p:cNvPr id="31" name="Text 29"/>
          <p:cNvSpPr/>
          <p:nvPr/>
        </p:nvSpPr>
        <p:spPr>
          <a:xfrm>
            <a:off x="7287768"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2" name="Shape 30"/>
          <p:cNvSpPr/>
          <p:nvPr/>
        </p:nvSpPr>
        <p:spPr>
          <a:xfrm>
            <a:off x="7406640" y="777240"/>
            <a:ext cx="594360" cy="292608"/>
          </a:xfrm>
          <a:prstGeom prst="rect">
            <a:avLst/>
          </a:prstGeom>
          <a:solidFill>
            <a:srgbClr val="1C2333"/>
          </a:solidFill>
          <a:ln w="6350">
            <a:solidFill>
              <a:srgbClr val="6E7681"/>
            </a:solidFill>
            <a:prstDash val="solid"/>
          </a:ln>
        </p:spPr>
      </p:sp>
      <p:sp>
        <p:nvSpPr>
          <p:cNvPr id="33" name="Text 31"/>
          <p:cNvSpPr/>
          <p:nvPr/>
        </p:nvSpPr>
        <p:spPr>
          <a:xfrm>
            <a:off x="7406640" y="777240"/>
            <a:ext cx="594360" cy="292608"/>
          </a:xfrm>
          <a:prstGeom prst="rect">
            <a:avLst/>
          </a:prstGeom>
          <a:noFill/>
          <a:ln/>
        </p:spPr>
        <p:txBody>
          <a:bodyPr wrap="square" lIns="0" tIns="0" rIns="0" bIns="0" rtlCol="0" anchor="ctr"/>
          <a:lstStyle/>
          <a:p>
            <a:pPr algn="ctr" indent="0" marL="0">
              <a:buNone/>
            </a:pPr>
            <a:r>
              <a:rPr lang="en-US" sz="900" b="1" dirty="0">
                <a:solidFill>
                  <a:srgbClr val="8B949E"/>
                </a:solidFill>
                <a:latin typeface="Calibri" pitchFamily="34" charset="0"/>
                <a:ea typeface="Calibri" pitchFamily="34" charset="-122"/>
                <a:cs typeface="Calibri" pitchFamily="34" charset="-120"/>
              </a:rPr>
              <a:t>11</a:t>
            </a:r>
            <a:endParaRPr lang="en-US" sz="900" dirty="0"/>
          </a:p>
        </p:txBody>
      </p:sp>
      <p:sp>
        <p:nvSpPr>
          <p:cNvPr id="34" name="Text 32"/>
          <p:cNvSpPr/>
          <p:nvPr/>
        </p:nvSpPr>
        <p:spPr>
          <a:xfrm>
            <a:off x="8001000" y="777240"/>
            <a:ext cx="118872" cy="292608"/>
          </a:xfrm>
          <a:prstGeom prst="rect">
            <a:avLst/>
          </a:prstGeom>
          <a:noFill/>
          <a:ln/>
        </p:spPr>
        <p:txBody>
          <a:bodyPr wrap="square" lIns="0" tIns="0" rIns="0" bIns="0" rtlCol="0" anchor="ctr"/>
          <a:lstStyle/>
          <a:p>
            <a:pPr algn="ctr" indent="0" marL="0">
              <a:buNone/>
            </a:pPr>
            <a:r>
              <a:rPr lang="en-US" sz="800" dirty="0">
                <a:solidFill>
                  <a:srgbClr val="6E7681"/>
                </a:solidFill>
                <a:latin typeface="Calibri" pitchFamily="34" charset="0"/>
                <a:ea typeface="Calibri" pitchFamily="34" charset="-122"/>
                <a:cs typeface="Calibri" pitchFamily="34" charset="-120"/>
              </a:rPr>
              <a:t>→</a:t>
            </a:r>
            <a:endParaRPr lang="en-US" sz="800" dirty="0"/>
          </a:p>
        </p:txBody>
      </p:sp>
      <p:sp>
        <p:nvSpPr>
          <p:cNvPr id="35" name="Shape 33"/>
          <p:cNvSpPr/>
          <p:nvPr/>
        </p:nvSpPr>
        <p:spPr>
          <a:xfrm>
            <a:off x="8119872" y="777240"/>
            <a:ext cx="594360" cy="292608"/>
          </a:xfrm>
          <a:prstGeom prst="rect">
            <a:avLst/>
          </a:prstGeom>
          <a:solidFill>
            <a:srgbClr val="F97316"/>
          </a:solidFill>
          <a:ln w="25400">
            <a:solidFill>
              <a:srgbClr val="F97316"/>
            </a:solidFill>
            <a:prstDash val="solid"/>
          </a:ln>
        </p:spPr>
      </p:sp>
      <p:sp>
        <p:nvSpPr>
          <p:cNvPr id="36" name="Text 34"/>
          <p:cNvSpPr/>
          <p:nvPr/>
        </p:nvSpPr>
        <p:spPr>
          <a:xfrm>
            <a:off x="8119872" y="777240"/>
            <a:ext cx="594360" cy="292608"/>
          </a:xfrm>
          <a:prstGeom prst="rect">
            <a:avLst/>
          </a:prstGeom>
          <a:noFill/>
          <a:ln/>
        </p:spPr>
        <p:txBody>
          <a:bodyPr wrap="square" lIns="0" tIns="0" rIns="0" bIns="0" rtlCol="0" anchor="ctr"/>
          <a:lstStyle/>
          <a:p>
            <a:pPr algn="ctr" indent="0" marL="0">
              <a:buNone/>
            </a:pPr>
            <a:r>
              <a:rPr lang="en-US" sz="900" b="1" dirty="0">
                <a:solidFill>
                  <a:srgbClr val="0D1117"/>
                </a:solidFill>
                <a:latin typeface="Calibri" pitchFamily="34" charset="0"/>
                <a:ea typeface="Calibri" pitchFamily="34" charset="-122"/>
                <a:cs typeface="Calibri" pitchFamily="34" charset="-120"/>
              </a:rPr>
              <a:t>12</a:t>
            </a:r>
            <a:endParaRPr lang="en-US" sz="900" dirty="0"/>
          </a:p>
        </p:txBody>
      </p:sp>
      <p:pic>
        <p:nvPicPr>
          <p:cNvPr id="37" name="Image 0" descr="preencoded.png">    </p:cNvPr>
          <p:cNvPicPr>
            <a:picLocks noChangeAspect="1"/>
          </p:cNvPicPr>
          <p:nvPr/>
        </p:nvPicPr>
        <p:blipFill>
          <a:blip r:embed="rId1"/>
          <a:stretch>
            <a:fillRect/>
          </a:stretch>
        </p:blipFill>
        <p:spPr>
          <a:xfrm>
            <a:off x="365760" y="1234440"/>
            <a:ext cx="411480" cy="411480"/>
          </a:xfrm>
          <a:prstGeom prst="rect">
            <a:avLst/>
          </a:prstGeom>
        </p:spPr>
      </p:pic>
      <p:sp>
        <p:nvSpPr>
          <p:cNvPr id="38" name="Text 35"/>
          <p:cNvSpPr/>
          <p:nvPr/>
        </p:nvSpPr>
        <p:spPr>
          <a:xfrm>
            <a:off x="868680" y="1234440"/>
            <a:ext cx="68580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Node 12: Send Copy to Agency</a:t>
            </a:r>
            <a:endParaRPr lang="en-US" sz="2200" dirty="0"/>
          </a:p>
        </p:txBody>
      </p:sp>
      <p:sp>
        <p:nvSpPr>
          <p:cNvPr id="39" name="Text 36"/>
          <p:cNvSpPr/>
          <p:nvPr/>
        </p:nvSpPr>
        <p:spPr>
          <a:xfrm>
            <a:off x="868680" y="1664208"/>
            <a:ext cx="2743200" cy="256032"/>
          </a:xfrm>
          <a:prstGeom prst="rect">
            <a:avLst/>
          </a:prstGeom>
          <a:noFill/>
          <a:ln/>
        </p:spPr>
        <p:txBody>
          <a:bodyPr wrap="square" lIns="0" tIns="0" rIns="0" bIns="0" rtlCol="0" anchor="ctr"/>
          <a:lstStyle/>
          <a:p>
            <a:pPr indent="0" marL="0">
              <a:buNone/>
            </a:pPr>
            <a:r>
              <a:rPr lang="en-US" sz="1100" dirty="0">
                <a:solidFill>
                  <a:srgbClr val="F97316"/>
                </a:solidFill>
                <a:latin typeface="Calibri" pitchFamily="34" charset="0"/>
                <a:ea typeface="Calibri" pitchFamily="34" charset="-122"/>
                <a:cs typeface="Calibri" pitchFamily="34" charset="-120"/>
              </a:rPr>
              <a:t>Gmail</a:t>
            </a:r>
            <a:endParaRPr lang="en-US" sz="1100" dirty="0"/>
          </a:p>
        </p:txBody>
      </p:sp>
      <p:sp>
        <p:nvSpPr>
          <p:cNvPr id="40" name="Shape 37"/>
          <p:cNvSpPr/>
          <p:nvPr/>
        </p:nvSpPr>
        <p:spPr>
          <a:xfrm>
            <a:off x="365760" y="2011680"/>
            <a:ext cx="5303520" cy="1737360"/>
          </a:xfrm>
          <a:prstGeom prst="rect">
            <a:avLst/>
          </a:prstGeom>
          <a:solidFill>
            <a:srgbClr val="161B22"/>
          </a:solidFill>
          <a:ln/>
        </p:spPr>
      </p:sp>
      <p:sp>
        <p:nvSpPr>
          <p:cNvPr id="41" name="Text 38"/>
          <p:cNvSpPr/>
          <p:nvPr/>
        </p:nvSpPr>
        <p:spPr>
          <a:xfrm>
            <a:off x="548640" y="2103120"/>
            <a:ext cx="2743200" cy="228600"/>
          </a:xfrm>
          <a:prstGeom prst="rect">
            <a:avLst/>
          </a:prstGeom>
          <a:noFill/>
          <a:ln/>
        </p:spPr>
        <p:txBody>
          <a:bodyPr wrap="square" lIns="0" tIns="0" rIns="0" bIns="0" rtlCol="0" anchor="ctr"/>
          <a:lstStyle/>
          <a:p>
            <a:pPr indent="0" marL="0">
              <a:buNone/>
            </a:pPr>
            <a:r>
              <a:rPr lang="en-US" sz="1000" b="1" dirty="0">
                <a:solidFill>
                  <a:srgbClr val="F97316"/>
                </a:solidFill>
                <a:latin typeface="Calibri" pitchFamily="34" charset="0"/>
                <a:ea typeface="Calibri" pitchFamily="34" charset="-122"/>
                <a:cs typeface="Calibri" pitchFamily="34" charset="-120"/>
              </a:rPr>
              <a:t>WHAT IT DOES</a:t>
            </a:r>
            <a:endParaRPr lang="en-US" sz="1000" dirty="0"/>
          </a:p>
        </p:txBody>
      </p:sp>
      <p:sp>
        <p:nvSpPr>
          <p:cNvPr id="42" name="Text 39"/>
          <p:cNvSpPr/>
          <p:nvPr/>
        </p:nvSpPr>
        <p:spPr>
          <a:xfrm>
            <a:off x="548640" y="2377440"/>
            <a:ext cx="4937760" cy="1280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Sends detailed internal copy to agency email</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Same HTML + internal footer: confirmation of email sent, CRM logged, deliverables tracked</a:t>
            </a:r>
            <a:endParaRPr lang="en-US" sz="1100" dirty="0"/>
          </a:p>
          <a:p>
            <a:pPr marL="342900" indent="-342900">
              <a:spcAft>
                <a:spcPts val="400"/>
              </a:spcAft>
              <a:buSzPct val="100000"/>
              <a:buChar char="•"/>
            </a:pPr>
            <a:r>
              <a:rPr lang="en-US" sz="1100" dirty="0">
                <a:solidFill>
                  <a:srgbClr val="C9D1D9"/>
                </a:solidFill>
                <a:latin typeface="Calibri" pitchFamily="34" charset="0"/>
                <a:ea typeface="Calibri" pitchFamily="34" charset="-122"/>
                <a:cs typeface="Calibri" pitchFamily="34" charset="-120"/>
              </a:rPr>
              <a:t>Blue header (vs orange for client) to visually distinguish internal vs external</a:t>
            </a:r>
            <a:endParaRPr lang="en-US" sz="1100" dirty="0"/>
          </a:p>
        </p:txBody>
      </p:sp>
      <p:sp>
        <p:nvSpPr>
          <p:cNvPr id="43" name="Shape 40"/>
          <p:cNvSpPr/>
          <p:nvPr/>
        </p:nvSpPr>
        <p:spPr>
          <a:xfrm>
            <a:off x="5943600" y="2011680"/>
            <a:ext cx="2926080" cy="1737360"/>
          </a:xfrm>
          <a:prstGeom prst="rect">
            <a:avLst/>
          </a:prstGeom>
          <a:solidFill>
            <a:srgbClr val="161B22"/>
          </a:solidFill>
          <a:ln/>
        </p:spPr>
      </p:sp>
      <p:sp>
        <p:nvSpPr>
          <p:cNvPr id="44" name="Text 41"/>
          <p:cNvSpPr/>
          <p:nvPr/>
        </p:nvSpPr>
        <p:spPr>
          <a:xfrm>
            <a:off x="6126480" y="2103120"/>
            <a:ext cx="2560320" cy="2286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DATA FLOW</a:t>
            </a:r>
            <a:endParaRPr lang="en-US" sz="1000" dirty="0"/>
          </a:p>
        </p:txBody>
      </p:sp>
      <p:sp>
        <p:nvSpPr>
          <p:cNvPr id="45" name="Text 42"/>
          <p:cNvSpPr/>
          <p:nvPr/>
        </p:nvSpPr>
        <p:spPr>
          <a:xfrm>
            <a:off x="6126480" y="2377440"/>
            <a:ext cx="365760" cy="182880"/>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IN:</a:t>
            </a:r>
            <a:endParaRPr lang="en-US" sz="1000" dirty="0"/>
          </a:p>
        </p:txBody>
      </p:sp>
      <p:sp>
        <p:nvSpPr>
          <p:cNvPr id="46" name="Text 43"/>
          <p:cNvSpPr/>
          <p:nvPr/>
        </p:nvSpPr>
        <p:spPr>
          <a:xfrm>
            <a:off x="6492240" y="2377440"/>
            <a:ext cx="2194560" cy="45720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HTML email + agency email</a:t>
            </a:r>
            <a:endParaRPr lang="en-US" sz="1000" dirty="0"/>
          </a:p>
        </p:txBody>
      </p:sp>
      <p:sp>
        <p:nvSpPr>
          <p:cNvPr id="47" name="Text 44"/>
          <p:cNvSpPr/>
          <p:nvPr/>
        </p:nvSpPr>
        <p:spPr>
          <a:xfrm>
            <a:off x="6126480" y="2926080"/>
            <a:ext cx="457200" cy="182880"/>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OUT:</a:t>
            </a:r>
            <a:endParaRPr lang="en-US" sz="1000" dirty="0"/>
          </a:p>
        </p:txBody>
      </p:sp>
      <p:sp>
        <p:nvSpPr>
          <p:cNvPr id="48" name="Text 45"/>
          <p:cNvSpPr/>
          <p:nvPr/>
        </p:nvSpPr>
        <p:spPr>
          <a:xfrm>
            <a:off x="6583680" y="2926080"/>
            <a:ext cx="2103120" cy="64008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Internal copy sent confirmation</a:t>
            </a:r>
            <a:endParaRPr lang="en-US" sz="1000" dirty="0"/>
          </a:p>
        </p:txBody>
      </p:sp>
      <p:sp>
        <p:nvSpPr>
          <p:cNvPr id="49" name="Shape 46"/>
          <p:cNvSpPr/>
          <p:nvPr/>
        </p:nvSpPr>
        <p:spPr>
          <a:xfrm>
            <a:off x="365760" y="3931920"/>
            <a:ext cx="8412480" cy="685800"/>
          </a:xfrm>
          <a:prstGeom prst="rect">
            <a:avLst/>
          </a:prstGeom>
          <a:solidFill>
            <a:srgbClr val="1A1F2E"/>
          </a:solidFill>
          <a:ln w="12700">
            <a:solidFill>
              <a:srgbClr val="F97316"/>
            </a:solidFill>
            <a:prstDash val="solid"/>
          </a:ln>
        </p:spPr>
      </p:sp>
      <p:sp>
        <p:nvSpPr>
          <p:cNvPr id="50" name="Text 47"/>
          <p:cNvSpPr/>
          <p:nvPr/>
        </p:nvSpPr>
        <p:spPr>
          <a:xfrm>
            <a:off x="548640" y="3977640"/>
            <a:ext cx="1371600" cy="201168"/>
          </a:xfrm>
          <a:prstGeom prst="rect">
            <a:avLst/>
          </a:prstGeom>
          <a:noFill/>
          <a:ln/>
        </p:spPr>
        <p:txBody>
          <a:bodyPr wrap="square" lIns="0" tIns="0" rIns="0" bIns="0" rtlCol="0" anchor="ctr"/>
          <a:lstStyle/>
          <a:p>
            <a:pPr indent="0" marL="0">
              <a:buNone/>
            </a:pPr>
            <a:r>
              <a:rPr lang="en-US" sz="900" b="1" dirty="0">
                <a:solidFill>
                  <a:srgbClr val="F97316"/>
                </a:solidFill>
                <a:latin typeface="Calibri" pitchFamily="34" charset="0"/>
                <a:ea typeface="Calibri" pitchFamily="34" charset="-122"/>
                <a:cs typeface="Calibri" pitchFamily="34" charset="-120"/>
              </a:rPr>
              <a:t>KEY INSIGHT</a:t>
            </a:r>
            <a:endParaRPr lang="en-US" sz="900" dirty="0"/>
          </a:p>
        </p:txBody>
      </p:sp>
      <p:sp>
        <p:nvSpPr>
          <p:cNvPr id="51" name="Text 48"/>
          <p:cNvSpPr/>
          <p:nvPr/>
        </p:nvSpPr>
        <p:spPr>
          <a:xfrm>
            <a:off x="548640" y="4187952"/>
            <a:ext cx="8046720" cy="384048"/>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Complete record of every onboarding email. If a client says "I never got details" — you have the exact copy in your inbox.</a:t>
            </a:r>
            <a:endParaRPr lang="en-US" sz="1100" dirty="0"/>
          </a:p>
        </p:txBody>
      </p:sp>
      <p:sp>
        <p:nvSpPr>
          <p:cNvPr id="52" name="Text 49"/>
          <p:cNvSpPr/>
          <p:nvPr/>
        </p:nvSpPr>
        <p:spPr>
          <a:xfrm>
            <a:off x="457200" y="4754880"/>
            <a:ext cx="8229600" cy="274320"/>
          </a:xfrm>
          <a:prstGeom prst="rect">
            <a:avLst/>
          </a:prstGeom>
          <a:noFill/>
          <a:ln/>
        </p:spPr>
        <p:txBody>
          <a:bodyPr wrap="square" lIns="0" tIns="0" rIns="0" bIns="0" rtlCol="0" anchor="ctr"/>
          <a:lstStyle/>
          <a:p>
            <a:pPr algn="ctr" indent="0" marL="0">
              <a:buNone/>
            </a:pPr>
            <a:r>
              <a:rPr lang="en-US" sz="900" dirty="0">
                <a:solidFill>
                  <a:srgbClr val="6E7681"/>
                </a:solidFill>
                <a:latin typeface="Calibri" pitchFamily="34" charset="0"/>
                <a:ea typeface="Calibri" pitchFamily="34" charset="-122"/>
                <a:cs typeface="Calibri" pitchFamily="34" charset="-120"/>
              </a:rPr>
              <a:t>AI Architect Simulation  |  Flow A  |  Node 12 of 12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182880"/>
            <a:ext cx="8229600" cy="4114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Auto Follow-Up + Weekly Check-Ins</a:t>
            </a:r>
            <a:endParaRPr lang="en-US" sz="2400" dirty="0"/>
          </a:p>
        </p:txBody>
      </p:sp>
      <p:sp>
        <p:nvSpPr>
          <p:cNvPr id="3" name="Text 1"/>
          <p:cNvSpPr/>
          <p:nvPr/>
        </p:nvSpPr>
        <p:spPr>
          <a:xfrm>
            <a:off x="457200" y="594360"/>
            <a:ext cx="8229600" cy="274320"/>
          </a:xfrm>
          <a:prstGeom prst="rect">
            <a:avLst/>
          </a:prstGeom>
          <a:noFill/>
          <a:ln/>
        </p:spPr>
        <p:txBody>
          <a:bodyPr wrap="square" lIns="0" tIns="0" rIns="0" bIns="0" rtlCol="0" anchor="ctr"/>
          <a:lstStyle/>
          <a:p>
            <a:pPr indent="0" marL="0">
              <a:buNone/>
            </a:pPr>
            <a:r>
              <a:rPr lang="en-US" sz="1400" dirty="0">
                <a:solidFill>
                  <a:srgbClr val="F97316"/>
                </a:solidFill>
                <a:latin typeface="Calibri" pitchFamily="34" charset="0"/>
                <a:ea typeface="Calibri" pitchFamily="34" charset="-122"/>
                <a:cs typeface="Calibri" pitchFamily="34" charset="-120"/>
              </a:rPr>
              <a:t>The Invisible Operations Team</a:t>
            </a:r>
            <a:endParaRPr lang="en-US" sz="1400" dirty="0"/>
          </a:p>
        </p:txBody>
      </p:sp>
      <p:sp>
        <p:nvSpPr>
          <p:cNvPr id="4" name="Shape 2"/>
          <p:cNvSpPr/>
          <p:nvPr/>
        </p:nvSpPr>
        <p:spPr>
          <a:xfrm>
            <a:off x="274320" y="1005840"/>
            <a:ext cx="8595360" cy="1691640"/>
          </a:xfrm>
          <a:prstGeom prst="rect">
            <a:avLst/>
          </a:prstGeom>
          <a:solidFill>
            <a:srgbClr val="161B22"/>
          </a:solidFill>
          <a:ln/>
        </p:spPr>
      </p:sp>
      <p:sp>
        <p:nvSpPr>
          <p:cNvPr id="5" name="Shape 3"/>
          <p:cNvSpPr/>
          <p:nvPr/>
        </p:nvSpPr>
        <p:spPr>
          <a:xfrm>
            <a:off x="274320" y="1005840"/>
            <a:ext cx="8595360" cy="36576"/>
          </a:xfrm>
          <a:prstGeom prst="rect">
            <a:avLst/>
          </a:prstGeom>
          <a:solidFill>
            <a:srgbClr val="2563EB"/>
          </a:solidFill>
          <a:ln/>
        </p:spPr>
      </p:sp>
      <p:sp>
        <p:nvSpPr>
          <p:cNvPr id="6" name="Text 4"/>
          <p:cNvSpPr/>
          <p:nvPr/>
        </p:nvSpPr>
        <p:spPr>
          <a:xfrm>
            <a:off x="457200" y="1097280"/>
            <a:ext cx="8229600" cy="27432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FLOW B: Auto Kickoff Reminder  (Daily 10 AM)</a:t>
            </a:r>
            <a:endParaRPr lang="en-US" sz="1400" dirty="0"/>
          </a:p>
        </p:txBody>
      </p:sp>
      <p:sp>
        <p:nvSpPr>
          <p:cNvPr id="7" name="Shape 5"/>
          <p:cNvSpPr/>
          <p:nvPr/>
        </p:nvSpPr>
        <p:spPr>
          <a:xfrm>
            <a:off x="457200" y="1508760"/>
            <a:ext cx="1005840" cy="365760"/>
          </a:xfrm>
          <a:prstGeom prst="rect">
            <a:avLst/>
          </a:prstGeom>
          <a:solidFill>
            <a:srgbClr val="1C2333"/>
          </a:solidFill>
          <a:ln w="6350">
            <a:solidFill>
              <a:srgbClr val="2563EB"/>
            </a:solidFill>
            <a:prstDash val="solid"/>
          </a:ln>
        </p:spPr>
      </p:sp>
      <p:sp>
        <p:nvSpPr>
          <p:cNvPr id="8" name="Text 6"/>
          <p:cNvSpPr/>
          <p:nvPr/>
        </p:nvSpPr>
        <p:spPr>
          <a:xfrm>
            <a:off x="457200" y="1508760"/>
            <a:ext cx="1005840" cy="365760"/>
          </a:xfrm>
          <a:prstGeom prst="rect">
            <a:avLst/>
          </a:prstGeom>
          <a:noFill/>
          <a:ln/>
        </p:spPr>
        <p:txBody>
          <a:bodyPr wrap="square" lIns="0" tIns="0" rIns="0" bIns="0" rtlCol="0" anchor="ctr"/>
          <a:lstStyle/>
          <a:p>
            <a:pPr algn="ctr" indent="0" marL="0">
              <a:buNone/>
            </a:pPr>
            <a:r>
              <a:rPr lang="en-US" sz="900" dirty="0">
                <a:solidFill>
                  <a:srgbClr val="C9D1D9"/>
                </a:solidFill>
                <a:latin typeface="Calibri" pitchFamily="34" charset="0"/>
                <a:ea typeface="Calibri" pitchFamily="34" charset="-122"/>
                <a:cs typeface="Calibri" pitchFamily="34" charset="-120"/>
              </a:rPr>
              <a:t>⏰ Cron</a:t>
            </a:r>
            <a:endParaRPr lang="en-US" sz="900" dirty="0"/>
          </a:p>
        </p:txBody>
      </p:sp>
      <p:sp>
        <p:nvSpPr>
          <p:cNvPr id="9" name="Text 7"/>
          <p:cNvSpPr/>
          <p:nvPr/>
        </p:nvSpPr>
        <p:spPr>
          <a:xfrm>
            <a:off x="1463040" y="1508760"/>
            <a:ext cx="164592" cy="365760"/>
          </a:xfrm>
          <a:prstGeom prst="rect">
            <a:avLst/>
          </a:prstGeom>
          <a:noFill/>
          <a:ln/>
        </p:spPr>
        <p:txBody>
          <a:bodyPr wrap="square" lIns="0" tIns="0" rIns="0" bIns="0" rtlCol="0" anchor="ctr"/>
          <a:lstStyle/>
          <a:p>
            <a:pPr algn="ctr" indent="0" marL="0">
              <a:buNone/>
            </a:pPr>
            <a:r>
              <a:rPr lang="en-US" sz="1000" dirty="0">
                <a:solidFill>
                  <a:srgbClr val="2563EB"/>
                </a:solidFill>
                <a:latin typeface="Calibri" pitchFamily="34" charset="0"/>
                <a:ea typeface="Calibri" pitchFamily="34" charset="-122"/>
                <a:cs typeface="Calibri" pitchFamily="34" charset="-120"/>
              </a:rPr>
              <a:t>→</a:t>
            </a:r>
            <a:endParaRPr lang="en-US" sz="1000" dirty="0"/>
          </a:p>
        </p:txBody>
      </p:sp>
      <p:sp>
        <p:nvSpPr>
          <p:cNvPr id="10" name="Shape 8"/>
          <p:cNvSpPr/>
          <p:nvPr/>
        </p:nvSpPr>
        <p:spPr>
          <a:xfrm>
            <a:off x="1627632" y="1508760"/>
            <a:ext cx="1005840" cy="365760"/>
          </a:xfrm>
          <a:prstGeom prst="rect">
            <a:avLst/>
          </a:prstGeom>
          <a:solidFill>
            <a:srgbClr val="1C2333"/>
          </a:solidFill>
          <a:ln w="6350">
            <a:solidFill>
              <a:srgbClr val="2563EB"/>
            </a:solidFill>
            <a:prstDash val="solid"/>
          </a:ln>
        </p:spPr>
      </p:sp>
      <p:sp>
        <p:nvSpPr>
          <p:cNvPr id="11" name="Text 9"/>
          <p:cNvSpPr/>
          <p:nvPr/>
        </p:nvSpPr>
        <p:spPr>
          <a:xfrm>
            <a:off x="1627632" y="1508760"/>
            <a:ext cx="1005840" cy="365760"/>
          </a:xfrm>
          <a:prstGeom prst="rect">
            <a:avLst/>
          </a:prstGeom>
          <a:noFill/>
          <a:ln/>
        </p:spPr>
        <p:txBody>
          <a:bodyPr wrap="square" lIns="0" tIns="0" rIns="0" bIns="0" rtlCol="0" anchor="ctr"/>
          <a:lstStyle/>
          <a:p>
            <a:pPr algn="ctr" indent="0" marL="0">
              <a:buNone/>
            </a:pPr>
            <a:r>
              <a:rPr lang="en-US" sz="900" dirty="0">
                <a:solidFill>
                  <a:srgbClr val="C9D1D9"/>
                </a:solidFill>
                <a:latin typeface="Calibri" pitchFamily="34" charset="0"/>
                <a:ea typeface="Calibri" pitchFamily="34" charset="-122"/>
                <a:cs typeface="Calibri" pitchFamily="34" charset="-120"/>
              </a:rPr>
              <a:t>📥 Fetch</a:t>
            </a:r>
            <a:endParaRPr lang="en-US" sz="900" dirty="0"/>
          </a:p>
        </p:txBody>
      </p:sp>
      <p:sp>
        <p:nvSpPr>
          <p:cNvPr id="12" name="Text 10"/>
          <p:cNvSpPr/>
          <p:nvPr/>
        </p:nvSpPr>
        <p:spPr>
          <a:xfrm>
            <a:off x="2633472" y="1508760"/>
            <a:ext cx="164592" cy="365760"/>
          </a:xfrm>
          <a:prstGeom prst="rect">
            <a:avLst/>
          </a:prstGeom>
          <a:noFill/>
          <a:ln/>
        </p:spPr>
        <p:txBody>
          <a:bodyPr wrap="square" lIns="0" tIns="0" rIns="0" bIns="0" rtlCol="0" anchor="ctr"/>
          <a:lstStyle/>
          <a:p>
            <a:pPr algn="ctr" indent="0" marL="0">
              <a:buNone/>
            </a:pPr>
            <a:r>
              <a:rPr lang="en-US" sz="1000" dirty="0">
                <a:solidFill>
                  <a:srgbClr val="2563EB"/>
                </a:solidFill>
                <a:latin typeface="Calibri" pitchFamily="34" charset="0"/>
                <a:ea typeface="Calibri" pitchFamily="34" charset="-122"/>
                <a:cs typeface="Calibri" pitchFamily="34" charset="-120"/>
              </a:rPr>
              <a:t>→</a:t>
            </a:r>
            <a:endParaRPr lang="en-US" sz="1000" dirty="0"/>
          </a:p>
        </p:txBody>
      </p:sp>
      <p:sp>
        <p:nvSpPr>
          <p:cNvPr id="13" name="Shape 11"/>
          <p:cNvSpPr/>
          <p:nvPr/>
        </p:nvSpPr>
        <p:spPr>
          <a:xfrm>
            <a:off x="2798064" y="1508760"/>
            <a:ext cx="1005840" cy="365760"/>
          </a:xfrm>
          <a:prstGeom prst="rect">
            <a:avLst/>
          </a:prstGeom>
          <a:solidFill>
            <a:srgbClr val="1C2333"/>
          </a:solidFill>
          <a:ln w="6350">
            <a:solidFill>
              <a:srgbClr val="2563EB"/>
            </a:solidFill>
            <a:prstDash val="solid"/>
          </a:ln>
        </p:spPr>
      </p:sp>
      <p:sp>
        <p:nvSpPr>
          <p:cNvPr id="14" name="Text 12"/>
          <p:cNvSpPr/>
          <p:nvPr/>
        </p:nvSpPr>
        <p:spPr>
          <a:xfrm>
            <a:off x="2798064" y="1508760"/>
            <a:ext cx="1005840" cy="365760"/>
          </a:xfrm>
          <a:prstGeom prst="rect">
            <a:avLst/>
          </a:prstGeom>
          <a:noFill/>
          <a:ln/>
        </p:spPr>
        <p:txBody>
          <a:bodyPr wrap="square" lIns="0" tIns="0" rIns="0" bIns="0" rtlCol="0" anchor="ctr"/>
          <a:lstStyle/>
          <a:p>
            <a:pPr algn="ctr" indent="0" marL="0">
              <a:buNone/>
            </a:pPr>
            <a:r>
              <a:rPr lang="en-US" sz="900" dirty="0">
                <a:solidFill>
                  <a:srgbClr val="C9D1D9"/>
                </a:solidFill>
                <a:latin typeface="Calibri" pitchFamily="34" charset="0"/>
                <a:ea typeface="Calibri" pitchFamily="34" charset="-122"/>
                <a:cs typeface="Calibri" pitchFamily="34" charset="-120"/>
              </a:rPr>
              <a:t>🔍 Filter</a:t>
            </a:r>
            <a:endParaRPr lang="en-US" sz="900" dirty="0"/>
          </a:p>
        </p:txBody>
      </p:sp>
      <p:sp>
        <p:nvSpPr>
          <p:cNvPr id="15" name="Text 13"/>
          <p:cNvSpPr/>
          <p:nvPr/>
        </p:nvSpPr>
        <p:spPr>
          <a:xfrm>
            <a:off x="3803904" y="1508760"/>
            <a:ext cx="164592" cy="365760"/>
          </a:xfrm>
          <a:prstGeom prst="rect">
            <a:avLst/>
          </a:prstGeom>
          <a:noFill/>
          <a:ln/>
        </p:spPr>
        <p:txBody>
          <a:bodyPr wrap="square" lIns="0" tIns="0" rIns="0" bIns="0" rtlCol="0" anchor="ctr"/>
          <a:lstStyle/>
          <a:p>
            <a:pPr algn="ctr" indent="0" marL="0">
              <a:buNone/>
            </a:pPr>
            <a:r>
              <a:rPr lang="en-US" sz="1000" dirty="0">
                <a:solidFill>
                  <a:srgbClr val="2563EB"/>
                </a:solidFill>
                <a:latin typeface="Calibri" pitchFamily="34" charset="0"/>
                <a:ea typeface="Calibri" pitchFamily="34" charset="-122"/>
                <a:cs typeface="Calibri" pitchFamily="34" charset="-120"/>
              </a:rPr>
              <a:t>→</a:t>
            </a:r>
            <a:endParaRPr lang="en-US" sz="1000" dirty="0"/>
          </a:p>
        </p:txBody>
      </p:sp>
      <p:sp>
        <p:nvSpPr>
          <p:cNvPr id="16" name="Shape 14"/>
          <p:cNvSpPr/>
          <p:nvPr/>
        </p:nvSpPr>
        <p:spPr>
          <a:xfrm>
            <a:off x="3968496" y="1508760"/>
            <a:ext cx="1005840" cy="365760"/>
          </a:xfrm>
          <a:prstGeom prst="rect">
            <a:avLst/>
          </a:prstGeom>
          <a:solidFill>
            <a:srgbClr val="1C2333"/>
          </a:solidFill>
          <a:ln w="6350">
            <a:solidFill>
              <a:srgbClr val="2563EB"/>
            </a:solidFill>
            <a:prstDash val="solid"/>
          </a:ln>
        </p:spPr>
      </p:sp>
      <p:sp>
        <p:nvSpPr>
          <p:cNvPr id="17" name="Text 15"/>
          <p:cNvSpPr/>
          <p:nvPr/>
        </p:nvSpPr>
        <p:spPr>
          <a:xfrm>
            <a:off x="3968496" y="1508760"/>
            <a:ext cx="1005840" cy="365760"/>
          </a:xfrm>
          <a:prstGeom prst="rect">
            <a:avLst/>
          </a:prstGeom>
          <a:noFill/>
          <a:ln/>
        </p:spPr>
        <p:txBody>
          <a:bodyPr wrap="square" lIns="0" tIns="0" rIns="0" bIns="0" rtlCol="0" anchor="ctr"/>
          <a:lstStyle/>
          <a:p>
            <a:pPr algn="ctr" indent="0" marL="0">
              <a:buNone/>
            </a:pPr>
            <a:r>
              <a:rPr lang="en-US" sz="900" dirty="0">
                <a:solidFill>
                  <a:srgbClr val="C9D1D9"/>
                </a:solidFill>
                <a:latin typeface="Calibri" pitchFamily="34" charset="0"/>
                <a:ea typeface="Calibri" pitchFamily="34" charset="-122"/>
                <a:cs typeface="Calibri" pitchFamily="34" charset="-120"/>
              </a:rPr>
              <a:t>🤖 Gemini</a:t>
            </a:r>
            <a:endParaRPr lang="en-US" sz="900" dirty="0"/>
          </a:p>
        </p:txBody>
      </p:sp>
      <p:sp>
        <p:nvSpPr>
          <p:cNvPr id="18" name="Text 16"/>
          <p:cNvSpPr/>
          <p:nvPr/>
        </p:nvSpPr>
        <p:spPr>
          <a:xfrm>
            <a:off x="4974336" y="1508760"/>
            <a:ext cx="164592" cy="365760"/>
          </a:xfrm>
          <a:prstGeom prst="rect">
            <a:avLst/>
          </a:prstGeom>
          <a:noFill/>
          <a:ln/>
        </p:spPr>
        <p:txBody>
          <a:bodyPr wrap="square" lIns="0" tIns="0" rIns="0" bIns="0" rtlCol="0" anchor="ctr"/>
          <a:lstStyle/>
          <a:p>
            <a:pPr algn="ctr" indent="0" marL="0">
              <a:buNone/>
            </a:pPr>
            <a:r>
              <a:rPr lang="en-US" sz="1000" dirty="0">
                <a:solidFill>
                  <a:srgbClr val="2563EB"/>
                </a:solidFill>
                <a:latin typeface="Calibri" pitchFamily="34" charset="0"/>
                <a:ea typeface="Calibri" pitchFamily="34" charset="-122"/>
                <a:cs typeface="Calibri" pitchFamily="34" charset="-120"/>
              </a:rPr>
              <a:t>→</a:t>
            </a:r>
            <a:endParaRPr lang="en-US" sz="1000" dirty="0"/>
          </a:p>
        </p:txBody>
      </p:sp>
      <p:sp>
        <p:nvSpPr>
          <p:cNvPr id="19" name="Shape 17"/>
          <p:cNvSpPr/>
          <p:nvPr/>
        </p:nvSpPr>
        <p:spPr>
          <a:xfrm>
            <a:off x="5138928" y="1508760"/>
            <a:ext cx="1005840" cy="365760"/>
          </a:xfrm>
          <a:prstGeom prst="rect">
            <a:avLst/>
          </a:prstGeom>
          <a:solidFill>
            <a:srgbClr val="1C2333"/>
          </a:solidFill>
          <a:ln w="6350">
            <a:solidFill>
              <a:srgbClr val="2563EB"/>
            </a:solidFill>
            <a:prstDash val="solid"/>
          </a:ln>
        </p:spPr>
      </p:sp>
      <p:sp>
        <p:nvSpPr>
          <p:cNvPr id="20" name="Text 18"/>
          <p:cNvSpPr/>
          <p:nvPr/>
        </p:nvSpPr>
        <p:spPr>
          <a:xfrm>
            <a:off x="5138928" y="1508760"/>
            <a:ext cx="1005840" cy="365760"/>
          </a:xfrm>
          <a:prstGeom prst="rect">
            <a:avLst/>
          </a:prstGeom>
          <a:noFill/>
          <a:ln/>
        </p:spPr>
        <p:txBody>
          <a:bodyPr wrap="square" lIns="0" tIns="0" rIns="0" bIns="0" rtlCol="0" anchor="ctr"/>
          <a:lstStyle/>
          <a:p>
            <a:pPr algn="ctr" indent="0" marL="0">
              <a:buNone/>
            </a:pPr>
            <a:r>
              <a:rPr lang="en-US" sz="900" dirty="0">
                <a:solidFill>
                  <a:srgbClr val="C9D1D9"/>
                </a:solidFill>
                <a:latin typeface="Calibri" pitchFamily="34" charset="0"/>
                <a:ea typeface="Calibri" pitchFamily="34" charset="-122"/>
                <a:cs typeface="Calibri" pitchFamily="34" charset="-120"/>
              </a:rPr>
              <a:t>🔀 Parse</a:t>
            </a:r>
            <a:endParaRPr lang="en-US" sz="900" dirty="0"/>
          </a:p>
        </p:txBody>
      </p:sp>
      <p:sp>
        <p:nvSpPr>
          <p:cNvPr id="21" name="Text 19"/>
          <p:cNvSpPr/>
          <p:nvPr/>
        </p:nvSpPr>
        <p:spPr>
          <a:xfrm>
            <a:off x="6144768" y="1508760"/>
            <a:ext cx="164592" cy="365760"/>
          </a:xfrm>
          <a:prstGeom prst="rect">
            <a:avLst/>
          </a:prstGeom>
          <a:noFill/>
          <a:ln/>
        </p:spPr>
        <p:txBody>
          <a:bodyPr wrap="square" lIns="0" tIns="0" rIns="0" bIns="0" rtlCol="0" anchor="ctr"/>
          <a:lstStyle/>
          <a:p>
            <a:pPr algn="ctr" indent="0" marL="0">
              <a:buNone/>
            </a:pPr>
            <a:r>
              <a:rPr lang="en-US" sz="1000" dirty="0">
                <a:solidFill>
                  <a:srgbClr val="2563EB"/>
                </a:solidFill>
                <a:latin typeface="Calibri" pitchFamily="34" charset="0"/>
                <a:ea typeface="Calibri" pitchFamily="34" charset="-122"/>
                <a:cs typeface="Calibri" pitchFamily="34" charset="-120"/>
              </a:rPr>
              <a:t>→</a:t>
            </a:r>
            <a:endParaRPr lang="en-US" sz="1000" dirty="0"/>
          </a:p>
        </p:txBody>
      </p:sp>
      <p:sp>
        <p:nvSpPr>
          <p:cNvPr id="22" name="Shape 20"/>
          <p:cNvSpPr/>
          <p:nvPr/>
        </p:nvSpPr>
        <p:spPr>
          <a:xfrm>
            <a:off x="6309360" y="1508760"/>
            <a:ext cx="1005840" cy="365760"/>
          </a:xfrm>
          <a:prstGeom prst="rect">
            <a:avLst/>
          </a:prstGeom>
          <a:solidFill>
            <a:srgbClr val="1C2333"/>
          </a:solidFill>
          <a:ln w="6350">
            <a:solidFill>
              <a:srgbClr val="2563EB"/>
            </a:solidFill>
            <a:prstDash val="solid"/>
          </a:ln>
        </p:spPr>
      </p:sp>
      <p:sp>
        <p:nvSpPr>
          <p:cNvPr id="23" name="Text 21"/>
          <p:cNvSpPr/>
          <p:nvPr/>
        </p:nvSpPr>
        <p:spPr>
          <a:xfrm>
            <a:off x="6309360" y="1508760"/>
            <a:ext cx="1005840" cy="365760"/>
          </a:xfrm>
          <a:prstGeom prst="rect">
            <a:avLst/>
          </a:prstGeom>
          <a:noFill/>
          <a:ln/>
        </p:spPr>
        <p:txBody>
          <a:bodyPr wrap="square" lIns="0" tIns="0" rIns="0" bIns="0" rtlCol="0" anchor="ctr"/>
          <a:lstStyle/>
          <a:p>
            <a:pPr algn="ctr" indent="0" marL="0">
              <a:buNone/>
            </a:pPr>
            <a:r>
              <a:rPr lang="en-US" sz="900" dirty="0">
                <a:solidFill>
                  <a:srgbClr val="C9D1D9"/>
                </a:solidFill>
                <a:latin typeface="Calibri" pitchFamily="34" charset="0"/>
                <a:ea typeface="Calibri" pitchFamily="34" charset="-122"/>
                <a:cs typeface="Calibri" pitchFamily="34" charset="-120"/>
              </a:rPr>
              <a:t>📧 Send</a:t>
            </a:r>
            <a:endParaRPr lang="en-US" sz="900" dirty="0"/>
          </a:p>
        </p:txBody>
      </p:sp>
      <p:sp>
        <p:nvSpPr>
          <p:cNvPr id="24" name="Text 22"/>
          <p:cNvSpPr/>
          <p:nvPr/>
        </p:nvSpPr>
        <p:spPr>
          <a:xfrm>
            <a:off x="7315200" y="1508760"/>
            <a:ext cx="164592" cy="365760"/>
          </a:xfrm>
          <a:prstGeom prst="rect">
            <a:avLst/>
          </a:prstGeom>
          <a:noFill/>
          <a:ln/>
        </p:spPr>
        <p:txBody>
          <a:bodyPr wrap="square" lIns="0" tIns="0" rIns="0" bIns="0" rtlCol="0" anchor="ctr"/>
          <a:lstStyle/>
          <a:p>
            <a:pPr algn="ctr" indent="0" marL="0">
              <a:buNone/>
            </a:pPr>
            <a:r>
              <a:rPr lang="en-US" sz="1000" dirty="0">
                <a:solidFill>
                  <a:srgbClr val="2563EB"/>
                </a:solidFill>
                <a:latin typeface="Calibri" pitchFamily="34" charset="0"/>
                <a:ea typeface="Calibri" pitchFamily="34" charset="-122"/>
                <a:cs typeface="Calibri" pitchFamily="34" charset="-120"/>
              </a:rPr>
              <a:t>→</a:t>
            </a:r>
            <a:endParaRPr lang="en-US" sz="1000" dirty="0"/>
          </a:p>
        </p:txBody>
      </p:sp>
      <p:sp>
        <p:nvSpPr>
          <p:cNvPr id="25" name="Shape 23"/>
          <p:cNvSpPr/>
          <p:nvPr/>
        </p:nvSpPr>
        <p:spPr>
          <a:xfrm>
            <a:off x="7479792" y="1508760"/>
            <a:ext cx="1005840" cy="365760"/>
          </a:xfrm>
          <a:prstGeom prst="rect">
            <a:avLst/>
          </a:prstGeom>
          <a:solidFill>
            <a:srgbClr val="1C2333"/>
          </a:solidFill>
          <a:ln w="6350">
            <a:solidFill>
              <a:srgbClr val="2563EB"/>
            </a:solidFill>
            <a:prstDash val="solid"/>
          </a:ln>
        </p:spPr>
      </p:sp>
      <p:sp>
        <p:nvSpPr>
          <p:cNvPr id="26" name="Text 24"/>
          <p:cNvSpPr/>
          <p:nvPr/>
        </p:nvSpPr>
        <p:spPr>
          <a:xfrm>
            <a:off x="7479792" y="1508760"/>
            <a:ext cx="1005840" cy="365760"/>
          </a:xfrm>
          <a:prstGeom prst="rect">
            <a:avLst/>
          </a:prstGeom>
          <a:noFill/>
          <a:ln/>
        </p:spPr>
        <p:txBody>
          <a:bodyPr wrap="square" lIns="0" tIns="0" rIns="0" bIns="0" rtlCol="0" anchor="ctr"/>
          <a:lstStyle/>
          <a:p>
            <a:pPr algn="ctr" indent="0" marL="0">
              <a:buNone/>
            </a:pPr>
            <a:r>
              <a:rPr lang="en-US" sz="900" dirty="0">
                <a:solidFill>
                  <a:srgbClr val="C9D1D9"/>
                </a:solidFill>
                <a:latin typeface="Calibri" pitchFamily="34" charset="0"/>
                <a:ea typeface="Calibri" pitchFamily="34" charset="-122"/>
                <a:cs typeface="Calibri" pitchFamily="34" charset="-120"/>
              </a:rPr>
              <a:t>📝 Update</a:t>
            </a:r>
            <a:endParaRPr lang="en-US" sz="900" dirty="0"/>
          </a:p>
        </p:txBody>
      </p:sp>
      <p:sp>
        <p:nvSpPr>
          <p:cNvPr id="27" name="Text 25"/>
          <p:cNvSpPr/>
          <p:nvPr/>
        </p:nvSpPr>
        <p:spPr>
          <a:xfrm>
            <a:off x="457200" y="2011680"/>
            <a:ext cx="8229600"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If a client doesn't respond within 2 days, they get a warm, AI-written reminder. Status updates so they never get reminded twice.</a:t>
            </a:r>
            <a:endParaRPr lang="en-US" sz="1100" dirty="0"/>
          </a:p>
        </p:txBody>
      </p:sp>
      <p:sp>
        <p:nvSpPr>
          <p:cNvPr id="28" name="Shape 26"/>
          <p:cNvSpPr/>
          <p:nvPr/>
        </p:nvSpPr>
        <p:spPr>
          <a:xfrm>
            <a:off x="274320" y="2834640"/>
            <a:ext cx="8595360" cy="1691640"/>
          </a:xfrm>
          <a:prstGeom prst="rect">
            <a:avLst/>
          </a:prstGeom>
          <a:solidFill>
            <a:srgbClr val="161B22"/>
          </a:solidFill>
          <a:ln/>
        </p:spPr>
      </p:sp>
      <p:sp>
        <p:nvSpPr>
          <p:cNvPr id="29" name="Shape 27"/>
          <p:cNvSpPr/>
          <p:nvPr/>
        </p:nvSpPr>
        <p:spPr>
          <a:xfrm>
            <a:off x="274320" y="2834640"/>
            <a:ext cx="8595360" cy="36576"/>
          </a:xfrm>
          <a:prstGeom prst="rect">
            <a:avLst/>
          </a:prstGeom>
          <a:solidFill>
            <a:srgbClr val="0D9488"/>
          </a:solidFill>
          <a:ln/>
        </p:spPr>
      </p:sp>
      <p:sp>
        <p:nvSpPr>
          <p:cNvPr id="30" name="Text 28"/>
          <p:cNvSpPr/>
          <p:nvPr/>
        </p:nvSpPr>
        <p:spPr>
          <a:xfrm>
            <a:off x="457200" y="2926080"/>
            <a:ext cx="8229600" cy="27432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FLOW C: Weekly Monday Check-In</a:t>
            </a:r>
            <a:endParaRPr lang="en-US" sz="1400" dirty="0"/>
          </a:p>
        </p:txBody>
      </p:sp>
      <p:sp>
        <p:nvSpPr>
          <p:cNvPr id="31" name="Shape 29"/>
          <p:cNvSpPr/>
          <p:nvPr/>
        </p:nvSpPr>
        <p:spPr>
          <a:xfrm>
            <a:off x="457200" y="3337560"/>
            <a:ext cx="1005840" cy="365760"/>
          </a:xfrm>
          <a:prstGeom prst="rect">
            <a:avLst/>
          </a:prstGeom>
          <a:solidFill>
            <a:srgbClr val="1C2333"/>
          </a:solidFill>
          <a:ln w="6350">
            <a:solidFill>
              <a:srgbClr val="0D9488"/>
            </a:solidFill>
            <a:prstDash val="solid"/>
          </a:ln>
        </p:spPr>
      </p:sp>
      <p:sp>
        <p:nvSpPr>
          <p:cNvPr id="32" name="Text 30"/>
          <p:cNvSpPr/>
          <p:nvPr/>
        </p:nvSpPr>
        <p:spPr>
          <a:xfrm>
            <a:off x="457200" y="3337560"/>
            <a:ext cx="1005840" cy="365760"/>
          </a:xfrm>
          <a:prstGeom prst="rect">
            <a:avLst/>
          </a:prstGeom>
          <a:noFill/>
          <a:ln/>
        </p:spPr>
        <p:txBody>
          <a:bodyPr wrap="square" lIns="0" tIns="0" rIns="0" bIns="0" rtlCol="0" anchor="ctr"/>
          <a:lstStyle/>
          <a:p>
            <a:pPr algn="ctr" indent="0" marL="0">
              <a:buNone/>
            </a:pPr>
            <a:r>
              <a:rPr lang="en-US" sz="900" dirty="0">
                <a:solidFill>
                  <a:srgbClr val="C9D1D9"/>
                </a:solidFill>
                <a:latin typeface="Calibri" pitchFamily="34" charset="0"/>
                <a:ea typeface="Calibri" pitchFamily="34" charset="-122"/>
                <a:cs typeface="Calibri" pitchFamily="34" charset="-120"/>
              </a:rPr>
              <a:t>⏰ Mon Cron</a:t>
            </a:r>
            <a:endParaRPr lang="en-US" sz="900" dirty="0"/>
          </a:p>
        </p:txBody>
      </p:sp>
      <p:sp>
        <p:nvSpPr>
          <p:cNvPr id="33" name="Text 31"/>
          <p:cNvSpPr/>
          <p:nvPr/>
        </p:nvSpPr>
        <p:spPr>
          <a:xfrm>
            <a:off x="1463040" y="3337560"/>
            <a:ext cx="164592" cy="365760"/>
          </a:xfrm>
          <a:prstGeom prst="rect">
            <a:avLst/>
          </a:prstGeom>
          <a:noFill/>
          <a:ln/>
        </p:spPr>
        <p:txBody>
          <a:bodyPr wrap="square" lIns="0" tIns="0" rIns="0" bIns="0" rtlCol="0" anchor="ctr"/>
          <a:lstStyle/>
          <a:p>
            <a:pPr algn="ctr" indent="0" marL="0">
              <a:buNone/>
            </a:pPr>
            <a:r>
              <a:rPr lang="en-US" sz="1000" dirty="0">
                <a:solidFill>
                  <a:srgbClr val="0D9488"/>
                </a:solidFill>
                <a:latin typeface="Calibri" pitchFamily="34" charset="0"/>
                <a:ea typeface="Calibri" pitchFamily="34" charset="-122"/>
                <a:cs typeface="Calibri" pitchFamily="34" charset="-120"/>
              </a:rPr>
              <a:t>→</a:t>
            </a:r>
            <a:endParaRPr lang="en-US" sz="1000" dirty="0"/>
          </a:p>
        </p:txBody>
      </p:sp>
      <p:sp>
        <p:nvSpPr>
          <p:cNvPr id="34" name="Shape 32"/>
          <p:cNvSpPr/>
          <p:nvPr/>
        </p:nvSpPr>
        <p:spPr>
          <a:xfrm>
            <a:off x="1627632" y="3337560"/>
            <a:ext cx="1005840" cy="365760"/>
          </a:xfrm>
          <a:prstGeom prst="rect">
            <a:avLst/>
          </a:prstGeom>
          <a:solidFill>
            <a:srgbClr val="1C2333"/>
          </a:solidFill>
          <a:ln w="6350">
            <a:solidFill>
              <a:srgbClr val="0D9488"/>
            </a:solidFill>
            <a:prstDash val="solid"/>
          </a:ln>
        </p:spPr>
      </p:sp>
      <p:sp>
        <p:nvSpPr>
          <p:cNvPr id="35" name="Text 33"/>
          <p:cNvSpPr/>
          <p:nvPr/>
        </p:nvSpPr>
        <p:spPr>
          <a:xfrm>
            <a:off x="1627632" y="3337560"/>
            <a:ext cx="1005840" cy="365760"/>
          </a:xfrm>
          <a:prstGeom prst="rect">
            <a:avLst/>
          </a:prstGeom>
          <a:noFill/>
          <a:ln/>
        </p:spPr>
        <p:txBody>
          <a:bodyPr wrap="square" lIns="0" tIns="0" rIns="0" bIns="0" rtlCol="0" anchor="ctr"/>
          <a:lstStyle/>
          <a:p>
            <a:pPr algn="ctr" indent="0" marL="0">
              <a:buNone/>
            </a:pPr>
            <a:r>
              <a:rPr lang="en-US" sz="900" dirty="0">
                <a:solidFill>
                  <a:srgbClr val="C9D1D9"/>
                </a:solidFill>
                <a:latin typeface="Calibri" pitchFamily="34" charset="0"/>
                <a:ea typeface="Calibri" pitchFamily="34" charset="-122"/>
                <a:cs typeface="Calibri" pitchFamily="34" charset="-120"/>
              </a:rPr>
              <a:t>📥 Fetch</a:t>
            </a:r>
            <a:endParaRPr lang="en-US" sz="900" dirty="0"/>
          </a:p>
        </p:txBody>
      </p:sp>
      <p:sp>
        <p:nvSpPr>
          <p:cNvPr id="36" name="Text 34"/>
          <p:cNvSpPr/>
          <p:nvPr/>
        </p:nvSpPr>
        <p:spPr>
          <a:xfrm>
            <a:off x="2633472" y="3337560"/>
            <a:ext cx="164592" cy="365760"/>
          </a:xfrm>
          <a:prstGeom prst="rect">
            <a:avLst/>
          </a:prstGeom>
          <a:noFill/>
          <a:ln/>
        </p:spPr>
        <p:txBody>
          <a:bodyPr wrap="square" lIns="0" tIns="0" rIns="0" bIns="0" rtlCol="0" anchor="ctr"/>
          <a:lstStyle/>
          <a:p>
            <a:pPr algn="ctr" indent="0" marL="0">
              <a:buNone/>
            </a:pPr>
            <a:r>
              <a:rPr lang="en-US" sz="1000" dirty="0">
                <a:solidFill>
                  <a:srgbClr val="0D9488"/>
                </a:solidFill>
                <a:latin typeface="Calibri" pitchFamily="34" charset="0"/>
                <a:ea typeface="Calibri" pitchFamily="34" charset="-122"/>
                <a:cs typeface="Calibri" pitchFamily="34" charset="-120"/>
              </a:rPr>
              <a:t>→</a:t>
            </a:r>
            <a:endParaRPr lang="en-US" sz="1000" dirty="0"/>
          </a:p>
        </p:txBody>
      </p:sp>
      <p:sp>
        <p:nvSpPr>
          <p:cNvPr id="37" name="Shape 35"/>
          <p:cNvSpPr/>
          <p:nvPr/>
        </p:nvSpPr>
        <p:spPr>
          <a:xfrm>
            <a:off x="2798064" y="3337560"/>
            <a:ext cx="1005840" cy="365760"/>
          </a:xfrm>
          <a:prstGeom prst="rect">
            <a:avLst/>
          </a:prstGeom>
          <a:solidFill>
            <a:srgbClr val="1C2333"/>
          </a:solidFill>
          <a:ln w="6350">
            <a:solidFill>
              <a:srgbClr val="0D9488"/>
            </a:solidFill>
            <a:prstDash val="solid"/>
          </a:ln>
        </p:spPr>
      </p:sp>
      <p:sp>
        <p:nvSpPr>
          <p:cNvPr id="38" name="Text 36"/>
          <p:cNvSpPr/>
          <p:nvPr/>
        </p:nvSpPr>
        <p:spPr>
          <a:xfrm>
            <a:off x="2798064" y="3337560"/>
            <a:ext cx="1005840" cy="365760"/>
          </a:xfrm>
          <a:prstGeom prst="rect">
            <a:avLst/>
          </a:prstGeom>
          <a:noFill/>
          <a:ln/>
        </p:spPr>
        <p:txBody>
          <a:bodyPr wrap="square" lIns="0" tIns="0" rIns="0" bIns="0" rtlCol="0" anchor="ctr"/>
          <a:lstStyle/>
          <a:p>
            <a:pPr algn="ctr" indent="0" marL="0">
              <a:buNone/>
            </a:pPr>
            <a:r>
              <a:rPr lang="en-US" sz="900" dirty="0">
                <a:solidFill>
                  <a:srgbClr val="C9D1D9"/>
                </a:solidFill>
                <a:latin typeface="Calibri" pitchFamily="34" charset="0"/>
                <a:ea typeface="Calibri" pitchFamily="34" charset="-122"/>
                <a:cs typeface="Calibri" pitchFamily="34" charset="-120"/>
              </a:rPr>
              <a:t>🔢 Week #</a:t>
            </a:r>
            <a:endParaRPr lang="en-US" sz="900" dirty="0"/>
          </a:p>
        </p:txBody>
      </p:sp>
      <p:sp>
        <p:nvSpPr>
          <p:cNvPr id="39" name="Text 37"/>
          <p:cNvSpPr/>
          <p:nvPr/>
        </p:nvSpPr>
        <p:spPr>
          <a:xfrm>
            <a:off x="3803904" y="3337560"/>
            <a:ext cx="164592" cy="365760"/>
          </a:xfrm>
          <a:prstGeom prst="rect">
            <a:avLst/>
          </a:prstGeom>
          <a:noFill/>
          <a:ln/>
        </p:spPr>
        <p:txBody>
          <a:bodyPr wrap="square" lIns="0" tIns="0" rIns="0" bIns="0" rtlCol="0" anchor="ctr"/>
          <a:lstStyle/>
          <a:p>
            <a:pPr algn="ctr" indent="0" marL="0">
              <a:buNone/>
            </a:pPr>
            <a:r>
              <a:rPr lang="en-US" sz="1000" dirty="0">
                <a:solidFill>
                  <a:srgbClr val="0D9488"/>
                </a:solidFill>
                <a:latin typeface="Calibri" pitchFamily="34" charset="0"/>
                <a:ea typeface="Calibri" pitchFamily="34" charset="-122"/>
                <a:cs typeface="Calibri" pitchFamily="34" charset="-120"/>
              </a:rPr>
              <a:t>→</a:t>
            </a:r>
            <a:endParaRPr lang="en-US" sz="1000" dirty="0"/>
          </a:p>
        </p:txBody>
      </p:sp>
      <p:sp>
        <p:nvSpPr>
          <p:cNvPr id="40" name="Shape 38"/>
          <p:cNvSpPr/>
          <p:nvPr/>
        </p:nvSpPr>
        <p:spPr>
          <a:xfrm>
            <a:off x="3968496" y="3337560"/>
            <a:ext cx="1005840" cy="365760"/>
          </a:xfrm>
          <a:prstGeom prst="rect">
            <a:avLst/>
          </a:prstGeom>
          <a:solidFill>
            <a:srgbClr val="1C2333"/>
          </a:solidFill>
          <a:ln w="6350">
            <a:solidFill>
              <a:srgbClr val="0D9488"/>
            </a:solidFill>
            <a:prstDash val="solid"/>
          </a:ln>
        </p:spPr>
      </p:sp>
      <p:sp>
        <p:nvSpPr>
          <p:cNvPr id="41" name="Text 39"/>
          <p:cNvSpPr/>
          <p:nvPr/>
        </p:nvSpPr>
        <p:spPr>
          <a:xfrm>
            <a:off x="3968496" y="3337560"/>
            <a:ext cx="1005840" cy="365760"/>
          </a:xfrm>
          <a:prstGeom prst="rect">
            <a:avLst/>
          </a:prstGeom>
          <a:noFill/>
          <a:ln/>
        </p:spPr>
        <p:txBody>
          <a:bodyPr wrap="square" lIns="0" tIns="0" rIns="0" bIns="0" rtlCol="0" anchor="ctr"/>
          <a:lstStyle/>
          <a:p>
            <a:pPr algn="ctr" indent="0" marL="0">
              <a:buNone/>
            </a:pPr>
            <a:r>
              <a:rPr lang="en-US" sz="900" dirty="0">
                <a:solidFill>
                  <a:srgbClr val="C9D1D9"/>
                </a:solidFill>
                <a:latin typeface="Calibri" pitchFamily="34" charset="0"/>
                <a:ea typeface="Calibri" pitchFamily="34" charset="-122"/>
                <a:cs typeface="Calibri" pitchFamily="34" charset="-120"/>
              </a:rPr>
              <a:t>🤖 Gemini</a:t>
            </a:r>
            <a:endParaRPr lang="en-US" sz="900" dirty="0"/>
          </a:p>
        </p:txBody>
      </p:sp>
      <p:sp>
        <p:nvSpPr>
          <p:cNvPr id="42" name="Text 40"/>
          <p:cNvSpPr/>
          <p:nvPr/>
        </p:nvSpPr>
        <p:spPr>
          <a:xfrm>
            <a:off x="4974336" y="3337560"/>
            <a:ext cx="164592" cy="365760"/>
          </a:xfrm>
          <a:prstGeom prst="rect">
            <a:avLst/>
          </a:prstGeom>
          <a:noFill/>
          <a:ln/>
        </p:spPr>
        <p:txBody>
          <a:bodyPr wrap="square" lIns="0" tIns="0" rIns="0" bIns="0" rtlCol="0" anchor="ctr"/>
          <a:lstStyle/>
          <a:p>
            <a:pPr algn="ctr" indent="0" marL="0">
              <a:buNone/>
            </a:pPr>
            <a:r>
              <a:rPr lang="en-US" sz="1000" dirty="0">
                <a:solidFill>
                  <a:srgbClr val="0D9488"/>
                </a:solidFill>
                <a:latin typeface="Calibri" pitchFamily="34" charset="0"/>
                <a:ea typeface="Calibri" pitchFamily="34" charset="-122"/>
                <a:cs typeface="Calibri" pitchFamily="34" charset="-120"/>
              </a:rPr>
              <a:t>→</a:t>
            </a:r>
            <a:endParaRPr lang="en-US" sz="1000" dirty="0"/>
          </a:p>
        </p:txBody>
      </p:sp>
      <p:sp>
        <p:nvSpPr>
          <p:cNvPr id="43" name="Shape 41"/>
          <p:cNvSpPr/>
          <p:nvPr/>
        </p:nvSpPr>
        <p:spPr>
          <a:xfrm>
            <a:off x="5138928" y="3337560"/>
            <a:ext cx="1005840" cy="365760"/>
          </a:xfrm>
          <a:prstGeom prst="rect">
            <a:avLst/>
          </a:prstGeom>
          <a:solidFill>
            <a:srgbClr val="1C2333"/>
          </a:solidFill>
          <a:ln w="6350">
            <a:solidFill>
              <a:srgbClr val="0D9488"/>
            </a:solidFill>
            <a:prstDash val="solid"/>
          </a:ln>
        </p:spPr>
      </p:sp>
      <p:sp>
        <p:nvSpPr>
          <p:cNvPr id="44" name="Text 42"/>
          <p:cNvSpPr/>
          <p:nvPr/>
        </p:nvSpPr>
        <p:spPr>
          <a:xfrm>
            <a:off x="5138928" y="3337560"/>
            <a:ext cx="1005840" cy="365760"/>
          </a:xfrm>
          <a:prstGeom prst="rect">
            <a:avLst/>
          </a:prstGeom>
          <a:noFill/>
          <a:ln/>
        </p:spPr>
        <p:txBody>
          <a:bodyPr wrap="square" lIns="0" tIns="0" rIns="0" bIns="0" rtlCol="0" anchor="ctr"/>
          <a:lstStyle/>
          <a:p>
            <a:pPr algn="ctr" indent="0" marL="0">
              <a:buNone/>
            </a:pPr>
            <a:r>
              <a:rPr lang="en-US" sz="900" dirty="0">
                <a:solidFill>
                  <a:srgbClr val="C9D1D9"/>
                </a:solidFill>
                <a:latin typeface="Calibri" pitchFamily="34" charset="0"/>
                <a:ea typeface="Calibri" pitchFamily="34" charset="-122"/>
                <a:cs typeface="Calibri" pitchFamily="34" charset="-120"/>
              </a:rPr>
              <a:t>🔀 Parse</a:t>
            </a:r>
            <a:endParaRPr lang="en-US" sz="900" dirty="0"/>
          </a:p>
        </p:txBody>
      </p:sp>
      <p:sp>
        <p:nvSpPr>
          <p:cNvPr id="45" name="Text 43"/>
          <p:cNvSpPr/>
          <p:nvPr/>
        </p:nvSpPr>
        <p:spPr>
          <a:xfrm>
            <a:off x="6144768" y="3337560"/>
            <a:ext cx="164592" cy="365760"/>
          </a:xfrm>
          <a:prstGeom prst="rect">
            <a:avLst/>
          </a:prstGeom>
          <a:noFill/>
          <a:ln/>
        </p:spPr>
        <p:txBody>
          <a:bodyPr wrap="square" lIns="0" tIns="0" rIns="0" bIns="0" rtlCol="0" anchor="ctr"/>
          <a:lstStyle/>
          <a:p>
            <a:pPr algn="ctr" indent="0" marL="0">
              <a:buNone/>
            </a:pPr>
            <a:r>
              <a:rPr lang="en-US" sz="1000" dirty="0">
                <a:solidFill>
                  <a:srgbClr val="0D9488"/>
                </a:solidFill>
                <a:latin typeface="Calibri" pitchFamily="34" charset="0"/>
                <a:ea typeface="Calibri" pitchFamily="34" charset="-122"/>
                <a:cs typeface="Calibri" pitchFamily="34" charset="-120"/>
              </a:rPr>
              <a:t>→</a:t>
            </a:r>
            <a:endParaRPr lang="en-US" sz="1000" dirty="0"/>
          </a:p>
        </p:txBody>
      </p:sp>
      <p:sp>
        <p:nvSpPr>
          <p:cNvPr id="46" name="Shape 44"/>
          <p:cNvSpPr/>
          <p:nvPr/>
        </p:nvSpPr>
        <p:spPr>
          <a:xfrm>
            <a:off x="6309360" y="3337560"/>
            <a:ext cx="1005840" cy="365760"/>
          </a:xfrm>
          <a:prstGeom prst="rect">
            <a:avLst/>
          </a:prstGeom>
          <a:solidFill>
            <a:srgbClr val="1C2333"/>
          </a:solidFill>
          <a:ln w="6350">
            <a:solidFill>
              <a:srgbClr val="0D9488"/>
            </a:solidFill>
            <a:prstDash val="solid"/>
          </a:ln>
        </p:spPr>
      </p:sp>
      <p:sp>
        <p:nvSpPr>
          <p:cNvPr id="47" name="Text 45"/>
          <p:cNvSpPr/>
          <p:nvPr/>
        </p:nvSpPr>
        <p:spPr>
          <a:xfrm>
            <a:off x="6309360" y="3337560"/>
            <a:ext cx="1005840" cy="365760"/>
          </a:xfrm>
          <a:prstGeom prst="rect">
            <a:avLst/>
          </a:prstGeom>
          <a:noFill/>
          <a:ln/>
        </p:spPr>
        <p:txBody>
          <a:bodyPr wrap="square" lIns="0" tIns="0" rIns="0" bIns="0" rtlCol="0" anchor="ctr"/>
          <a:lstStyle/>
          <a:p>
            <a:pPr algn="ctr" indent="0" marL="0">
              <a:buNone/>
            </a:pPr>
            <a:r>
              <a:rPr lang="en-US" sz="900" dirty="0">
                <a:solidFill>
                  <a:srgbClr val="C9D1D9"/>
                </a:solidFill>
                <a:latin typeface="Calibri" pitchFamily="34" charset="0"/>
                <a:ea typeface="Calibri" pitchFamily="34" charset="-122"/>
                <a:cs typeface="Calibri" pitchFamily="34" charset="-120"/>
              </a:rPr>
              <a:t>📧 Send</a:t>
            </a:r>
            <a:endParaRPr lang="en-US" sz="900" dirty="0"/>
          </a:p>
        </p:txBody>
      </p:sp>
      <p:sp>
        <p:nvSpPr>
          <p:cNvPr id="48" name="Text 46"/>
          <p:cNvSpPr/>
          <p:nvPr/>
        </p:nvSpPr>
        <p:spPr>
          <a:xfrm>
            <a:off x="7315200" y="3337560"/>
            <a:ext cx="164592" cy="365760"/>
          </a:xfrm>
          <a:prstGeom prst="rect">
            <a:avLst/>
          </a:prstGeom>
          <a:noFill/>
          <a:ln/>
        </p:spPr>
        <p:txBody>
          <a:bodyPr wrap="square" lIns="0" tIns="0" rIns="0" bIns="0" rtlCol="0" anchor="ctr"/>
          <a:lstStyle/>
          <a:p>
            <a:pPr algn="ctr" indent="0" marL="0">
              <a:buNone/>
            </a:pPr>
            <a:r>
              <a:rPr lang="en-US" sz="1000" dirty="0">
                <a:solidFill>
                  <a:srgbClr val="0D9488"/>
                </a:solidFill>
                <a:latin typeface="Calibri" pitchFamily="34" charset="0"/>
                <a:ea typeface="Calibri" pitchFamily="34" charset="-122"/>
                <a:cs typeface="Calibri" pitchFamily="34" charset="-120"/>
              </a:rPr>
              <a:t>→</a:t>
            </a:r>
            <a:endParaRPr lang="en-US" sz="1000" dirty="0"/>
          </a:p>
        </p:txBody>
      </p:sp>
      <p:sp>
        <p:nvSpPr>
          <p:cNvPr id="49" name="Shape 47"/>
          <p:cNvSpPr/>
          <p:nvPr/>
        </p:nvSpPr>
        <p:spPr>
          <a:xfrm>
            <a:off x="7479792" y="3337560"/>
            <a:ext cx="1005840" cy="365760"/>
          </a:xfrm>
          <a:prstGeom prst="rect">
            <a:avLst/>
          </a:prstGeom>
          <a:solidFill>
            <a:srgbClr val="1C2333"/>
          </a:solidFill>
          <a:ln w="6350">
            <a:solidFill>
              <a:srgbClr val="0D9488"/>
            </a:solidFill>
            <a:prstDash val="solid"/>
          </a:ln>
        </p:spPr>
      </p:sp>
      <p:sp>
        <p:nvSpPr>
          <p:cNvPr id="50" name="Text 48"/>
          <p:cNvSpPr/>
          <p:nvPr/>
        </p:nvSpPr>
        <p:spPr>
          <a:xfrm>
            <a:off x="7479792" y="3337560"/>
            <a:ext cx="1005840" cy="365760"/>
          </a:xfrm>
          <a:prstGeom prst="rect">
            <a:avLst/>
          </a:prstGeom>
          <a:noFill/>
          <a:ln/>
        </p:spPr>
        <p:txBody>
          <a:bodyPr wrap="square" lIns="0" tIns="0" rIns="0" bIns="0" rtlCol="0" anchor="ctr"/>
          <a:lstStyle/>
          <a:p>
            <a:pPr algn="ctr" indent="0" marL="0">
              <a:buNone/>
            </a:pPr>
            <a:r>
              <a:rPr lang="en-US" sz="900" dirty="0">
                <a:solidFill>
                  <a:srgbClr val="C9D1D9"/>
                </a:solidFill>
                <a:latin typeface="Calibri" pitchFamily="34" charset="0"/>
                <a:ea typeface="Calibri" pitchFamily="34" charset="-122"/>
                <a:cs typeface="Calibri" pitchFamily="34" charset="-120"/>
              </a:rPr>
              <a:t>📝 Log</a:t>
            </a:r>
            <a:endParaRPr lang="en-US" sz="900" dirty="0"/>
          </a:p>
        </p:txBody>
      </p:sp>
      <p:sp>
        <p:nvSpPr>
          <p:cNvPr id="51" name="Text 49"/>
          <p:cNvSpPr/>
          <p:nvPr/>
        </p:nvSpPr>
        <p:spPr>
          <a:xfrm>
            <a:off x="457200" y="3840480"/>
            <a:ext cx="8229600" cy="5029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Every Monday, EVERY active client gets a personalized progress update with correct week number and project phase. AI-written, all unique, all logged.</a:t>
            </a:r>
            <a:endParaRPr lang="en-US" sz="1100" dirty="0"/>
          </a:p>
        </p:txBody>
      </p:sp>
      <p:sp>
        <p:nvSpPr>
          <p:cNvPr id="52" name="Text 50"/>
          <p:cNvSpPr/>
          <p:nvPr/>
        </p:nvSpPr>
        <p:spPr>
          <a:xfrm>
            <a:off x="274320" y="4572000"/>
            <a:ext cx="8595360" cy="320040"/>
          </a:xfrm>
          <a:prstGeom prst="rect">
            <a:avLst/>
          </a:prstGeom>
          <a:noFill/>
          <a:ln/>
        </p:spPr>
        <p:txBody>
          <a:bodyPr wrap="square" lIns="0" tIns="0" rIns="0" bIns="0" rtlCol="0" anchor="ctr"/>
          <a:lstStyle/>
          <a:p>
            <a:pPr algn="ctr" indent="0" marL="0">
              <a:buNone/>
            </a:pPr>
            <a:r>
              <a:rPr lang="en-US" sz="1000" b="1" dirty="0">
                <a:solidFill>
                  <a:srgbClr val="F97316"/>
                </a:solidFill>
                <a:latin typeface="Calibri" pitchFamily="34" charset="0"/>
                <a:ea typeface="Calibri" pitchFamily="34" charset="-122"/>
                <a:cs typeface="Calibri" pitchFamily="34" charset="-120"/>
              </a:rPr>
              <a:t>STATUS LIFECYCLE:  Welcome Sent → (2 days) → Kickoff Reminder → Active → (weekly check-ins) → Complete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Level Up: Where This Goes Next</a:t>
            </a:r>
            <a:endParaRPr lang="en-US" sz="2600" dirty="0"/>
          </a:p>
        </p:txBody>
      </p:sp>
      <p:sp>
        <p:nvSpPr>
          <p:cNvPr id="3" name="Shape 1"/>
          <p:cNvSpPr/>
          <p:nvPr/>
        </p:nvSpPr>
        <p:spPr>
          <a:xfrm>
            <a:off x="320040" y="868680"/>
            <a:ext cx="2697480" cy="1691640"/>
          </a:xfrm>
          <a:prstGeom prst="rect">
            <a:avLst/>
          </a:prstGeom>
          <a:solidFill>
            <a:srgbClr val="161B22"/>
          </a:solidFill>
          <a:ln/>
        </p:spPr>
      </p:sp>
      <p:pic>
        <p:nvPicPr>
          <p:cNvPr id="4" name="Image 0" descr="preencoded.png">    </p:cNvPr>
          <p:cNvPicPr>
            <a:picLocks noChangeAspect="1"/>
          </p:cNvPicPr>
          <p:nvPr/>
        </p:nvPicPr>
        <p:blipFill>
          <a:blip r:embed="rId1"/>
          <a:stretch>
            <a:fillRect/>
          </a:stretch>
        </p:blipFill>
        <p:spPr>
          <a:xfrm>
            <a:off x="457200" y="1005840"/>
            <a:ext cx="320040" cy="320040"/>
          </a:xfrm>
          <a:prstGeom prst="rect">
            <a:avLst/>
          </a:prstGeom>
        </p:spPr>
      </p:pic>
      <p:sp>
        <p:nvSpPr>
          <p:cNvPr id="5" name="Text 2"/>
          <p:cNvSpPr/>
          <p:nvPr/>
        </p:nvSpPr>
        <p:spPr>
          <a:xfrm>
            <a:off x="868680" y="1005840"/>
            <a:ext cx="1965960" cy="320040"/>
          </a:xfrm>
          <a:prstGeom prst="rect">
            <a:avLst/>
          </a:prstGeom>
          <a:noFill/>
          <a:ln/>
        </p:spPr>
        <p:txBody>
          <a:bodyPr wrap="square" lIns="0" tIns="0" rIns="0" bIns="0" rtlCol="0" anchor="ctr"/>
          <a:lstStyle/>
          <a:p>
            <a:pPr indent="0" marL="0">
              <a:buNone/>
            </a:pPr>
            <a:r>
              <a:rPr lang="en-US" sz="1200" b="1" dirty="0">
                <a:solidFill>
                  <a:srgbClr val="F97316"/>
                </a:solidFill>
                <a:latin typeface="Calibri" pitchFamily="34" charset="0"/>
                <a:ea typeface="Calibri" pitchFamily="34" charset="-122"/>
                <a:cs typeface="Calibri" pitchFamily="34" charset="-120"/>
              </a:rPr>
              <a:t>AI Invoice Generator</a:t>
            </a:r>
            <a:endParaRPr lang="en-US" sz="1200" dirty="0"/>
          </a:p>
        </p:txBody>
      </p:sp>
      <p:sp>
        <p:nvSpPr>
          <p:cNvPr id="6" name="Text 3"/>
          <p:cNvSpPr/>
          <p:nvPr/>
        </p:nvSpPr>
        <p:spPr>
          <a:xfrm>
            <a:off x="457200" y="1417320"/>
            <a:ext cx="2423160" cy="100584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Auto-generate invoice PDF with GST after project completes. Email to client with payment link.</a:t>
            </a:r>
            <a:endParaRPr lang="en-US" sz="1000" dirty="0"/>
          </a:p>
        </p:txBody>
      </p:sp>
      <p:sp>
        <p:nvSpPr>
          <p:cNvPr id="7" name="Shape 4"/>
          <p:cNvSpPr/>
          <p:nvPr/>
        </p:nvSpPr>
        <p:spPr>
          <a:xfrm>
            <a:off x="3200400" y="868680"/>
            <a:ext cx="2697480" cy="1691640"/>
          </a:xfrm>
          <a:prstGeom prst="rect">
            <a:avLst/>
          </a:prstGeom>
          <a:solidFill>
            <a:srgbClr val="161B22"/>
          </a:solidFill>
          <a:ln/>
        </p:spPr>
      </p:sp>
      <p:pic>
        <p:nvPicPr>
          <p:cNvPr id="8" name="Image 1" descr="preencoded.png">    </p:cNvPr>
          <p:cNvPicPr>
            <a:picLocks noChangeAspect="1"/>
          </p:cNvPicPr>
          <p:nvPr/>
        </p:nvPicPr>
        <p:blipFill>
          <a:blip r:embed="rId2"/>
          <a:stretch>
            <a:fillRect/>
          </a:stretch>
        </p:blipFill>
        <p:spPr>
          <a:xfrm>
            <a:off x="3337560" y="1005840"/>
            <a:ext cx="320040" cy="320040"/>
          </a:xfrm>
          <a:prstGeom prst="rect">
            <a:avLst/>
          </a:prstGeom>
        </p:spPr>
      </p:pic>
      <p:sp>
        <p:nvSpPr>
          <p:cNvPr id="9" name="Text 5"/>
          <p:cNvSpPr/>
          <p:nvPr/>
        </p:nvSpPr>
        <p:spPr>
          <a:xfrm>
            <a:off x="3749040" y="1005840"/>
            <a:ext cx="1965960" cy="320040"/>
          </a:xfrm>
          <a:prstGeom prst="rect">
            <a:avLst/>
          </a:prstGeom>
          <a:noFill/>
          <a:ln/>
        </p:spPr>
        <p:txBody>
          <a:bodyPr wrap="square" lIns="0" tIns="0" rIns="0" bIns="0"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AI Proposal Writer</a:t>
            </a:r>
            <a:endParaRPr lang="en-US" sz="1200" dirty="0"/>
          </a:p>
        </p:txBody>
      </p:sp>
      <p:sp>
        <p:nvSpPr>
          <p:cNvPr id="10" name="Text 6"/>
          <p:cNvSpPr/>
          <p:nvPr/>
        </p:nvSpPr>
        <p:spPr>
          <a:xfrm>
            <a:off x="3337560" y="1417320"/>
            <a:ext cx="2423160" cy="100584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Auto-generate professional proposal PDF from Services DB. Client accepts → auto-trigger onboarding.</a:t>
            </a:r>
            <a:endParaRPr lang="en-US" sz="1000" dirty="0"/>
          </a:p>
        </p:txBody>
      </p:sp>
      <p:sp>
        <p:nvSpPr>
          <p:cNvPr id="11" name="Shape 7"/>
          <p:cNvSpPr/>
          <p:nvPr/>
        </p:nvSpPr>
        <p:spPr>
          <a:xfrm>
            <a:off x="6080760" y="868680"/>
            <a:ext cx="2697480" cy="1691640"/>
          </a:xfrm>
          <a:prstGeom prst="rect">
            <a:avLst/>
          </a:prstGeom>
          <a:solidFill>
            <a:srgbClr val="161B22"/>
          </a:solidFill>
          <a:ln/>
        </p:spPr>
      </p:sp>
      <p:pic>
        <p:nvPicPr>
          <p:cNvPr id="12" name="Image 2" descr="preencoded.png">    </p:cNvPr>
          <p:cNvPicPr>
            <a:picLocks noChangeAspect="1"/>
          </p:cNvPicPr>
          <p:nvPr/>
        </p:nvPicPr>
        <p:blipFill>
          <a:blip r:embed="rId3"/>
          <a:stretch>
            <a:fillRect/>
          </a:stretch>
        </p:blipFill>
        <p:spPr>
          <a:xfrm>
            <a:off x="6217920" y="1005840"/>
            <a:ext cx="320040" cy="320040"/>
          </a:xfrm>
          <a:prstGeom prst="rect">
            <a:avLst/>
          </a:prstGeom>
        </p:spPr>
      </p:pic>
      <p:sp>
        <p:nvSpPr>
          <p:cNvPr id="13" name="Text 8"/>
          <p:cNvSpPr/>
          <p:nvPr/>
        </p:nvSpPr>
        <p:spPr>
          <a:xfrm>
            <a:off x="6629400" y="1005840"/>
            <a:ext cx="1965960" cy="32004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AI Testimonial Collector</a:t>
            </a:r>
            <a:endParaRPr lang="en-US" sz="1200" dirty="0"/>
          </a:p>
        </p:txBody>
      </p:sp>
      <p:sp>
        <p:nvSpPr>
          <p:cNvPr id="14" name="Text 9"/>
          <p:cNvSpPr/>
          <p:nvPr/>
        </p:nvSpPr>
        <p:spPr>
          <a:xfrm>
            <a:off x="6217920" y="1417320"/>
            <a:ext cx="2423160" cy="100584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Status → "Complete" triggers testimonial request with 3 prompting questions. AI formats for website.</a:t>
            </a:r>
            <a:endParaRPr lang="en-US" sz="1000" dirty="0"/>
          </a:p>
        </p:txBody>
      </p:sp>
      <p:sp>
        <p:nvSpPr>
          <p:cNvPr id="15" name="Shape 10"/>
          <p:cNvSpPr/>
          <p:nvPr/>
        </p:nvSpPr>
        <p:spPr>
          <a:xfrm>
            <a:off x="320040" y="2743200"/>
            <a:ext cx="2697480" cy="1691640"/>
          </a:xfrm>
          <a:prstGeom prst="rect">
            <a:avLst/>
          </a:prstGeom>
          <a:solidFill>
            <a:srgbClr val="161B22"/>
          </a:solidFill>
          <a:ln/>
        </p:spPr>
      </p:sp>
      <p:pic>
        <p:nvPicPr>
          <p:cNvPr id="16" name="Image 3" descr="preencoded.png">    </p:cNvPr>
          <p:cNvPicPr>
            <a:picLocks noChangeAspect="1"/>
          </p:cNvPicPr>
          <p:nvPr/>
        </p:nvPicPr>
        <p:blipFill>
          <a:blip r:embed="rId4"/>
          <a:stretch>
            <a:fillRect/>
          </a:stretch>
        </p:blipFill>
        <p:spPr>
          <a:xfrm>
            <a:off x="457200" y="2880360"/>
            <a:ext cx="320040" cy="320040"/>
          </a:xfrm>
          <a:prstGeom prst="rect">
            <a:avLst/>
          </a:prstGeom>
        </p:spPr>
      </p:pic>
      <p:sp>
        <p:nvSpPr>
          <p:cNvPr id="17" name="Text 11"/>
          <p:cNvSpPr/>
          <p:nvPr/>
        </p:nvSpPr>
        <p:spPr>
          <a:xfrm>
            <a:off x="868680" y="2880360"/>
            <a:ext cx="1965960" cy="320040"/>
          </a:xfrm>
          <a:prstGeom prst="rect">
            <a:avLst/>
          </a:prstGeom>
          <a:noFill/>
          <a:ln/>
        </p:spPr>
        <p:txBody>
          <a:bodyPr wrap="square" lIns="0" tIns="0" rIns="0" bIns="0" rtlCol="0" anchor="ctr"/>
          <a:lstStyle/>
          <a:p>
            <a:pPr indent="0" marL="0">
              <a:buNone/>
            </a:pPr>
            <a:r>
              <a:rPr lang="en-US" sz="1200" b="1" dirty="0">
                <a:solidFill>
                  <a:srgbClr val="A855F7"/>
                </a:solidFill>
                <a:latin typeface="Calibri" pitchFamily="34" charset="0"/>
                <a:ea typeface="Calibri" pitchFamily="34" charset="-122"/>
                <a:cs typeface="Calibri" pitchFamily="34" charset="-120"/>
              </a:rPr>
              <a:t>Client Health Score</a:t>
            </a:r>
            <a:endParaRPr lang="en-US" sz="1200" dirty="0"/>
          </a:p>
        </p:txBody>
      </p:sp>
      <p:sp>
        <p:nvSpPr>
          <p:cNvPr id="18" name="Text 12"/>
          <p:cNvSpPr/>
          <p:nvPr/>
        </p:nvSpPr>
        <p:spPr>
          <a:xfrm>
            <a:off x="457200" y="3291840"/>
            <a:ext cx="2423160" cy="100584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Weekly cron: deliverables on time? Client replying? AI calculates Green/Yellow/Red. Red = auto-alert.</a:t>
            </a:r>
            <a:endParaRPr lang="en-US" sz="1000" dirty="0"/>
          </a:p>
        </p:txBody>
      </p:sp>
      <p:sp>
        <p:nvSpPr>
          <p:cNvPr id="19" name="Shape 13"/>
          <p:cNvSpPr/>
          <p:nvPr/>
        </p:nvSpPr>
        <p:spPr>
          <a:xfrm>
            <a:off x="3200400" y="2743200"/>
            <a:ext cx="2697480" cy="1691640"/>
          </a:xfrm>
          <a:prstGeom prst="rect">
            <a:avLst/>
          </a:prstGeom>
          <a:solidFill>
            <a:srgbClr val="161B22"/>
          </a:solidFill>
          <a:ln/>
        </p:spPr>
      </p:sp>
      <p:pic>
        <p:nvPicPr>
          <p:cNvPr id="20" name="Image 4" descr="preencoded.png">    </p:cNvPr>
          <p:cNvPicPr>
            <a:picLocks noChangeAspect="1"/>
          </p:cNvPicPr>
          <p:nvPr/>
        </p:nvPicPr>
        <p:blipFill>
          <a:blip r:embed="rId5"/>
          <a:stretch>
            <a:fillRect/>
          </a:stretch>
        </p:blipFill>
        <p:spPr>
          <a:xfrm>
            <a:off x="3337560" y="2880360"/>
            <a:ext cx="320040" cy="320040"/>
          </a:xfrm>
          <a:prstGeom prst="rect">
            <a:avLst/>
          </a:prstGeom>
        </p:spPr>
      </p:pic>
      <p:sp>
        <p:nvSpPr>
          <p:cNvPr id="21" name="Text 14"/>
          <p:cNvSpPr/>
          <p:nvPr/>
        </p:nvSpPr>
        <p:spPr>
          <a:xfrm>
            <a:off x="3749040" y="2880360"/>
            <a:ext cx="1965960" cy="32004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Revenue Dashboard</a:t>
            </a:r>
            <a:endParaRPr lang="en-US" sz="1200" dirty="0"/>
          </a:p>
        </p:txBody>
      </p:sp>
      <p:sp>
        <p:nvSpPr>
          <p:cNvPr id="22" name="Text 15"/>
          <p:cNvSpPr/>
          <p:nvPr/>
        </p:nvSpPr>
        <p:spPr>
          <a:xfrm>
            <a:off x="3337560" y="3291840"/>
            <a:ext cx="2423160" cy="100584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Auto-calculate monthly revenue, pipeline value, capacity. AI writes weekly business insight email.</a:t>
            </a:r>
            <a:endParaRPr lang="en-US" sz="1000" dirty="0"/>
          </a:p>
        </p:txBody>
      </p:sp>
      <p:sp>
        <p:nvSpPr>
          <p:cNvPr id="23" name="Shape 16"/>
          <p:cNvSpPr/>
          <p:nvPr/>
        </p:nvSpPr>
        <p:spPr>
          <a:xfrm>
            <a:off x="6080760" y="2743200"/>
            <a:ext cx="2697480" cy="1691640"/>
          </a:xfrm>
          <a:prstGeom prst="rect">
            <a:avLst/>
          </a:prstGeom>
          <a:solidFill>
            <a:srgbClr val="161B22"/>
          </a:solidFill>
          <a:ln/>
        </p:spPr>
      </p:sp>
      <p:pic>
        <p:nvPicPr>
          <p:cNvPr id="24" name="Image 5" descr="preencoded.png">    </p:cNvPr>
          <p:cNvPicPr>
            <a:picLocks noChangeAspect="1"/>
          </p:cNvPicPr>
          <p:nvPr/>
        </p:nvPicPr>
        <p:blipFill>
          <a:blip r:embed="rId6"/>
          <a:stretch>
            <a:fillRect/>
          </a:stretch>
        </p:blipFill>
        <p:spPr>
          <a:xfrm>
            <a:off x="6217920" y="2880360"/>
            <a:ext cx="320040" cy="320040"/>
          </a:xfrm>
          <a:prstGeom prst="rect">
            <a:avLst/>
          </a:prstGeom>
        </p:spPr>
      </p:pic>
      <p:sp>
        <p:nvSpPr>
          <p:cNvPr id="25" name="Text 17"/>
          <p:cNvSpPr/>
          <p:nvPr/>
        </p:nvSpPr>
        <p:spPr>
          <a:xfrm>
            <a:off x="6629400" y="2880360"/>
            <a:ext cx="1965960" cy="320040"/>
          </a:xfrm>
          <a:prstGeom prst="rect">
            <a:avLst/>
          </a:prstGeom>
          <a:noFill/>
          <a:ln/>
        </p:spPr>
        <p:txBody>
          <a:bodyPr wrap="square" lIns="0" tIns="0" rIns="0" bIns="0" rtlCol="0" anchor="ctr"/>
          <a:lstStyle/>
          <a:p>
            <a:pPr indent="0" marL="0">
              <a:buNone/>
            </a:pPr>
            <a:r>
              <a:rPr lang="en-US" sz="1200" b="1" dirty="0">
                <a:solidFill>
                  <a:srgbClr val="22C55E"/>
                </a:solidFill>
                <a:latin typeface="Calibri" pitchFamily="34" charset="0"/>
                <a:ea typeface="Calibri" pitchFamily="34" charset="-122"/>
                <a:cs typeface="Calibri" pitchFamily="34" charset="-120"/>
              </a:rPr>
              <a:t>WhatsApp Integration</a:t>
            </a:r>
            <a:endParaRPr lang="en-US" sz="1200" dirty="0"/>
          </a:p>
        </p:txBody>
      </p:sp>
      <p:sp>
        <p:nvSpPr>
          <p:cNvPr id="26" name="Text 18"/>
          <p:cNvSpPr/>
          <p:nvPr/>
        </p:nvSpPr>
        <p:spPr>
          <a:xfrm>
            <a:off x="6217920" y="3291840"/>
            <a:ext cx="2423160" cy="1005840"/>
          </a:xfrm>
          <a:prstGeom prst="rect">
            <a:avLst/>
          </a:prstGeom>
          <a:noFill/>
          <a:ln/>
        </p:spPr>
        <p:txBody>
          <a:bodyPr wrap="square" lIns="0" tIns="0" rIns="0" bIns="0" rtlCol="0" anchor="t"/>
          <a:lstStyle/>
          <a:p>
            <a:pPr indent="0" marL="0">
              <a:buNone/>
            </a:pPr>
            <a:r>
              <a:rPr lang="en-US" sz="1000" dirty="0">
                <a:solidFill>
                  <a:srgbClr val="C9D1D9"/>
                </a:solidFill>
                <a:latin typeface="Calibri" pitchFamily="34" charset="0"/>
                <a:ea typeface="Calibri" pitchFamily="34" charset="-122"/>
                <a:cs typeface="Calibri" pitchFamily="34" charset="-120"/>
              </a:rPr>
              <a:t>Send onboarding details + weekly updates on WhatsApp alongside email. Most Indian clients prefer it.</a:t>
            </a:r>
            <a:endParaRPr lang="en-US" sz="1000" dirty="0"/>
          </a:p>
        </p:txBody>
      </p:sp>
      <p:sp>
        <p:nvSpPr>
          <p:cNvPr id="27" name="Text 19"/>
          <p:cNvSpPr/>
          <p:nvPr/>
        </p:nvSpPr>
        <p:spPr>
          <a:xfrm>
            <a:off x="457200" y="4663440"/>
            <a:ext cx="8229600" cy="320040"/>
          </a:xfrm>
          <a:prstGeom prst="rect">
            <a:avLst/>
          </a:prstGeom>
          <a:noFill/>
          <a:ln/>
        </p:spPr>
        <p:txBody>
          <a:bodyPr wrap="square" lIns="0" tIns="0" rIns="0" bIns="0" rtlCol="0" anchor="ctr"/>
          <a:lstStyle/>
          <a:p>
            <a:pPr algn="ctr" indent="0" marL="0">
              <a:buNone/>
            </a:pPr>
            <a:r>
              <a:rPr lang="en-US" sz="1200" i="1" dirty="0">
                <a:solidFill>
                  <a:srgbClr val="F97316"/>
                </a:solidFill>
                <a:latin typeface="Calibri" pitchFamily="34" charset="0"/>
                <a:ea typeface="Calibri" pitchFamily="34" charset="-122"/>
                <a:cs typeface="Calibri" pitchFamily="34" charset="-120"/>
              </a:rPr>
              <a:t>You built the foundation today. Each of these mods is a 30-minute addition to the same workflow.</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YOUR CLIENTS THINK YOU HAVE</a:t>
            </a:r>
            <a:endParaRPr lang="en-US" sz="2800" dirty="0"/>
          </a:p>
          <a:p>
            <a:pPr algn="ctr" indent="0" marL="0">
              <a:buNone/>
            </a:pPr>
            <a:r>
              <a:rPr lang="en-US" sz="2800" b="1" dirty="0">
                <a:solidFill>
                  <a:srgbClr val="FFFFFF"/>
                </a:solidFill>
                <a:latin typeface="Calibri" pitchFamily="34" charset="0"/>
                <a:ea typeface="Calibri" pitchFamily="34" charset="-122"/>
                <a:cs typeface="Calibri" pitchFamily="34" charset="-120"/>
              </a:rPr>
              <a:t>A FULL OPERATIONS TEAM.</a:t>
            </a:r>
            <a:endParaRPr lang="en-US" sz="2800" dirty="0"/>
          </a:p>
        </p:txBody>
      </p:sp>
      <p:sp>
        <p:nvSpPr>
          <p:cNvPr id="3" name="Text 1"/>
          <p:cNvSpPr/>
          <p:nvPr/>
        </p:nvSpPr>
        <p:spPr>
          <a:xfrm>
            <a:off x="457200" y="1097280"/>
            <a:ext cx="8229600" cy="320040"/>
          </a:xfrm>
          <a:prstGeom prst="rect">
            <a:avLst/>
          </a:prstGeom>
          <a:noFill/>
          <a:ln/>
        </p:spPr>
        <p:txBody>
          <a:bodyPr wrap="square" lIns="0" tIns="0" rIns="0" bIns="0" rtlCol="0" anchor="ctr"/>
          <a:lstStyle/>
          <a:p>
            <a:pPr algn="ctr" indent="0" marL="0">
              <a:buNone/>
            </a:pPr>
            <a:r>
              <a:rPr lang="en-US" sz="1500" dirty="0">
                <a:solidFill>
                  <a:srgbClr val="F97316"/>
                </a:solidFill>
                <a:latin typeface="Calibri" pitchFamily="34" charset="0"/>
                <a:ea typeface="Calibri" pitchFamily="34" charset="-122"/>
                <a:cs typeface="Calibri" pitchFamily="34" charset="-120"/>
              </a:rPr>
              <a:t>It's just you + n8n + Gemini + Google Sheets.</a:t>
            </a:r>
            <a:endParaRPr lang="en-US" sz="1500" dirty="0"/>
          </a:p>
        </p:txBody>
      </p:sp>
      <p:sp>
        <p:nvSpPr>
          <p:cNvPr id="4" name="Shape 2"/>
          <p:cNvSpPr/>
          <p:nvPr/>
        </p:nvSpPr>
        <p:spPr>
          <a:xfrm>
            <a:off x="1371600" y="1554480"/>
            <a:ext cx="6400800" cy="2286000"/>
          </a:xfrm>
          <a:prstGeom prst="rect">
            <a:avLst/>
          </a:prstGeom>
          <a:solidFill>
            <a:srgbClr val="161B22"/>
          </a:solidFill>
          <a:ln/>
        </p:spPr>
      </p:sp>
      <p:sp>
        <p:nvSpPr>
          <p:cNvPr id="5" name="Text 3"/>
          <p:cNvSpPr/>
          <p:nvPr/>
        </p:nvSpPr>
        <p:spPr>
          <a:xfrm>
            <a:off x="1645920" y="1691640"/>
            <a:ext cx="5852160" cy="2011680"/>
          </a:xfrm>
          <a:prstGeom prst="rect">
            <a:avLst/>
          </a:prstGeom>
          <a:noFill/>
          <a:ln/>
        </p:spPr>
        <p:txBody>
          <a:bodyPr wrap="square" lIns="0" tIns="0" rIns="0" bIns="0" rtlCol="0" anchor="t"/>
          <a:lstStyle/>
          <a:p>
            <a:pPr indent="0" marL="0">
              <a:spcAft>
                <a:spcPts val="300"/>
              </a:spcAft>
              <a:buNone/>
            </a:pPr>
            <a:r>
              <a:rPr lang="en-US" sz="1400" b="1" dirty="0">
                <a:solidFill>
                  <a:srgbClr val="FFFFFF"/>
                </a:solidFill>
                <a:latin typeface="Calibri" pitchFamily="34" charset="0"/>
                <a:ea typeface="Calibri" pitchFamily="34" charset="-122"/>
                <a:cs typeface="Calibri" pitchFamily="34" charset="-120"/>
              </a:rPr>
              <a:t>One form. 60 seconds. Your client receives:</a:t>
            </a:r>
            <a:endParaRPr lang="en-US" sz="1400" dirty="0"/>
          </a:p>
          <a:p>
            <a:pPr indent="0" marL="0">
              <a:spcAft>
                <a:spcPts val="300"/>
              </a:spcAft>
              <a:buNone/>
            </a:pPr>
            <a:endParaRPr lang="en-US" sz="1400" dirty="0"/>
          </a:p>
          <a:p>
            <a:pPr marL="342900" indent="-342900">
              <a:spcAft>
                <a:spcPts val="300"/>
              </a:spcAft>
              <a:buSzPct val="100000"/>
              <a:buChar char="•"/>
            </a:pPr>
            <a:r>
              <a:rPr lang="en-US" sz="1100" dirty="0">
                <a:solidFill>
                  <a:srgbClr val="C9D1D9"/>
                </a:solidFill>
                <a:latin typeface="Calibri" pitchFamily="34" charset="0"/>
                <a:ea typeface="Calibri" pitchFamily="34" charset="-122"/>
                <a:cs typeface="Calibri" pitchFamily="34" charset="-120"/>
              </a:rPr>
              <a:t>A premium onboarding email with visual roadmap, SOPs, deliverables, and payment schedule</a:t>
            </a:r>
            <a:endParaRPr lang="en-US" sz="1400" dirty="0"/>
          </a:p>
          <a:p>
            <a:pPr marL="342900" indent="-342900">
              <a:spcAft>
                <a:spcPts val="300"/>
              </a:spcAft>
              <a:buSzPct val="100000"/>
              <a:buChar char="•"/>
            </a:pPr>
            <a:r>
              <a:rPr lang="en-US" sz="1100" dirty="0">
                <a:solidFill>
                  <a:srgbClr val="C9D1D9"/>
                </a:solidFill>
                <a:latin typeface="Calibri" pitchFamily="34" charset="0"/>
                <a:ea typeface="Calibri" pitchFamily="34" charset="-122"/>
                <a:cs typeface="Calibri" pitchFamily="34" charset="-120"/>
              </a:rPr>
              <a:t>Automatic follow-up if they don't respond in 2 days</a:t>
            </a:r>
            <a:endParaRPr lang="en-US" sz="1400" dirty="0"/>
          </a:p>
          <a:p>
            <a:pPr marL="342900" indent="-342900">
              <a:spcAft>
                <a:spcPts val="300"/>
              </a:spcAft>
              <a:buSzPct val="100000"/>
              <a:buChar char="•"/>
            </a:pPr>
            <a:r>
              <a:rPr lang="en-US" sz="1100" dirty="0">
                <a:solidFill>
                  <a:srgbClr val="C9D1D9"/>
                </a:solidFill>
                <a:latin typeface="Calibri" pitchFamily="34" charset="0"/>
                <a:ea typeface="Calibri" pitchFamily="34" charset="-122"/>
                <a:cs typeface="Calibri" pitchFamily="34" charset="-120"/>
              </a:rPr>
              <a:t>Weekly progress updates every Monday</a:t>
            </a:r>
            <a:endParaRPr lang="en-US" sz="1400" dirty="0"/>
          </a:p>
          <a:p>
            <a:pPr marL="342900" indent="-342900">
              <a:spcAft>
                <a:spcPts val="300"/>
              </a:spcAft>
              <a:buSzPct val="100000"/>
              <a:buChar char="•"/>
            </a:pPr>
            <a:r>
              <a:rPr lang="en-US" sz="1100" dirty="0">
                <a:solidFill>
                  <a:srgbClr val="C9D1D9"/>
                </a:solidFill>
                <a:latin typeface="Calibri" pitchFamily="34" charset="0"/>
                <a:ea typeface="Calibri" pitchFamily="34" charset="-122"/>
                <a:cs typeface="Calibri" pitchFamily="34" charset="-120"/>
              </a:rPr>
              <a:t>Full project tracking in Google Sheets</a:t>
            </a:r>
            <a:endParaRPr lang="en-US" sz="1400" dirty="0"/>
          </a:p>
          <a:p>
            <a:pPr indent="0" marL="0">
              <a:spcAft>
                <a:spcPts val="300"/>
              </a:spcAft>
              <a:buNone/>
            </a:pPr>
            <a:endParaRPr lang="en-US" sz="1400" dirty="0"/>
          </a:p>
          <a:p>
            <a:pPr indent="0" marL="0">
              <a:spcAft>
                <a:spcPts val="300"/>
              </a:spcAft>
              <a:buNone/>
            </a:pPr>
            <a:r>
              <a:rPr lang="en-US" sz="1400" b="1" dirty="0">
                <a:solidFill>
                  <a:srgbClr val="22C55E"/>
                </a:solidFill>
                <a:latin typeface="Calibri" pitchFamily="34" charset="0"/>
                <a:ea typeface="Calibri" pitchFamily="34" charset="-122"/>
                <a:cs typeface="Calibri" pitchFamily="34" charset="-120"/>
              </a:rPr>
              <a:t>Total cost per client: ₹0</a:t>
            </a:r>
            <a:endParaRPr lang="en-US" sz="1400" dirty="0"/>
          </a:p>
          <a:p>
            <a:pPr indent="0" marL="0">
              <a:spcAft>
                <a:spcPts val="300"/>
              </a:spcAft>
              <a:buNone/>
            </a:pPr>
            <a:r>
              <a:rPr lang="en-US" sz="1100" dirty="0">
                <a:solidFill>
                  <a:srgbClr val="8B949E"/>
                </a:solidFill>
                <a:latin typeface="Calibri" pitchFamily="34" charset="0"/>
                <a:ea typeface="Calibri" pitchFamily="34" charset="-122"/>
                <a:cs typeface="Calibri" pitchFamily="34" charset="-120"/>
              </a:rPr>
              <a:t>Traditional agency ops: ₹50,000 – ₹1,50,000/month</a:t>
            </a:r>
            <a:endParaRPr lang="en-US" sz="1400" dirty="0"/>
          </a:p>
        </p:txBody>
      </p:sp>
      <p:sp>
        <p:nvSpPr>
          <p:cNvPr id="6" name="Text 4"/>
          <p:cNvSpPr/>
          <p:nvPr/>
        </p:nvSpPr>
        <p:spPr>
          <a:xfrm>
            <a:off x="457200" y="3977640"/>
            <a:ext cx="8229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You didn't just build an automation today.</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You built an agency operating system.</a:t>
            </a:r>
            <a:endParaRPr lang="en-US" sz="1600" dirty="0"/>
          </a:p>
        </p:txBody>
      </p:sp>
      <p:sp>
        <p:nvSpPr>
          <p:cNvPr id="7" name="Shape 5"/>
          <p:cNvSpPr/>
          <p:nvPr/>
        </p:nvSpPr>
        <p:spPr>
          <a:xfrm>
            <a:off x="0" y="4526280"/>
            <a:ext cx="9144000" cy="45720"/>
          </a:xfrm>
          <a:prstGeom prst="rect">
            <a:avLst/>
          </a:prstGeom>
          <a:solidFill>
            <a:srgbClr val="F97316"/>
          </a:solidFill>
          <a:ln/>
        </p:spPr>
      </p:sp>
      <p:sp>
        <p:nvSpPr>
          <p:cNvPr id="8" name="Text 6"/>
          <p:cNvSpPr/>
          <p:nvPr/>
        </p:nvSpPr>
        <p:spPr>
          <a:xfrm>
            <a:off x="457200" y="4663440"/>
            <a:ext cx="8229600" cy="274320"/>
          </a:xfrm>
          <a:prstGeom prst="rect">
            <a:avLst/>
          </a:prstGeom>
          <a:noFill/>
          <a:ln/>
        </p:spPr>
        <p:txBody>
          <a:bodyPr wrap="square" lIns="0" tIns="0" rIns="0" bIns="0" rtlCol="0" anchor="ctr"/>
          <a:lstStyle/>
          <a:p>
            <a:pPr algn="ctr" indent="0" marL="0">
              <a:buNone/>
            </a:pPr>
            <a:r>
              <a:rPr lang="en-US" sz="1300" dirty="0">
                <a:solidFill>
                  <a:srgbClr val="8B949E"/>
                </a:solidFill>
                <a:latin typeface="Calibri" pitchFamily="34" charset="0"/>
                <a:ea typeface="Calibri" pitchFamily="34" charset="-122"/>
                <a:cs typeface="Calibri" pitchFamily="34" charset="-120"/>
              </a:rPr>
              <a:t>AI Architect Simulation  |  Build. Automate. Scale.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Client Onboarding Machine</dc:title>
  <dc:subject>PptxGenJS Presentation</dc:subject>
  <dc:creator>AI Architect Simulation</dc:creator>
  <cp:lastModifiedBy>AI Architect Simulation</cp:lastModifiedBy>
  <cp:revision>1</cp:revision>
  <dcterms:created xsi:type="dcterms:W3CDTF">2026-05-02T15:35:19Z</dcterms:created>
  <dcterms:modified xsi:type="dcterms:W3CDTF">2026-05-02T15:35:19Z</dcterms:modified>
</cp:coreProperties>
</file>